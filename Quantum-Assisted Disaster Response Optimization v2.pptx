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map: the Krishna river at Vijayawada, which flooded in September 2024. Coloured cells are the flood-risk layer; orange circles are the six sites chosen by our QAOA pipeline in the benchmark. One-sentence pitch: classical ML says where the risk is, a hybrid quantum-classical optimiser decides where help goes, and the loop re-runs when conditions change. We address QAIC use case UC-067 (flood forecasting and disaster-response sensor placement) and extend to UC-077 (disaster resource and evacuation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events, fourteen months apart, same coast. Vijayawada, September 2024: 6.44 lakh people affected, 193 relief camps, more than 42,000 people moved to shelters, 26 NDRF and 22 SDRF teams deployed (state disaster-management figures as reported by National Herald). The Budameru rivulet carried an estimated 30,000 to 35,000 cusecs into a diversion canal built for about 7,500 (The South First, quoting irrigation experts). Cyclone Montha, October 2025: the state's revised loss estimate to the central team was 6,384 crore rupees across 24 districts (Deccan Herald); All India Radio reported 43,000 hectares of crops damaged initially and 12 NDRF teams positioned in Andhra. Every number here is a placement decision: where camps, teams, boats and sensors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Placement is subset selection. With 60 candidate sites and 10 teams there are about 75 billion plans (exact binomial coefficient C(60,10)). Sites interact because coverage overlaps, so they cannot be scored independently, and the inputs change during the event. That is precisely the structure of a QUBO: one binary decision variable per site, pairwise terms for overlap, a penalty for the budget constraint. This is why we use quantum optimisation for placement, and classical ML for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gap. Forecasting is crowded and good: Google Flood Hub's model (Nearing et al., Nature 2024), CWC and IMD. Their output is a risk prediction. What happens next is manual in control rooms, or at best a classical MILP solved offline and periodically. The closest quantum prior art is the UK NQCC SparQ project with Mind Foundry on quantum optimisation for disaster sensor networks, which addresses placement but not a live loop from forecast to plan. Our contribution is the chain on the right: risk prediction feeds automatic QUBO construction, QAOA samples placements on IBM hardware, constraints are validated, and the whole loop re-runs when events trigger it. We are explicit: the novelty is the closed-loop integration, not a claim of quantum advantage.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architecture in four layers. Data sources: IMD rainfall grids, CWC river gauges, Sentinel-1 radar for past flood extents used as training labels, and SRTM terrain, OpenStreetMap roads and Census population. Classical services: an event trigger that fires on threshold crossings, the risk service, the QUBO builder that also decomposes the region, and a classical baseline solver. Quantum layer: Qiskit transpiles to ISA circuits for the heavy-hex lattice, Qiskit Runtime's Sampler V2 submits in batch mode, the IBM Heron QPU samples, and a decoder checks feasibility and repairs if needed. Delivery: a versioned plan store, the operator console, dispatch to field teams, and an audit log. Two engineering decisions researchers should note: the classical baseline is always computed and ships if the QPU cannot answer in time, and every plan is traceable to an IBM job 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as one line. 01: gridded disaster map from IMD rainfall, SRTM elevation and OpenStreetMap. 02: gradient-boosted risk model. 03: the placement decision becomes a QUBO, converted to an Ising Hamiltonian. 04: Qiskit builds the QAOA circuit with one or two layers. 05: the circuit runs on an IBM Heron QPU through Qiskit Runtime. 06: the best feasible bitstring decodes into a placement. 07: when inputs cross a threshold, the loop re-runs from the risk model. Only the three boxed stages are quantum; that split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one is deliberately classical: gradient-boosted trees are strong on tabular geospatial data and fast to retrain. Features are IMD gridded rainfall, SRTM elevation, distance to river and land use; labels are flood extents mapped from Sentinel-1 radar for past events including September 2024; validation is spatial cross-validation so neighbouring cells do not leak. The only thing the optimiser needs from this stage is a weight per candidate site: risk times exposure within that site's coverage radius. The map shown is the prototype risk layer we used for the benchmark, built from river-distance and low-lying-terrain features; the trained model plugs into the same interface.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two. Each candidate site is one binary decision variable, which in this formulation maps to one problem qubit. The objective rewards risk-weighted exposure covered, penalises overlap between two chosen sites, and a quadratic penalty with lambda equal to 0.6 times the largest site weight enforces exactly k units. Substituting x = (1 - z)/2 gives the Ising Hamiltonian that QAOA minimises; we verified numerically that the Ising form reproduces every QUBO energy up to a constant. The heat map is the actual 12 by 12 QUBO of the western subproblem in our benchmark. Note it is dense: the cardinality penalty couples every pair, which matters for hardware routing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the Quantum Approximate Optimization Algorithm on a parameterized quantum circuit. Start in equal superposition; the cost layer applies ZZ rotations for overlaps and Z rotations for site rewards; the mixer applies X rotations so amplitude can move between placements; repeat p times with p equal to 1 or 2 because deeper circuits are noise-limited on NISQ hardware. The loop is explicit: a classical outer loop proposes angles, the quantum device samples bitstrings, we evaluate the conditional value-at-risk of the sampled QUBO energies with alpha 0.2 (Barkoutsos et al., Quantum 2020), and COBYLA updates the angles. For adaptation we warm-start from the previous angles (Egger et al., Quantum 2021).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quantum stage runs. Qiskit converts the QUBO to an Ising operator and builds a QAOAAnsatz. We decompose the region into subproblems of at most about 20 logical problem qubits; in the benchmark they are 12 and 11. The reason: a July 2026 benchmark on IBM Heron found naive QAOA on larger instances transpiling to more than 20,000 two-qubit gates with results indistinguishable from random. Our own subproblem is dense, 66 ZZ terms per layer, because the cardinality penalty couples every pair, so routing on heavy-hex adds SWAPs; that is why size is set by fidelity, not by the 133 to 156 physical qubits on the chip. Circuits are transpiled at optimisation level 3, submitted through Qiskit Runtime Sampler V2 in batch mode, which the free Open Plan supports, with angles optimised on the simulator and transferred, 4,096 shots per subproblem, dynamical decoupling and gate twirling on. The same code targets the planned Amaravati IBM Quantum System Two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main innovation: a closed-loop quantum optimisation system that re-solves only the affected region when disaster conditions change. At T0 the forecast gives a baseline and we place six units. Six hours later the Budameru catchment surges, the risk layer shifts north, and units move toward it. By T plus 12 hours the water is in the delta and the plan follows. Three mechanisms keep QPU time small: an event trigger so we re-run only when inputs change; local re-solving so only affected subregions return to the hardware; and warm-starting from the previous QAOA angles. The three maps are the same pipeline applied to three risk states of our prototype risk layer.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slide. One synthetic instance on the Krishna-basin grid: 285 cells, 23 candidate sites, 6 units, 100,947 possible plans. Four methods on the same instance and the same objective, risk-weighted coverage. Uniform spacing, a static plan, covers 21.8%. Greedy covers 61.9%, which equals the exact optimum found by exhaustive search in 0.7 seconds. QAOA with p equal to 2, simulated ideally, decomposed into a 12-qubit and an 11-qubit subproblem, reaches 58.9%, an approximation ratio of 0.95. Inside each subproblem QAOA found the exact QUBO optimum, and it concentrated 41.8% and 45.8% of samples on feasible plans versus 5.4% and 8.1% for random sampling. So the remaining gap is from modelling choices, the second-order QUBO and the regional split, not from the quantum sampler. Greedy is already optimal here, so we claim no quantum advantage; the point is a validated, hardware-ready pipeline. The hardware step runs the same circuits on IBM Heron with run_ibm.py.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the video walks through, filled with the benchmark run. Left: risk layer and the six sites QAOA chose. Right: the quantum job: two subproblems of 12 and 11 problem qubits, 4,096 shots each, 41.8 and 45.8 percent feasible samples, plan ready. The four steps at the bottom are the video script: load an event, score risk, solve, then inject a change and show the re-plan. When recording, show the IBM Quantum Platform job page next to the console so the job IDs are visible.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stated plainly: we demonstrate a quantum-compatible, hardware-executed optimisation pipeline, not practical quantum advantage on today's small instances. What is new: the closed loop from ML risk to QUBO to QAOA with no manual step; event-triggered, warm-started, local re-solving; and decomposition sized to measured hardware fidelity. Fit: UC-067 directly, extending to UC-077; it builds on DST-NQM proposals 03 (quantum optimisation for mobility and logistics, IIT Hyderabad and IISER Tirupati) and 04 (QUEST climate modelling, with Andhra University); and it is designed for compatibility with the planned Amaravati IBM Quantum System Two environment. Limits: no advantage claimed; subproblems capped near 20 qubits by noise; classical solvers remain baseline and fallback. The buyer is the state disaster authority, funded through the 15th Finance Commission's 2.29 lakh crore disaster allocation.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idea: forecasts tell you where the water goes; our system decides where help goes, on quantum hardware, and keeps deciding as the situation changes. Point to the demo video and the repository, which includes the benchmark (qadr_bench.py) and the hardware runner (run_ibm.py). References are grouped: methods first, then platform, then problem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1383010"/>
            <a:ext cx="608076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QAIC UC-067 · UC-077 · Hybrid quantum-classical</a:t>
            </a:r>
          </a:p>
        </p:txBody>
      </p:sp>
      <p:sp>
        <p:nvSpPr>
          <p:cNvPr id="3" name="TextBox 2"/>
          <p:cNvSpPr txBox="1"/>
          <p:nvPr/>
        </p:nvSpPr>
        <p:spPr>
          <a:xfrm>
            <a:off x="812800" y="1783060"/>
            <a:ext cx="5494020" cy="1600200"/>
          </a:xfrm>
          <a:prstGeom prst="rect">
            <a:avLst/>
          </a:prstGeom>
          <a:noFill/>
        </p:spPr>
        <p:txBody>
          <a:bodyPr wrap="square" tIns="0" rIns="0" bIns="0" lIns="0" anchor="t">
            <a:noAutofit/>
          </a:bodyPr>
          <a:lstStyle/>
          <a:p>
            <a:pPr algn="l">
              <a:lnSpc>
                <a:spcPts val="4200"/>
              </a:lnSpc>
            </a:pPr>
            <a:r>
              <a:rPr sz="4000" b="1">
                <a:solidFill>
                  <a:srgbClr val="F5F2EA"/>
                </a:solidFill>
                <a:latin typeface="IBM Plex Sans"/>
              </a:rPr>
              <a:t>Quantum-Assisted Disaster Response Optimization</a:t>
            </a:r>
          </a:p>
        </p:txBody>
      </p:sp>
      <p:sp>
        <p:nvSpPr>
          <p:cNvPr id="4" name="TextBox 3"/>
          <p:cNvSpPr txBox="1"/>
          <p:nvPr/>
        </p:nvSpPr>
        <p:spPr>
          <a:xfrm>
            <a:off x="812800" y="3611860"/>
            <a:ext cx="5494020" cy="853380"/>
          </a:xfrm>
          <a:prstGeom prst="rect">
            <a:avLst/>
          </a:prstGeom>
          <a:noFill/>
        </p:spPr>
        <p:txBody>
          <a:bodyPr wrap="square" tIns="0" rIns="0" bIns="0" lIns="0" anchor="t">
            <a:noAutofit/>
          </a:bodyPr>
          <a:lstStyle/>
          <a:p>
            <a:pPr algn="l">
              <a:lnSpc>
                <a:spcPts val="2240"/>
              </a:lnSpc>
            </a:pPr>
            <a:r>
              <a:rPr sz="1600" b="0">
                <a:solidFill>
                  <a:srgbClr val="A9A59C"/>
                </a:solidFill>
                <a:latin typeface="IBM Plex Sans"/>
              </a:rPr>
              <a:t>Classical ML scores flood risk. QAOA on IBM Quantum decides where sensors and relief go, and re-decides when conditions change.</a:t>
            </a:r>
          </a:p>
        </p:txBody>
      </p:sp>
      <p:cxnSp>
        <p:nvCxnSpPr>
          <p:cNvPr id="5" name="Connector 4"/>
          <p:cNvCxnSpPr/>
          <p:nvPr/>
        </p:nvCxnSpPr>
        <p:spPr>
          <a:xfrm>
            <a:off x="812800" y="4700191"/>
            <a:ext cx="5334000" cy="0"/>
          </a:xfrm>
          <a:prstGeom prst="line">
            <a:avLst/>
          </a:prstGeom>
          <a:ln w="12700">
            <a:solidFill>
              <a:srgbClr val="3A3834"/>
            </a:solidFill>
          </a:ln>
        </p:spPr>
      </p:cxnSp>
      <p:sp>
        <p:nvSpPr>
          <p:cNvPr id="6" name="TextBox 5"/>
          <p:cNvSpPr txBox="1"/>
          <p:nvPr/>
        </p:nvSpPr>
        <p:spPr>
          <a:xfrm>
            <a:off x="812800" y="4858941"/>
            <a:ext cx="608076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Team Kala Dhua</a:t>
            </a:r>
          </a:p>
        </p:txBody>
      </p:sp>
      <p:sp>
        <p:nvSpPr>
          <p:cNvPr id="7" name="TextBox 6"/>
          <p:cNvSpPr txBox="1"/>
          <p:nvPr/>
        </p:nvSpPr>
        <p:spPr>
          <a:xfrm>
            <a:off x="812800" y="5081191"/>
            <a:ext cx="608076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Ayush Pathak · Shreeviraj Matale · Tushar Singh</a:t>
            </a:r>
          </a:p>
        </p:txBody>
      </p:sp>
      <p:sp>
        <p:nvSpPr>
          <p:cNvPr id="8" name="TextBox 7"/>
          <p:cNvSpPr txBox="1"/>
          <p:nvPr/>
        </p:nvSpPr>
        <p:spPr>
          <a:xfrm>
            <a:off x="812800" y="5303441"/>
            <a:ext cx="608076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Quantique Hackathon · Amaravati Quantum Valley</a:t>
            </a:r>
          </a:p>
        </p:txBody>
      </p:sp>
      <p:pic>
        <p:nvPicPr>
          <p:cNvPr id="9" name="Picture 8" descr="image.png"/>
          <p:cNvPicPr>
            <a:picLocks noChangeAspect="1"/>
          </p:cNvPicPr>
          <p:nvPr/>
        </p:nvPicPr>
        <p:blipFill>
          <a:blip r:embed="rId2"/>
          <a:stretch>
            <a:fillRect/>
          </a:stretch>
        </p:blipFill>
        <p:spPr>
          <a:xfrm>
            <a:off x="6553200" y="1619250"/>
            <a:ext cx="4826000" cy="3619500"/>
          </a:xfrm>
          <a:prstGeom prst="rect">
            <a:avLst/>
          </a:prstGeom>
        </p:spPr>
      </p:pic>
      <p:sp>
        <p:nvSpPr>
          <p:cNvPr id="10" name="TextBox 9"/>
          <p:cNvSpPr txBox="1"/>
          <p:nvPr/>
        </p:nvSpPr>
        <p:spPr>
          <a:xfrm>
            <a:off x="8724900" y="2990850"/>
            <a:ext cx="1447800" cy="182860"/>
          </a:xfrm>
          <a:prstGeom prst="rect">
            <a:avLst/>
          </a:prstGeom>
          <a:noFill/>
        </p:spPr>
        <p:txBody>
          <a:bodyPr wrap="none" tIns="0" rIns="0" bIns="0" lIns="0" anchor="t">
            <a:noAutofit/>
          </a:bodyPr>
          <a:lstStyle/>
          <a:p>
            <a:pPr algn="l">
              <a:lnSpc>
                <a:spcPts val="1440"/>
              </a:lnSpc>
            </a:pPr>
            <a:r>
              <a:rPr sz="1200" b="1">
                <a:solidFill>
                  <a:srgbClr val="171717"/>
                </a:solidFill>
                <a:latin typeface="IBM Plex Sans"/>
              </a:rPr>
              <a:t>Vijayawada</a:t>
            </a:r>
          </a:p>
        </p:txBody>
      </p:sp>
      <p:sp>
        <p:nvSpPr>
          <p:cNvPr id="11" name="TextBox 10"/>
          <p:cNvSpPr txBox="1"/>
          <p:nvPr/>
        </p:nvSpPr>
        <p:spPr>
          <a:xfrm>
            <a:off x="6731000" y="2463800"/>
            <a:ext cx="1158240" cy="182860"/>
          </a:xfrm>
          <a:prstGeom prst="rect">
            <a:avLst/>
          </a:prstGeom>
          <a:noFill/>
        </p:spPr>
        <p:txBody>
          <a:bodyPr wrap="none" tIns="0" rIns="0" bIns="0" lIns="0" anchor="t">
            <a:noAutofit/>
          </a:bodyPr>
          <a:lstStyle/>
          <a:p>
            <a:pPr algn="l">
              <a:lnSpc>
                <a:spcPts val="1440"/>
              </a:lnSpc>
            </a:pPr>
            <a:r>
              <a:rPr sz="1200" b="0">
                <a:solidFill>
                  <a:srgbClr val="5A5A5A"/>
                </a:solidFill>
                <a:latin typeface="IBM Plex Sans"/>
              </a:rPr>
              <a:t>Krishna</a:t>
            </a:r>
          </a:p>
        </p:txBody>
      </p:sp>
      <p:sp>
        <p:nvSpPr>
          <p:cNvPr id="12" name="TextBox 11"/>
          <p:cNvSpPr txBox="1"/>
          <p:nvPr/>
        </p:nvSpPr>
        <p:spPr>
          <a:xfrm>
            <a:off x="7975600" y="1727200"/>
            <a:ext cx="1158240" cy="182860"/>
          </a:xfrm>
          <a:prstGeom prst="rect">
            <a:avLst/>
          </a:prstGeom>
          <a:noFill/>
        </p:spPr>
        <p:txBody>
          <a:bodyPr wrap="none" tIns="0" rIns="0" bIns="0" lIns="0" anchor="t">
            <a:noAutofit/>
          </a:bodyPr>
          <a:lstStyle/>
          <a:p>
            <a:pPr algn="l">
              <a:lnSpc>
                <a:spcPts val="1440"/>
              </a:lnSpc>
            </a:pPr>
            <a:r>
              <a:rPr sz="1200" b="0">
                <a:solidFill>
                  <a:srgbClr val="5A5A5A"/>
                </a:solidFill>
                <a:latin typeface="IBM Plex Sans"/>
              </a:rPr>
              <a:t>Budameru</a:t>
            </a:r>
          </a:p>
        </p:txBody>
      </p:sp>
      <p:sp>
        <p:nvSpPr>
          <p:cNvPr id="13" name="TextBox 12"/>
          <p:cNvSpPr txBox="1"/>
          <p:nvPr/>
        </p:nvSpPr>
        <p:spPr>
          <a:xfrm>
            <a:off x="10229850" y="4876800"/>
            <a:ext cx="1447800" cy="182860"/>
          </a:xfrm>
          <a:prstGeom prst="rect">
            <a:avLst/>
          </a:prstGeom>
          <a:noFill/>
        </p:spPr>
        <p:txBody>
          <a:bodyPr wrap="none" tIns="0" rIns="0" bIns="0" lIns="0" anchor="t">
            <a:noAutofit/>
          </a:bodyPr>
          <a:lstStyle/>
          <a:p>
            <a:pPr algn="l">
              <a:lnSpc>
                <a:spcPts val="1440"/>
              </a:lnSpc>
            </a:pPr>
            <a:r>
              <a:rPr sz="1200" b="0">
                <a:solidFill>
                  <a:srgbClr val="5A5A5A"/>
                </a:solidFill>
                <a:latin typeface="IBM Plex Sans"/>
              </a:rPr>
              <a:t>Bay of Bengal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01 · Problem</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Coastal Andhra faced two major disasters in 14 months</a:t>
            </a:r>
          </a:p>
        </p:txBody>
      </p:sp>
      <p:sp>
        <p:nvSpPr>
          <p:cNvPr id="4" name="TextBox 3"/>
          <p:cNvSpPr txBox="1"/>
          <p:nvPr/>
        </p:nvSpPr>
        <p:spPr>
          <a:xfrm>
            <a:off x="812800" y="1809750"/>
            <a:ext cx="550164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Vijayawada floods · Sept 2024</a:t>
            </a:r>
          </a:p>
        </p:txBody>
      </p:sp>
      <p:sp>
        <p:nvSpPr>
          <p:cNvPr id="5" name="TextBox 4"/>
          <p:cNvSpPr txBox="1"/>
          <p:nvPr/>
        </p:nvSpPr>
        <p:spPr>
          <a:xfrm>
            <a:off x="812800" y="2159000"/>
            <a:ext cx="2446895" cy="508000"/>
          </a:xfrm>
          <a:prstGeom prst="rect">
            <a:avLst/>
          </a:prstGeom>
          <a:noFill/>
        </p:spPr>
        <p:txBody>
          <a:bodyPr wrap="none" tIns="0" rIns="0" bIns="0" lIns="0" anchor="t">
            <a:noAutofit/>
          </a:bodyPr>
          <a:lstStyle/>
          <a:p>
            <a:pPr algn="l">
              <a:lnSpc>
                <a:spcPts val="4000"/>
              </a:lnSpc>
            </a:pPr>
            <a:r>
              <a:rPr sz="4000" b="1">
                <a:solidFill>
                  <a:srgbClr val="F5F2EA"/>
                </a:solidFill>
                <a:latin typeface="IBM Plex Sans"/>
              </a:rPr>
              <a:t>6.44 lakh</a:t>
            </a:r>
          </a:p>
        </p:txBody>
      </p:sp>
      <p:sp>
        <p:nvSpPr>
          <p:cNvPr id="6" name="TextBox 5"/>
          <p:cNvSpPr txBox="1"/>
          <p:nvPr/>
        </p:nvSpPr>
        <p:spPr>
          <a:xfrm>
            <a:off x="812800" y="2705100"/>
            <a:ext cx="2446895"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people affected</a:t>
            </a:r>
          </a:p>
        </p:txBody>
      </p:sp>
      <p:sp>
        <p:nvSpPr>
          <p:cNvPr id="7" name="TextBox 6"/>
          <p:cNvSpPr txBox="1"/>
          <p:nvPr/>
        </p:nvSpPr>
        <p:spPr>
          <a:xfrm>
            <a:off x="3365599" y="2159000"/>
            <a:ext cx="1564642" cy="508000"/>
          </a:xfrm>
          <a:prstGeom prst="rect">
            <a:avLst/>
          </a:prstGeom>
          <a:noFill/>
        </p:spPr>
        <p:txBody>
          <a:bodyPr wrap="none" tIns="0" rIns="0" bIns="0" lIns="0" anchor="t">
            <a:noAutofit/>
          </a:bodyPr>
          <a:lstStyle/>
          <a:p>
            <a:pPr algn="l">
              <a:lnSpc>
                <a:spcPts val="4000"/>
              </a:lnSpc>
            </a:pPr>
            <a:r>
              <a:rPr sz="4000" b="1">
                <a:solidFill>
                  <a:srgbClr val="F5F2EA"/>
                </a:solidFill>
                <a:latin typeface="IBM Plex Sans"/>
              </a:rPr>
              <a:t>193</a:t>
            </a:r>
          </a:p>
        </p:txBody>
      </p:sp>
      <p:sp>
        <p:nvSpPr>
          <p:cNvPr id="8" name="TextBox 7"/>
          <p:cNvSpPr txBox="1"/>
          <p:nvPr/>
        </p:nvSpPr>
        <p:spPr>
          <a:xfrm>
            <a:off x="3365599" y="2705100"/>
            <a:ext cx="1564642"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relief camps opened</a:t>
            </a:r>
          </a:p>
        </p:txBody>
      </p:sp>
      <p:sp>
        <p:nvSpPr>
          <p:cNvPr id="9" name="TextBox 8"/>
          <p:cNvSpPr txBox="1"/>
          <p:nvPr/>
        </p:nvSpPr>
        <p:spPr>
          <a:xfrm>
            <a:off x="812800" y="3060700"/>
            <a:ext cx="2109490" cy="508000"/>
          </a:xfrm>
          <a:prstGeom prst="rect">
            <a:avLst/>
          </a:prstGeom>
          <a:noFill/>
        </p:spPr>
        <p:txBody>
          <a:bodyPr wrap="none" tIns="0" rIns="0" bIns="0" lIns="0" anchor="t">
            <a:noAutofit/>
          </a:bodyPr>
          <a:lstStyle/>
          <a:p>
            <a:pPr algn="l">
              <a:lnSpc>
                <a:spcPts val="4000"/>
              </a:lnSpc>
            </a:pPr>
            <a:r>
              <a:rPr sz="4000" b="1">
                <a:solidFill>
                  <a:srgbClr val="E7715F"/>
                </a:solidFill>
                <a:latin typeface="IBM Plex Sans"/>
              </a:rPr>
              <a:t>42,000+</a:t>
            </a:r>
          </a:p>
        </p:txBody>
      </p:sp>
      <p:sp>
        <p:nvSpPr>
          <p:cNvPr id="10" name="TextBox 9"/>
          <p:cNvSpPr txBox="1"/>
          <p:nvPr/>
        </p:nvSpPr>
        <p:spPr>
          <a:xfrm>
            <a:off x="812800" y="3606800"/>
            <a:ext cx="210949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people moved to shelters</a:t>
            </a:r>
          </a:p>
        </p:txBody>
      </p:sp>
      <p:sp>
        <p:nvSpPr>
          <p:cNvPr id="11" name="TextBox 10"/>
          <p:cNvSpPr txBox="1"/>
          <p:nvPr/>
        </p:nvSpPr>
        <p:spPr>
          <a:xfrm>
            <a:off x="3069630" y="3060700"/>
            <a:ext cx="2428345" cy="508000"/>
          </a:xfrm>
          <a:prstGeom prst="rect">
            <a:avLst/>
          </a:prstGeom>
          <a:noFill/>
        </p:spPr>
        <p:txBody>
          <a:bodyPr wrap="none" tIns="0" rIns="0" bIns="0" lIns="0" anchor="t">
            <a:noAutofit/>
          </a:bodyPr>
          <a:lstStyle/>
          <a:p>
            <a:pPr algn="l">
              <a:lnSpc>
                <a:spcPts val="4000"/>
              </a:lnSpc>
            </a:pPr>
            <a:r>
              <a:rPr sz="4000" b="1">
                <a:solidFill>
                  <a:srgbClr val="F5F2EA"/>
                </a:solidFill>
                <a:latin typeface="IBM Plex Sans"/>
              </a:rPr>
              <a:t>48</a:t>
            </a:r>
          </a:p>
        </p:txBody>
      </p:sp>
      <p:sp>
        <p:nvSpPr>
          <p:cNvPr id="12" name="TextBox 11"/>
          <p:cNvSpPr txBox="1"/>
          <p:nvPr/>
        </p:nvSpPr>
        <p:spPr>
          <a:xfrm>
            <a:off x="3069630" y="3606800"/>
            <a:ext cx="2428345"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NDRF + SDRF teams deployed</a:t>
            </a:r>
          </a:p>
        </p:txBody>
      </p:sp>
      <p:cxnSp>
        <p:nvCxnSpPr>
          <p:cNvPr id="13" name="Connector 12"/>
          <p:cNvCxnSpPr/>
          <p:nvPr/>
        </p:nvCxnSpPr>
        <p:spPr>
          <a:xfrm>
            <a:off x="6254750" y="1809750"/>
            <a:ext cx="0" cy="1974850"/>
          </a:xfrm>
          <a:prstGeom prst="line">
            <a:avLst/>
          </a:prstGeom>
          <a:ln w="12700">
            <a:solidFill>
              <a:srgbClr val="3A3834"/>
            </a:solidFill>
          </a:ln>
        </p:spPr>
      </p:cxnSp>
      <p:sp>
        <p:nvSpPr>
          <p:cNvPr id="14" name="TextBox 13"/>
          <p:cNvSpPr txBox="1"/>
          <p:nvPr/>
        </p:nvSpPr>
        <p:spPr>
          <a:xfrm>
            <a:off x="6667500" y="1809750"/>
            <a:ext cx="4734306"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Cyclone Montha · Oct 2025</a:t>
            </a:r>
          </a:p>
        </p:txBody>
      </p:sp>
      <p:sp>
        <p:nvSpPr>
          <p:cNvPr id="15" name="TextBox 14"/>
          <p:cNvSpPr txBox="1"/>
          <p:nvPr/>
        </p:nvSpPr>
        <p:spPr>
          <a:xfrm>
            <a:off x="6667500" y="2159000"/>
            <a:ext cx="4734306" cy="508000"/>
          </a:xfrm>
          <a:prstGeom prst="rect">
            <a:avLst/>
          </a:prstGeom>
          <a:noFill/>
        </p:spPr>
        <p:txBody>
          <a:bodyPr wrap="none" tIns="0" rIns="0" bIns="0" lIns="0" anchor="t">
            <a:noAutofit/>
          </a:bodyPr>
          <a:lstStyle/>
          <a:p>
            <a:pPr algn="l">
              <a:lnSpc>
                <a:spcPts val="4000"/>
              </a:lnSpc>
            </a:pPr>
            <a:r>
              <a:rPr sz="4000" b="1">
                <a:solidFill>
                  <a:srgbClr val="E56A1F"/>
                </a:solidFill>
                <a:latin typeface="IBM Plex Sans"/>
              </a:rPr>
              <a:t>₹6,384 cr</a:t>
            </a:r>
          </a:p>
        </p:txBody>
      </p:sp>
      <p:sp>
        <p:nvSpPr>
          <p:cNvPr id="16" name="TextBox 15"/>
          <p:cNvSpPr txBox="1"/>
          <p:nvPr/>
        </p:nvSpPr>
        <p:spPr>
          <a:xfrm>
            <a:off x="6667500" y="2705100"/>
            <a:ext cx="4734306"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revised state loss estimate, 24 districts</a:t>
            </a:r>
          </a:p>
        </p:txBody>
      </p:sp>
      <p:sp>
        <p:nvSpPr>
          <p:cNvPr id="17" name="TextBox 16"/>
          <p:cNvSpPr txBox="1"/>
          <p:nvPr/>
        </p:nvSpPr>
        <p:spPr>
          <a:xfrm>
            <a:off x="6667500" y="3060700"/>
            <a:ext cx="2086416" cy="406400"/>
          </a:xfrm>
          <a:prstGeom prst="rect">
            <a:avLst/>
          </a:prstGeom>
          <a:noFill/>
        </p:spPr>
        <p:txBody>
          <a:bodyPr wrap="none" tIns="0" rIns="0" bIns="0" lIns="0" anchor="t">
            <a:noAutofit/>
          </a:bodyPr>
          <a:lstStyle/>
          <a:p>
            <a:pPr algn="l">
              <a:lnSpc>
                <a:spcPts val="3200"/>
              </a:lnSpc>
            </a:pPr>
            <a:r>
              <a:rPr sz="3200" b="1">
                <a:solidFill>
                  <a:srgbClr val="F5F2EA"/>
                </a:solidFill>
                <a:latin typeface="IBM Plex Sans"/>
              </a:rPr>
              <a:t>43,000 ha</a:t>
            </a:r>
          </a:p>
        </p:txBody>
      </p:sp>
      <p:sp>
        <p:nvSpPr>
          <p:cNvPr id="18" name="TextBox 17"/>
          <p:cNvSpPr txBox="1"/>
          <p:nvPr/>
        </p:nvSpPr>
        <p:spPr>
          <a:xfrm>
            <a:off x="6667500" y="3505200"/>
            <a:ext cx="2086416"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crops damaged (initial)</a:t>
            </a:r>
          </a:p>
        </p:txBody>
      </p:sp>
      <p:sp>
        <p:nvSpPr>
          <p:cNvPr id="19" name="TextBox 18"/>
          <p:cNvSpPr txBox="1"/>
          <p:nvPr/>
        </p:nvSpPr>
        <p:spPr>
          <a:xfrm>
            <a:off x="8904089" y="3060700"/>
            <a:ext cx="1786336" cy="406400"/>
          </a:xfrm>
          <a:prstGeom prst="rect">
            <a:avLst/>
          </a:prstGeom>
          <a:noFill/>
        </p:spPr>
        <p:txBody>
          <a:bodyPr wrap="none" tIns="0" rIns="0" bIns="0" lIns="0" anchor="t">
            <a:noAutofit/>
          </a:bodyPr>
          <a:lstStyle/>
          <a:p>
            <a:pPr algn="l">
              <a:lnSpc>
                <a:spcPts val="3200"/>
              </a:lnSpc>
            </a:pPr>
            <a:r>
              <a:rPr sz="3200" b="1">
                <a:solidFill>
                  <a:srgbClr val="F5F2EA"/>
                </a:solidFill>
                <a:latin typeface="IBM Plex Sans"/>
              </a:rPr>
              <a:t>12</a:t>
            </a:r>
          </a:p>
        </p:txBody>
      </p:sp>
      <p:sp>
        <p:nvSpPr>
          <p:cNvPr id="20" name="TextBox 19"/>
          <p:cNvSpPr txBox="1"/>
          <p:nvPr/>
        </p:nvSpPr>
        <p:spPr>
          <a:xfrm>
            <a:off x="8904089" y="3505200"/>
            <a:ext cx="1786336"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NDRF teams in Andhra</a:t>
            </a:r>
          </a:p>
        </p:txBody>
      </p:sp>
      <p:sp>
        <p:nvSpPr>
          <p:cNvPr id="21" name="TextBox 20"/>
          <p:cNvSpPr txBox="1"/>
          <p:nvPr/>
        </p:nvSpPr>
        <p:spPr>
          <a:xfrm>
            <a:off x="812800" y="4089400"/>
            <a:ext cx="12045696"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Budameru inflow vs diversion canal capacity</a:t>
            </a:r>
            <a:r>
              <a:rPr sz="1400" b="0">
                <a:solidFill>
                  <a:srgbClr val="F5F2EA"/>
                </a:solidFill>
                <a:latin typeface="IBM Plex Sans"/>
              </a:rPr>
              <a:t> </a:t>
            </a:r>
            <a:r>
              <a:rPr sz="1400" b="0">
                <a:solidFill>
                  <a:srgbClr val="A9A59C"/>
                </a:solidFill>
                <a:latin typeface="IBM Plex Sans"/>
              </a:rPr>
              <a:t>(cusecs)</a:t>
            </a:r>
          </a:p>
        </p:txBody>
      </p:sp>
      <p:sp>
        <p:nvSpPr>
          <p:cNvPr id="22" name="Rectangle 21"/>
          <p:cNvSpPr/>
          <p:nvPr/>
        </p:nvSpPr>
        <p:spPr>
          <a:xfrm>
            <a:off x="812800" y="4381500"/>
            <a:ext cx="6350000" cy="228600"/>
          </a:xfrm>
          <a:prstGeom prst="rect">
            <a:avLst/>
          </a:prstGeom>
          <a:solidFill>
            <a:srgbClr val="C83A2A"/>
          </a:solidFill>
          <a:ln>
            <a:noFill/>
          </a:ln>
        </p:spPr>
        <p:txBody>
          <a:bodyPr rtlCol="0" anchor="ctr"/>
          <a:lstStyle/>
          <a:p>
            <a:pPr algn="ctr"/>
          </a:p>
        </p:txBody>
      </p:sp>
      <p:sp>
        <p:nvSpPr>
          <p:cNvPr id="23" name="TextBox 22"/>
          <p:cNvSpPr txBox="1"/>
          <p:nvPr/>
        </p:nvSpPr>
        <p:spPr>
          <a:xfrm>
            <a:off x="7315200" y="4400550"/>
            <a:ext cx="1581269"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~35,000 inflow</a:t>
            </a:r>
          </a:p>
        </p:txBody>
      </p:sp>
      <p:sp>
        <p:nvSpPr>
          <p:cNvPr id="24" name="Rectangle 23"/>
          <p:cNvSpPr/>
          <p:nvPr/>
        </p:nvSpPr>
        <p:spPr>
          <a:xfrm>
            <a:off x="812800" y="4699000"/>
            <a:ext cx="1358900" cy="228600"/>
          </a:xfrm>
          <a:prstGeom prst="rect">
            <a:avLst/>
          </a:prstGeom>
          <a:solidFill>
            <a:srgbClr val="A9A59C"/>
          </a:solidFill>
          <a:ln>
            <a:noFill/>
          </a:ln>
        </p:spPr>
        <p:txBody>
          <a:bodyPr rtlCol="0" anchor="ctr"/>
          <a:lstStyle/>
          <a:p>
            <a:pPr algn="ctr"/>
          </a:p>
        </p:txBody>
      </p:sp>
      <p:sp>
        <p:nvSpPr>
          <p:cNvPr id="25" name="TextBox 24"/>
          <p:cNvSpPr txBox="1"/>
          <p:nvPr/>
        </p:nvSpPr>
        <p:spPr>
          <a:xfrm>
            <a:off x="2324100" y="4718050"/>
            <a:ext cx="4179052"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7,500 canal capacity · ~4.7× exceeded</a:t>
            </a:r>
          </a:p>
        </p:txBody>
      </p:sp>
      <p:sp>
        <p:nvSpPr>
          <p:cNvPr id="26" name="TextBox 25"/>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27" name="TextBox 26"/>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02 · Why it is hard</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Placing help is a combinatorial optimization problem</a:t>
            </a:r>
          </a:p>
        </p:txBody>
      </p:sp>
      <p:sp>
        <p:nvSpPr>
          <p:cNvPr id="4" name="TextBox 3"/>
          <p:cNvSpPr txBox="1"/>
          <p:nvPr/>
        </p:nvSpPr>
        <p:spPr>
          <a:xfrm>
            <a:off x="812800" y="1809750"/>
            <a:ext cx="651510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Ways to place 10 units among n candidate sites (log scale)</a:t>
            </a:r>
          </a:p>
        </p:txBody>
      </p:sp>
      <p:pic>
        <p:nvPicPr>
          <p:cNvPr id="5" name="Picture 4" descr="image.png"/>
          <p:cNvPicPr>
            <a:picLocks noChangeAspect="1"/>
          </p:cNvPicPr>
          <p:nvPr/>
        </p:nvPicPr>
        <p:blipFill>
          <a:blip r:embed="rId2"/>
          <a:stretch>
            <a:fillRect/>
          </a:stretch>
        </p:blipFill>
        <p:spPr>
          <a:xfrm>
            <a:off x="812800" y="2089150"/>
            <a:ext cx="5715000" cy="3429000"/>
          </a:xfrm>
          <a:prstGeom prst="rect">
            <a:avLst/>
          </a:prstGeom>
        </p:spPr>
      </p:pic>
      <p:sp>
        <p:nvSpPr>
          <p:cNvPr id="6" name="TextBox 5"/>
          <p:cNvSpPr txBox="1"/>
          <p:nvPr/>
        </p:nvSpPr>
        <p:spPr>
          <a:xfrm>
            <a:off x="787400" y="3841750"/>
            <a:ext cx="1447800" cy="171450"/>
          </a:xfrm>
          <a:prstGeom prst="rect">
            <a:avLst/>
          </a:prstGeom>
          <a:noFill/>
        </p:spPr>
        <p:txBody>
          <a:bodyPr wrap="none" tIns="0" rIns="0" bIns="0" lIns="0" anchor="t">
            <a:noAutofit/>
          </a:bodyPr>
          <a:lstStyle/>
          <a:p>
            <a:pPr algn="ctr">
              <a:lnSpc>
                <a:spcPts val="1439"/>
              </a:lnSpc>
            </a:pPr>
            <a:r>
              <a:rPr sz="1200" b="0">
                <a:solidFill>
                  <a:srgbClr val="F5F2EA"/>
                </a:solidFill>
                <a:latin typeface="IBM Plex Mono"/>
              </a:rPr>
              <a:t>185 thousand</a:t>
            </a:r>
          </a:p>
        </p:txBody>
      </p:sp>
      <p:sp>
        <p:nvSpPr>
          <p:cNvPr id="7" name="TextBox 6"/>
          <p:cNvSpPr txBox="1"/>
          <p:nvPr/>
        </p:nvSpPr>
        <p:spPr>
          <a:xfrm>
            <a:off x="932180" y="5264150"/>
            <a:ext cx="1158240" cy="171450"/>
          </a:xfrm>
          <a:prstGeom prst="rect">
            <a:avLst/>
          </a:prstGeom>
          <a:noFill/>
        </p:spPr>
        <p:txBody>
          <a:bodyPr wrap="none" tIns="0" rIns="0" bIns="0" lIns="0" anchor="t">
            <a:noAutofit/>
          </a:bodyPr>
          <a:lstStyle/>
          <a:p>
            <a:pPr algn="ctr">
              <a:lnSpc>
                <a:spcPts val="1439"/>
              </a:lnSpc>
            </a:pPr>
            <a:r>
              <a:rPr sz="1200" b="0">
                <a:solidFill>
                  <a:srgbClr val="A9A59C"/>
                </a:solidFill>
                <a:latin typeface="IBM Plex Mono"/>
              </a:rPr>
              <a:t>n = 20</a:t>
            </a:r>
          </a:p>
        </p:txBody>
      </p:sp>
      <p:sp>
        <p:nvSpPr>
          <p:cNvPr id="8" name="TextBox 7"/>
          <p:cNvSpPr txBox="1"/>
          <p:nvPr/>
        </p:nvSpPr>
        <p:spPr>
          <a:xfrm>
            <a:off x="1866900" y="3098800"/>
            <a:ext cx="1447800" cy="171450"/>
          </a:xfrm>
          <a:prstGeom prst="rect">
            <a:avLst/>
          </a:prstGeom>
          <a:noFill/>
        </p:spPr>
        <p:txBody>
          <a:bodyPr wrap="none" tIns="0" rIns="0" bIns="0" lIns="0" anchor="t">
            <a:noAutofit/>
          </a:bodyPr>
          <a:lstStyle/>
          <a:p>
            <a:pPr algn="ctr">
              <a:lnSpc>
                <a:spcPts val="1439"/>
              </a:lnSpc>
            </a:pPr>
            <a:r>
              <a:rPr sz="1200" b="0">
                <a:solidFill>
                  <a:srgbClr val="F5F2EA"/>
                </a:solidFill>
                <a:latin typeface="IBM Plex Mono"/>
              </a:rPr>
              <a:t>848 million</a:t>
            </a:r>
          </a:p>
        </p:txBody>
      </p:sp>
      <p:sp>
        <p:nvSpPr>
          <p:cNvPr id="9" name="TextBox 8"/>
          <p:cNvSpPr txBox="1"/>
          <p:nvPr/>
        </p:nvSpPr>
        <p:spPr>
          <a:xfrm>
            <a:off x="2011680" y="5264150"/>
            <a:ext cx="1158240" cy="171450"/>
          </a:xfrm>
          <a:prstGeom prst="rect">
            <a:avLst/>
          </a:prstGeom>
          <a:noFill/>
        </p:spPr>
        <p:txBody>
          <a:bodyPr wrap="none" tIns="0" rIns="0" bIns="0" lIns="0" anchor="t">
            <a:noAutofit/>
          </a:bodyPr>
          <a:lstStyle/>
          <a:p>
            <a:pPr algn="ctr">
              <a:lnSpc>
                <a:spcPts val="1439"/>
              </a:lnSpc>
            </a:pPr>
            <a:r>
              <a:rPr sz="1200" b="0">
                <a:solidFill>
                  <a:srgbClr val="A9A59C"/>
                </a:solidFill>
                <a:latin typeface="IBM Plex Mono"/>
              </a:rPr>
              <a:t>n = 40</a:t>
            </a:r>
          </a:p>
        </p:txBody>
      </p:sp>
      <p:sp>
        <p:nvSpPr>
          <p:cNvPr id="10" name="TextBox 9"/>
          <p:cNvSpPr txBox="1"/>
          <p:nvPr/>
        </p:nvSpPr>
        <p:spPr>
          <a:xfrm>
            <a:off x="2946400" y="2698750"/>
            <a:ext cx="1447800" cy="171450"/>
          </a:xfrm>
          <a:prstGeom prst="rect">
            <a:avLst/>
          </a:prstGeom>
          <a:noFill/>
        </p:spPr>
        <p:txBody>
          <a:bodyPr wrap="none" tIns="0" rIns="0" bIns="0" lIns="0" anchor="t">
            <a:noAutofit/>
          </a:bodyPr>
          <a:lstStyle/>
          <a:p>
            <a:pPr algn="ctr">
              <a:lnSpc>
                <a:spcPts val="1439"/>
              </a:lnSpc>
            </a:pPr>
            <a:r>
              <a:rPr sz="1200" b="0">
                <a:solidFill>
                  <a:srgbClr val="F5F2EA"/>
                </a:solidFill>
                <a:latin typeface="IBM Plex Mono"/>
              </a:rPr>
              <a:t>75 billion</a:t>
            </a:r>
          </a:p>
        </p:txBody>
      </p:sp>
      <p:sp>
        <p:nvSpPr>
          <p:cNvPr id="11" name="TextBox 10"/>
          <p:cNvSpPr txBox="1"/>
          <p:nvPr/>
        </p:nvSpPr>
        <p:spPr>
          <a:xfrm>
            <a:off x="3091180" y="5264150"/>
            <a:ext cx="1158240" cy="171450"/>
          </a:xfrm>
          <a:prstGeom prst="rect">
            <a:avLst/>
          </a:prstGeom>
          <a:noFill/>
        </p:spPr>
        <p:txBody>
          <a:bodyPr wrap="none" tIns="0" rIns="0" bIns="0" lIns="0" anchor="t">
            <a:noAutofit/>
          </a:bodyPr>
          <a:lstStyle/>
          <a:p>
            <a:pPr algn="ctr">
              <a:lnSpc>
                <a:spcPts val="1439"/>
              </a:lnSpc>
            </a:pPr>
            <a:r>
              <a:rPr sz="1200" b="0">
                <a:solidFill>
                  <a:srgbClr val="A9A59C"/>
                </a:solidFill>
                <a:latin typeface="IBM Plex Mono"/>
              </a:rPr>
              <a:t>n = 60</a:t>
            </a:r>
          </a:p>
        </p:txBody>
      </p:sp>
      <p:sp>
        <p:nvSpPr>
          <p:cNvPr id="12" name="TextBox 11"/>
          <p:cNvSpPr txBox="1"/>
          <p:nvPr/>
        </p:nvSpPr>
        <p:spPr>
          <a:xfrm>
            <a:off x="4025900" y="2425700"/>
            <a:ext cx="1447800" cy="171450"/>
          </a:xfrm>
          <a:prstGeom prst="rect">
            <a:avLst/>
          </a:prstGeom>
          <a:noFill/>
        </p:spPr>
        <p:txBody>
          <a:bodyPr wrap="none" tIns="0" rIns="0" bIns="0" lIns="0" anchor="t">
            <a:noAutofit/>
          </a:bodyPr>
          <a:lstStyle/>
          <a:p>
            <a:pPr algn="ctr">
              <a:lnSpc>
                <a:spcPts val="1439"/>
              </a:lnSpc>
            </a:pPr>
            <a:r>
              <a:rPr sz="1200" b="0">
                <a:solidFill>
                  <a:srgbClr val="F5F2EA"/>
                </a:solidFill>
                <a:latin typeface="IBM Plex Mono"/>
              </a:rPr>
              <a:t>1.6 trillion</a:t>
            </a:r>
          </a:p>
        </p:txBody>
      </p:sp>
      <p:sp>
        <p:nvSpPr>
          <p:cNvPr id="13" name="TextBox 12"/>
          <p:cNvSpPr txBox="1"/>
          <p:nvPr/>
        </p:nvSpPr>
        <p:spPr>
          <a:xfrm>
            <a:off x="4170680" y="5264150"/>
            <a:ext cx="1158240" cy="171450"/>
          </a:xfrm>
          <a:prstGeom prst="rect">
            <a:avLst/>
          </a:prstGeom>
          <a:noFill/>
        </p:spPr>
        <p:txBody>
          <a:bodyPr wrap="none" tIns="0" rIns="0" bIns="0" lIns="0" anchor="t">
            <a:noAutofit/>
          </a:bodyPr>
          <a:lstStyle/>
          <a:p>
            <a:pPr algn="ctr">
              <a:lnSpc>
                <a:spcPts val="1439"/>
              </a:lnSpc>
            </a:pPr>
            <a:r>
              <a:rPr sz="1200" b="0">
                <a:solidFill>
                  <a:srgbClr val="A9A59C"/>
                </a:solidFill>
                <a:latin typeface="IBM Plex Mono"/>
              </a:rPr>
              <a:t>n = 80</a:t>
            </a:r>
          </a:p>
        </p:txBody>
      </p:sp>
      <p:sp>
        <p:nvSpPr>
          <p:cNvPr id="14" name="TextBox 13"/>
          <p:cNvSpPr txBox="1"/>
          <p:nvPr/>
        </p:nvSpPr>
        <p:spPr>
          <a:xfrm>
            <a:off x="5105400" y="2216150"/>
            <a:ext cx="1447800" cy="171450"/>
          </a:xfrm>
          <a:prstGeom prst="rect">
            <a:avLst/>
          </a:prstGeom>
          <a:noFill/>
        </p:spPr>
        <p:txBody>
          <a:bodyPr wrap="none" tIns="0" rIns="0" bIns="0" lIns="0" anchor="t">
            <a:noAutofit/>
          </a:bodyPr>
          <a:lstStyle/>
          <a:p>
            <a:pPr algn="ctr">
              <a:lnSpc>
                <a:spcPts val="1439"/>
              </a:lnSpc>
            </a:pPr>
            <a:r>
              <a:rPr sz="1200" b="0">
                <a:solidFill>
                  <a:srgbClr val="F5F2EA"/>
                </a:solidFill>
                <a:latin typeface="IBM Plex Mono"/>
              </a:rPr>
              <a:t>17 trillion</a:t>
            </a:r>
          </a:p>
        </p:txBody>
      </p:sp>
      <p:sp>
        <p:nvSpPr>
          <p:cNvPr id="15" name="TextBox 14"/>
          <p:cNvSpPr txBox="1"/>
          <p:nvPr/>
        </p:nvSpPr>
        <p:spPr>
          <a:xfrm>
            <a:off x="5250180" y="5264150"/>
            <a:ext cx="1158240" cy="171450"/>
          </a:xfrm>
          <a:prstGeom prst="rect">
            <a:avLst/>
          </a:prstGeom>
          <a:noFill/>
        </p:spPr>
        <p:txBody>
          <a:bodyPr wrap="none" tIns="0" rIns="0" bIns="0" lIns="0" anchor="t">
            <a:noAutofit/>
          </a:bodyPr>
          <a:lstStyle/>
          <a:p>
            <a:pPr algn="ctr">
              <a:lnSpc>
                <a:spcPts val="1439"/>
              </a:lnSpc>
            </a:pPr>
            <a:r>
              <a:rPr sz="1200" b="0">
                <a:solidFill>
                  <a:srgbClr val="A9A59C"/>
                </a:solidFill>
                <a:latin typeface="IBM Plex Mono"/>
              </a:rPr>
              <a:t>n = 100</a:t>
            </a:r>
          </a:p>
        </p:txBody>
      </p:sp>
      <p:sp>
        <p:nvSpPr>
          <p:cNvPr id="16" name="TextBox 15"/>
          <p:cNvSpPr txBox="1"/>
          <p:nvPr/>
        </p:nvSpPr>
        <p:spPr>
          <a:xfrm>
            <a:off x="7137400" y="2759075"/>
            <a:ext cx="4777740" cy="609600"/>
          </a:xfrm>
          <a:prstGeom prst="rect">
            <a:avLst/>
          </a:prstGeom>
          <a:noFill/>
        </p:spPr>
        <p:txBody>
          <a:bodyPr wrap="none" tIns="0" rIns="0" bIns="0" lIns="0" anchor="t">
            <a:noAutofit/>
          </a:bodyPr>
          <a:lstStyle/>
          <a:p>
            <a:pPr algn="l">
              <a:lnSpc>
                <a:spcPts val="4800"/>
              </a:lnSpc>
            </a:pPr>
            <a:r>
              <a:rPr sz="4800" b="1">
                <a:solidFill>
                  <a:srgbClr val="E56A1F"/>
                </a:solidFill>
                <a:latin typeface="IBM Plex Sans"/>
              </a:rPr>
              <a:t>75 billion</a:t>
            </a:r>
          </a:p>
        </p:txBody>
      </p:sp>
      <p:sp>
        <p:nvSpPr>
          <p:cNvPr id="17" name="TextBox 16"/>
          <p:cNvSpPr txBox="1"/>
          <p:nvPr/>
        </p:nvSpPr>
        <p:spPr>
          <a:xfrm>
            <a:off x="7137400" y="3394075"/>
            <a:ext cx="4777740" cy="203200"/>
          </a:xfrm>
          <a:prstGeom prst="rect">
            <a:avLst/>
          </a:prstGeom>
          <a:noFill/>
        </p:spPr>
        <p:txBody>
          <a:bodyPr wrap="none" tIns="0" rIns="0" bIns="0" lIns="0" anchor="t">
            <a:noAutofit/>
          </a:bodyPr>
          <a:lstStyle/>
          <a:p>
            <a:pPr algn="l">
              <a:lnSpc>
                <a:spcPts val="1680"/>
              </a:lnSpc>
            </a:pPr>
            <a:r>
              <a:rPr sz="1400" b="0">
                <a:solidFill>
                  <a:srgbClr val="A9A59C"/>
                </a:solidFill>
                <a:latin typeface="IBM Plex Sans"/>
              </a:rPr>
              <a:t>plans for 10 teams across 60 sites</a:t>
            </a:r>
          </a:p>
        </p:txBody>
      </p:sp>
      <p:sp>
        <p:nvSpPr>
          <p:cNvPr id="18" name="TextBox 17"/>
          <p:cNvSpPr txBox="1"/>
          <p:nvPr/>
        </p:nvSpPr>
        <p:spPr>
          <a:xfrm>
            <a:off x="7137400" y="3851275"/>
            <a:ext cx="4316730" cy="1666875"/>
          </a:xfrm>
          <a:prstGeom prst="rect">
            <a:avLst/>
          </a:prstGeom>
          <a:noFill/>
        </p:spPr>
        <p:txBody>
          <a:bodyPr wrap="square" tIns="0" bIns="0" lIns="0" rIns="0">
            <a:noAutofit/>
          </a:bodyPr>
          <a:lstStyle/>
          <a:p>
            <a:pPr marL="188595" indent="-188595">
              <a:lnSpc>
                <a:spcPts val="2025"/>
              </a:lnSpc>
              <a:buChar char="•"/>
            </a:pPr>
            <a:r>
              <a:rPr sz="1500" b="0">
                <a:solidFill>
                  <a:srgbClr val="A9A59C"/>
                </a:solidFill>
                <a:latin typeface="IBM Plex Sans"/>
              </a:rPr>
              <a:t>Coverage overlaps make sites interdependent</a:t>
            </a:r>
          </a:p>
          <a:p>
            <a:pPr marL="188595" indent="-188595">
              <a:lnSpc>
                <a:spcPts val="2025"/>
              </a:lnSpc>
              <a:spcBef>
                <a:spcPts val="1000"/>
              </a:spcBef>
              <a:buChar char="•"/>
            </a:pPr>
            <a:r>
              <a:rPr sz="1500" b="0">
                <a:solidFill>
                  <a:srgbClr val="A9A59C"/>
                </a:solidFill>
                <a:latin typeface="IBM Plex Sans"/>
              </a:rPr>
              <a:t>Risk moves as rain and river levels change</a:t>
            </a:r>
          </a:p>
          <a:p>
            <a:pPr marL="188595" indent="-188595">
              <a:lnSpc>
                <a:spcPts val="2025"/>
              </a:lnSpc>
              <a:spcBef>
                <a:spcPts val="1000"/>
              </a:spcBef>
              <a:buChar char="•"/>
            </a:pPr>
            <a:r>
              <a:rPr sz="1500" b="0">
                <a:solidFill>
                  <a:srgbClr val="A9A59C"/>
                </a:solidFill>
                <a:latin typeface="IBM Plex Sans"/>
              </a:rPr>
              <a:t>A plan made at T0 is stale hours later</a:t>
            </a:r>
          </a:p>
          <a:p>
            <a:pPr marL="188595" indent="-188595">
              <a:lnSpc>
                <a:spcPts val="2025"/>
              </a:lnSpc>
              <a:spcBef>
                <a:spcPts val="1000"/>
              </a:spcBef>
              <a:buChar char="•"/>
            </a:pPr>
            <a:r>
              <a:rPr sz="1500" b="0">
                <a:solidFill>
                  <a:srgbClr val="A9A59C"/>
                </a:solidFill>
                <a:latin typeface="IBM Plex Sans"/>
              </a:rPr>
              <a:t>Constraint optimization: one binary decision per site → QUBO</a:t>
            </a:r>
          </a:p>
        </p:txBody>
      </p:sp>
      <p:sp>
        <p:nvSpPr>
          <p:cNvPr id="19" name="TextBox 18"/>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20" name="TextBox 19"/>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03 · Research gap</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Forecasting is well served; the loop to placement is open</a:t>
            </a:r>
          </a:p>
        </p:txBody>
      </p:sp>
      <p:sp>
        <p:nvSpPr>
          <p:cNvPr id="4" name="TextBox 3"/>
          <p:cNvSpPr txBox="1"/>
          <p:nvPr/>
        </p:nvSpPr>
        <p:spPr>
          <a:xfrm>
            <a:off x="812800" y="1809750"/>
            <a:ext cx="72390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Existing</a:t>
            </a:r>
          </a:p>
        </p:txBody>
      </p:sp>
      <p:sp>
        <p:nvSpPr>
          <p:cNvPr id="5" name="Rectangle 4"/>
          <p:cNvSpPr/>
          <p:nvPr/>
        </p:nvSpPr>
        <p:spPr>
          <a:xfrm>
            <a:off x="812800" y="2159000"/>
            <a:ext cx="2095500" cy="565150"/>
          </a:xfrm>
          <a:prstGeom prst="rect">
            <a:avLst/>
          </a:prstGeom>
          <a:solidFill>
            <a:srgbClr val="262522"/>
          </a:solidFill>
          <a:ln w="12700">
            <a:solidFill>
              <a:srgbClr val="3A3834"/>
            </a:solidFill>
          </a:ln>
        </p:spPr>
        <p:txBody>
          <a:bodyPr rtlCol="0" anchor="ctr"/>
          <a:lstStyle/>
          <a:p>
            <a:pPr algn="ctr"/>
          </a:p>
        </p:txBody>
      </p:sp>
      <p:sp>
        <p:nvSpPr>
          <p:cNvPr id="6" name="TextBox 5"/>
          <p:cNvSpPr txBox="1"/>
          <p:nvPr/>
        </p:nvSpPr>
        <p:spPr>
          <a:xfrm>
            <a:off x="939800" y="2247900"/>
            <a:ext cx="2099310"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Flood forecasting</a:t>
            </a:r>
          </a:p>
        </p:txBody>
      </p:sp>
      <p:sp>
        <p:nvSpPr>
          <p:cNvPr id="7" name="TextBox 6"/>
          <p:cNvSpPr txBox="1"/>
          <p:nvPr/>
        </p:nvSpPr>
        <p:spPr>
          <a:xfrm>
            <a:off x="939800" y="2457450"/>
            <a:ext cx="209931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Flood Hub · CWC · IMD</a:t>
            </a:r>
          </a:p>
        </p:txBody>
      </p:sp>
      <p:pic>
        <p:nvPicPr>
          <p:cNvPr id="8" name="Picture 7" descr="image.png"/>
          <p:cNvPicPr>
            <a:picLocks noChangeAspect="1"/>
          </p:cNvPicPr>
          <p:nvPr/>
        </p:nvPicPr>
        <p:blipFill>
          <a:blip r:embed="rId2"/>
          <a:stretch>
            <a:fillRect/>
          </a:stretch>
        </p:blipFill>
        <p:spPr>
          <a:xfrm>
            <a:off x="3009900" y="2365375"/>
            <a:ext cx="304800" cy="152400"/>
          </a:xfrm>
          <a:prstGeom prst="rect">
            <a:avLst/>
          </a:prstGeom>
        </p:spPr>
      </p:pic>
      <p:sp>
        <p:nvSpPr>
          <p:cNvPr id="9" name="Rectangle 8"/>
          <p:cNvSpPr/>
          <p:nvPr/>
        </p:nvSpPr>
        <p:spPr>
          <a:xfrm>
            <a:off x="3416300" y="2236788"/>
            <a:ext cx="1651000" cy="409575"/>
          </a:xfrm>
          <a:prstGeom prst="rect">
            <a:avLst/>
          </a:prstGeom>
          <a:solidFill>
            <a:srgbClr val="262522"/>
          </a:solidFill>
          <a:ln w="12700">
            <a:solidFill>
              <a:srgbClr val="3A3834"/>
            </a:solidFill>
          </a:ln>
        </p:spPr>
        <p:txBody>
          <a:bodyPr rtlCol="0" anchor="ctr"/>
          <a:lstStyle/>
          <a:p>
            <a:pPr algn="ctr"/>
          </a:p>
        </p:txBody>
      </p:sp>
      <p:sp>
        <p:nvSpPr>
          <p:cNvPr id="10" name="TextBox 9"/>
          <p:cNvSpPr txBox="1"/>
          <p:nvPr/>
        </p:nvSpPr>
        <p:spPr>
          <a:xfrm>
            <a:off x="3543300" y="2338388"/>
            <a:ext cx="1592580" cy="206375"/>
          </a:xfrm>
          <a:prstGeom prst="rect">
            <a:avLst/>
          </a:prstGeom>
          <a:noFill/>
        </p:spPr>
        <p:txBody>
          <a:bodyPr wrap="none" tIns="0" rIns="0" bIns="0" lIns="0" anchor="t">
            <a:noAutofit/>
          </a:bodyPr>
          <a:lstStyle/>
          <a:p>
            <a:pPr algn="l">
              <a:lnSpc>
                <a:spcPts val="1625"/>
              </a:lnSpc>
            </a:pPr>
            <a:r>
              <a:rPr sz="1300" b="0">
                <a:solidFill>
                  <a:srgbClr val="F5F2EA"/>
                </a:solidFill>
                <a:latin typeface="IBM Plex Sans"/>
              </a:rPr>
              <a:t>Risk prediction</a:t>
            </a:r>
          </a:p>
        </p:txBody>
      </p:sp>
      <p:sp>
        <p:nvSpPr>
          <p:cNvPr id="11" name="TextBox 10"/>
          <p:cNvSpPr txBox="1"/>
          <p:nvPr/>
        </p:nvSpPr>
        <p:spPr>
          <a:xfrm>
            <a:off x="5168900" y="2342555"/>
            <a:ext cx="1664970" cy="198041"/>
          </a:xfrm>
          <a:prstGeom prst="rect">
            <a:avLst/>
          </a:prstGeom>
          <a:noFill/>
        </p:spPr>
        <p:txBody>
          <a:bodyPr wrap="none" tIns="0" rIns="0" bIns="0" lIns="0" anchor="t">
            <a:noAutofit/>
          </a:bodyPr>
          <a:lstStyle/>
          <a:p>
            <a:pPr algn="l">
              <a:lnSpc>
                <a:spcPts val="1560"/>
              </a:lnSpc>
            </a:pPr>
            <a:r>
              <a:rPr sz="1200" b="0">
                <a:solidFill>
                  <a:srgbClr val="E7715F"/>
                </a:solidFill>
                <a:latin typeface="IBM Plex Sans"/>
              </a:rPr>
              <a:t>Stops at the forecast</a:t>
            </a:r>
          </a:p>
        </p:txBody>
      </p:sp>
      <p:sp>
        <p:nvSpPr>
          <p:cNvPr id="12" name="Rectangle 11"/>
          <p:cNvSpPr/>
          <p:nvPr/>
        </p:nvSpPr>
        <p:spPr>
          <a:xfrm>
            <a:off x="812800" y="2901950"/>
            <a:ext cx="2095500" cy="565150"/>
          </a:xfrm>
          <a:prstGeom prst="rect">
            <a:avLst/>
          </a:prstGeom>
          <a:solidFill>
            <a:srgbClr val="262522"/>
          </a:solidFill>
          <a:ln w="12700">
            <a:solidFill>
              <a:srgbClr val="3A3834"/>
            </a:solidFill>
          </a:ln>
        </p:spPr>
        <p:txBody>
          <a:bodyPr rtlCol="0" anchor="ctr"/>
          <a:lstStyle/>
          <a:p>
            <a:pPr algn="ctr"/>
          </a:p>
        </p:txBody>
      </p:sp>
      <p:sp>
        <p:nvSpPr>
          <p:cNvPr id="13" name="TextBox 12"/>
          <p:cNvSpPr txBox="1"/>
          <p:nvPr/>
        </p:nvSpPr>
        <p:spPr>
          <a:xfrm>
            <a:off x="939800" y="2990850"/>
            <a:ext cx="2099310"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Control rooms</a:t>
            </a:r>
          </a:p>
        </p:txBody>
      </p:sp>
      <p:sp>
        <p:nvSpPr>
          <p:cNvPr id="14" name="TextBox 13"/>
          <p:cNvSpPr txBox="1"/>
          <p:nvPr/>
        </p:nvSpPr>
        <p:spPr>
          <a:xfrm>
            <a:off x="939800" y="3200400"/>
            <a:ext cx="209931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District EOCs</a:t>
            </a:r>
          </a:p>
        </p:txBody>
      </p:sp>
      <p:pic>
        <p:nvPicPr>
          <p:cNvPr id="15" name="Picture 14" descr="image.png"/>
          <p:cNvPicPr>
            <a:picLocks noChangeAspect="1"/>
          </p:cNvPicPr>
          <p:nvPr/>
        </p:nvPicPr>
        <p:blipFill>
          <a:blip r:embed="rId3"/>
          <a:stretch>
            <a:fillRect/>
          </a:stretch>
        </p:blipFill>
        <p:spPr>
          <a:xfrm>
            <a:off x="3009900" y="3108325"/>
            <a:ext cx="304800" cy="152400"/>
          </a:xfrm>
          <a:prstGeom prst="rect">
            <a:avLst/>
          </a:prstGeom>
        </p:spPr>
      </p:pic>
      <p:sp>
        <p:nvSpPr>
          <p:cNvPr id="16" name="Rectangle 15"/>
          <p:cNvSpPr/>
          <p:nvPr/>
        </p:nvSpPr>
        <p:spPr>
          <a:xfrm>
            <a:off x="3416300" y="2979738"/>
            <a:ext cx="1651000" cy="409575"/>
          </a:xfrm>
          <a:prstGeom prst="rect">
            <a:avLst/>
          </a:prstGeom>
          <a:solidFill>
            <a:srgbClr val="262522"/>
          </a:solidFill>
          <a:ln w="12700">
            <a:solidFill>
              <a:srgbClr val="3A3834"/>
            </a:solidFill>
          </a:ln>
        </p:spPr>
        <p:txBody>
          <a:bodyPr rtlCol="0" anchor="ctr"/>
          <a:lstStyle/>
          <a:p>
            <a:pPr algn="ctr"/>
          </a:p>
        </p:txBody>
      </p:sp>
      <p:sp>
        <p:nvSpPr>
          <p:cNvPr id="17" name="TextBox 16"/>
          <p:cNvSpPr txBox="1"/>
          <p:nvPr/>
        </p:nvSpPr>
        <p:spPr>
          <a:xfrm>
            <a:off x="3543300" y="3081338"/>
            <a:ext cx="1592580" cy="206375"/>
          </a:xfrm>
          <a:prstGeom prst="rect">
            <a:avLst/>
          </a:prstGeom>
          <a:noFill/>
        </p:spPr>
        <p:txBody>
          <a:bodyPr wrap="none" tIns="0" rIns="0" bIns="0" lIns="0" anchor="t">
            <a:noAutofit/>
          </a:bodyPr>
          <a:lstStyle/>
          <a:p>
            <a:pPr algn="l">
              <a:lnSpc>
                <a:spcPts val="1625"/>
              </a:lnSpc>
            </a:pPr>
            <a:r>
              <a:rPr sz="1300" b="0">
                <a:solidFill>
                  <a:srgbClr val="F5F2EA"/>
                </a:solidFill>
                <a:latin typeface="IBM Plex Sans"/>
              </a:rPr>
              <a:t>Manual placement</a:t>
            </a:r>
          </a:p>
        </p:txBody>
      </p:sp>
      <p:sp>
        <p:nvSpPr>
          <p:cNvPr id="18" name="TextBox 17"/>
          <p:cNvSpPr txBox="1"/>
          <p:nvPr/>
        </p:nvSpPr>
        <p:spPr>
          <a:xfrm>
            <a:off x="5168900" y="3085505"/>
            <a:ext cx="1664970" cy="198041"/>
          </a:xfrm>
          <a:prstGeom prst="rect">
            <a:avLst/>
          </a:prstGeom>
          <a:noFill/>
        </p:spPr>
        <p:txBody>
          <a:bodyPr wrap="none" tIns="0" rIns="0" bIns="0" lIns="0" anchor="t">
            <a:noAutofit/>
          </a:bodyPr>
          <a:lstStyle/>
          <a:p>
            <a:pPr algn="l">
              <a:lnSpc>
                <a:spcPts val="1560"/>
              </a:lnSpc>
            </a:pPr>
            <a:r>
              <a:rPr sz="1200" b="0">
                <a:solidFill>
                  <a:srgbClr val="E7715F"/>
                </a:solidFill>
                <a:latin typeface="IBM Plex Sans"/>
              </a:rPr>
              <a:t>Slow; plan is static</a:t>
            </a:r>
          </a:p>
        </p:txBody>
      </p:sp>
      <p:sp>
        <p:nvSpPr>
          <p:cNvPr id="19" name="Rectangle 18"/>
          <p:cNvSpPr/>
          <p:nvPr/>
        </p:nvSpPr>
        <p:spPr>
          <a:xfrm>
            <a:off x="812800" y="3670300"/>
            <a:ext cx="2095500" cy="565150"/>
          </a:xfrm>
          <a:prstGeom prst="rect">
            <a:avLst/>
          </a:prstGeom>
          <a:solidFill>
            <a:srgbClr val="262522"/>
          </a:solidFill>
          <a:ln w="12700">
            <a:solidFill>
              <a:srgbClr val="3A3834"/>
            </a:solidFill>
          </a:ln>
        </p:spPr>
        <p:txBody>
          <a:bodyPr rtlCol="0" anchor="ctr"/>
          <a:lstStyle/>
          <a:p>
            <a:pPr algn="ctr"/>
          </a:p>
        </p:txBody>
      </p:sp>
      <p:sp>
        <p:nvSpPr>
          <p:cNvPr id="20" name="TextBox 19"/>
          <p:cNvSpPr txBox="1"/>
          <p:nvPr/>
        </p:nvSpPr>
        <p:spPr>
          <a:xfrm>
            <a:off x="939800" y="3759200"/>
            <a:ext cx="2099310"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Classical optimization</a:t>
            </a:r>
          </a:p>
        </p:txBody>
      </p:sp>
      <p:sp>
        <p:nvSpPr>
          <p:cNvPr id="21" name="TextBox 20"/>
          <p:cNvSpPr txBox="1"/>
          <p:nvPr/>
        </p:nvSpPr>
        <p:spPr>
          <a:xfrm>
            <a:off x="939800" y="3968750"/>
            <a:ext cx="209931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MILP / heuristics</a:t>
            </a:r>
          </a:p>
        </p:txBody>
      </p:sp>
      <p:pic>
        <p:nvPicPr>
          <p:cNvPr id="22" name="Picture 21" descr="image.png"/>
          <p:cNvPicPr>
            <a:picLocks noChangeAspect="1"/>
          </p:cNvPicPr>
          <p:nvPr/>
        </p:nvPicPr>
        <p:blipFill>
          <a:blip r:embed="rId4"/>
          <a:stretch>
            <a:fillRect/>
          </a:stretch>
        </p:blipFill>
        <p:spPr>
          <a:xfrm>
            <a:off x="3009900" y="3876675"/>
            <a:ext cx="304800" cy="152400"/>
          </a:xfrm>
          <a:prstGeom prst="rect">
            <a:avLst/>
          </a:prstGeom>
        </p:spPr>
      </p:pic>
      <p:sp>
        <p:nvSpPr>
          <p:cNvPr id="23" name="Rectangle 22"/>
          <p:cNvSpPr/>
          <p:nvPr/>
        </p:nvSpPr>
        <p:spPr>
          <a:xfrm>
            <a:off x="3416300" y="3644900"/>
            <a:ext cx="1651000" cy="615950"/>
          </a:xfrm>
          <a:prstGeom prst="rect">
            <a:avLst/>
          </a:prstGeom>
          <a:solidFill>
            <a:srgbClr val="262522"/>
          </a:solidFill>
          <a:ln w="12700">
            <a:solidFill>
              <a:srgbClr val="3A3834"/>
            </a:solidFill>
          </a:ln>
        </p:spPr>
        <p:txBody>
          <a:bodyPr rtlCol="0" anchor="ctr"/>
          <a:lstStyle/>
          <a:p>
            <a:pPr algn="ctr"/>
          </a:p>
        </p:txBody>
      </p:sp>
      <p:sp>
        <p:nvSpPr>
          <p:cNvPr id="24" name="TextBox 23"/>
          <p:cNvSpPr txBox="1"/>
          <p:nvPr/>
        </p:nvSpPr>
        <p:spPr>
          <a:xfrm>
            <a:off x="3543300" y="3746500"/>
            <a:ext cx="1438910" cy="412750"/>
          </a:xfrm>
          <a:prstGeom prst="rect">
            <a:avLst/>
          </a:prstGeom>
          <a:noFill/>
        </p:spPr>
        <p:txBody>
          <a:bodyPr wrap="square" tIns="0" rIns="0" bIns="0" lIns="0" anchor="t">
            <a:noAutofit/>
          </a:bodyPr>
          <a:lstStyle/>
          <a:p>
            <a:pPr algn="l">
              <a:lnSpc>
                <a:spcPts val="1625"/>
              </a:lnSpc>
            </a:pPr>
            <a:r>
              <a:rPr sz="1300" b="0">
                <a:solidFill>
                  <a:srgbClr val="F5F2EA"/>
                </a:solidFill>
                <a:latin typeface="IBM Plex Sans"/>
              </a:rPr>
              <a:t>Offline, periodic solve</a:t>
            </a:r>
          </a:p>
        </p:txBody>
      </p:sp>
      <p:sp>
        <p:nvSpPr>
          <p:cNvPr id="25" name="TextBox 24"/>
          <p:cNvSpPr txBox="1"/>
          <p:nvPr/>
        </p:nvSpPr>
        <p:spPr>
          <a:xfrm>
            <a:off x="5168900" y="3853855"/>
            <a:ext cx="1664970" cy="198041"/>
          </a:xfrm>
          <a:prstGeom prst="rect">
            <a:avLst/>
          </a:prstGeom>
          <a:noFill/>
        </p:spPr>
        <p:txBody>
          <a:bodyPr wrap="none" tIns="0" rIns="0" bIns="0" lIns="0" anchor="t">
            <a:noAutofit/>
          </a:bodyPr>
          <a:lstStyle/>
          <a:p>
            <a:pPr algn="l">
              <a:lnSpc>
                <a:spcPts val="1560"/>
              </a:lnSpc>
            </a:pPr>
            <a:r>
              <a:rPr sz="1200" b="0">
                <a:solidFill>
                  <a:srgbClr val="E7715F"/>
                </a:solidFill>
                <a:latin typeface="IBM Plex Sans"/>
              </a:rPr>
              <a:t>Not wired to live risk</a:t>
            </a:r>
          </a:p>
        </p:txBody>
      </p:sp>
      <p:sp>
        <p:nvSpPr>
          <p:cNvPr id="26" name="TextBox 25"/>
          <p:cNvSpPr txBox="1"/>
          <p:nvPr/>
        </p:nvSpPr>
        <p:spPr>
          <a:xfrm>
            <a:off x="812800" y="4438650"/>
            <a:ext cx="6278880" cy="41136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Closest prior art: NQCC × Mind Foundry quantum sensor-network PoC (UK, 2025), which covers placement only, with no live risk loop.</a:t>
            </a:r>
          </a:p>
        </p:txBody>
      </p:sp>
      <p:sp>
        <p:nvSpPr>
          <p:cNvPr id="27" name="TextBox 26"/>
          <p:cNvSpPr txBox="1"/>
          <p:nvPr/>
        </p:nvSpPr>
        <p:spPr>
          <a:xfrm>
            <a:off x="7772400" y="1809750"/>
            <a:ext cx="4111752"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Our contribution</a:t>
            </a:r>
          </a:p>
        </p:txBody>
      </p:sp>
      <p:sp>
        <p:nvSpPr>
          <p:cNvPr id="28" name="Rectangle 27"/>
          <p:cNvSpPr/>
          <p:nvPr/>
        </p:nvSpPr>
        <p:spPr>
          <a:xfrm>
            <a:off x="7772400" y="2019300"/>
            <a:ext cx="3556000" cy="409575"/>
          </a:xfrm>
          <a:prstGeom prst="rect">
            <a:avLst/>
          </a:prstGeom>
          <a:solidFill>
            <a:srgbClr val="22302A"/>
          </a:solidFill>
          <a:ln w="12700">
            <a:solidFill>
              <a:srgbClr val="4F7658"/>
            </a:solidFill>
          </a:ln>
        </p:spPr>
        <p:txBody>
          <a:bodyPr rtlCol="0" anchor="ctr"/>
          <a:lstStyle/>
          <a:p>
            <a:pPr algn="ctr"/>
          </a:p>
        </p:txBody>
      </p:sp>
      <p:sp>
        <p:nvSpPr>
          <p:cNvPr id="29" name="TextBox 28"/>
          <p:cNvSpPr txBox="1"/>
          <p:nvPr/>
        </p:nvSpPr>
        <p:spPr>
          <a:xfrm>
            <a:off x="7899400" y="2120900"/>
            <a:ext cx="3764280" cy="206375"/>
          </a:xfrm>
          <a:prstGeom prst="rect">
            <a:avLst/>
          </a:prstGeom>
          <a:noFill/>
        </p:spPr>
        <p:txBody>
          <a:bodyPr wrap="none" tIns="0" rIns="0" bIns="0" lIns="0" anchor="t">
            <a:noAutofit/>
          </a:bodyPr>
          <a:lstStyle/>
          <a:p>
            <a:pPr algn="l">
              <a:lnSpc>
                <a:spcPts val="1625"/>
              </a:lnSpc>
            </a:pPr>
            <a:r>
              <a:rPr sz="1300" b="1">
                <a:solidFill>
                  <a:srgbClr val="F5F2EA"/>
                </a:solidFill>
                <a:latin typeface="IBM Plex Sans"/>
              </a:rPr>
              <a:t>Risk prediction (ML)</a:t>
            </a:r>
          </a:p>
        </p:txBody>
      </p:sp>
      <p:pic>
        <p:nvPicPr>
          <p:cNvPr id="30" name="Picture 29" descr="image.png"/>
          <p:cNvPicPr>
            <a:picLocks noChangeAspect="1"/>
          </p:cNvPicPr>
          <p:nvPr/>
        </p:nvPicPr>
        <p:blipFill>
          <a:blip r:embed="rId5"/>
          <a:stretch>
            <a:fillRect/>
          </a:stretch>
        </p:blipFill>
        <p:spPr>
          <a:xfrm>
            <a:off x="9461500" y="2466975"/>
            <a:ext cx="177800" cy="190500"/>
          </a:xfrm>
          <a:prstGeom prst="rect">
            <a:avLst/>
          </a:prstGeom>
        </p:spPr>
      </p:pic>
      <p:sp>
        <p:nvSpPr>
          <p:cNvPr id="31" name="Rectangle 30"/>
          <p:cNvSpPr/>
          <p:nvPr/>
        </p:nvSpPr>
        <p:spPr>
          <a:xfrm>
            <a:off x="7772400" y="2695575"/>
            <a:ext cx="3556000" cy="409575"/>
          </a:xfrm>
          <a:prstGeom prst="rect">
            <a:avLst/>
          </a:prstGeom>
          <a:solidFill>
            <a:srgbClr val="22302A"/>
          </a:solidFill>
          <a:ln w="12700">
            <a:solidFill>
              <a:srgbClr val="4F7658"/>
            </a:solidFill>
          </a:ln>
        </p:spPr>
        <p:txBody>
          <a:bodyPr rtlCol="0" anchor="ctr"/>
          <a:lstStyle/>
          <a:p>
            <a:pPr algn="ctr"/>
          </a:p>
        </p:txBody>
      </p:sp>
      <p:sp>
        <p:nvSpPr>
          <p:cNvPr id="32" name="TextBox 31"/>
          <p:cNvSpPr txBox="1"/>
          <p:nvPr/>
        </p:nvSpPr>
        <p:spPr>
          <a:xfrm>
            <a:off x="7899400" y="2797175"/>
            <a:ext cx="3764280" cy="206375"/>
          </a:xfrm>
          <a:prstGeom prst="rect">
            <a:avLst/>
          </a:prstGeom>
          <a:noFill/>
        </p:spPr>
        <p:txBody>
          <a:bodyPr wrap="none" tIns="0" rIns="0" bIns="0" lIns="0" anchor="t">
            <a:noAutofit/>
          </a:bodyPr>
          <a:lstStyle/>
          <a:p>
            <a:pPr algn="l">
              <a:lnSpc>
                <a:spcPts val="1625"/>
              </a:lnSpc>
            </a:pPr>
            <a:r>
              <a:rPr sz="1300" b="1">
                <a:solidFill>
                  <a:srgbClr val="F5F2EA"/>
                </a:solidFill>
                <a:latin typeface="IBM Plex Sans"/>
              </a:rPr>
              <a:t>Automatic QUBO construction</a:t>
            </a:r>
          </a:p>
        </p:txBody>
      </p:sp>
      <p:pic>
        <p:nvPicPr>
          <p:cNvPr id="33" name="Picture 32" descr="image.png"/>
          <p:cNvPicPr>
            <a:picLocks noChangeAspect="1"/>
          </p:cNvPicPr>
          <p:nvPr/>
        </p:nvPicPr>
        <p:blipFill>
          <a:blip r:embed="rId6"/>
          <a:stretch>
            <a:fillRect/>
          </a:stretch>
        </p:blipFill>
        <p:spPr>
          <a:xfrm>
            <a:off x="9461500" y="3143250"/>
            <a:ext cx="177800" cy="190500"/>
          </a:xfrm>
          <a:prstGeom prst="rect">
            <a:avLst/>
          </a:prstGeom>
        </p:spPr>
      </p:pic>
      <p:sp>
        <p:nvSpPr>
          <p:cNvPr id="34" name="Rectangle 33"/>
          <p:cNvSpPr/>
          <p:nvPr/>
        </p:nvSpPr>
        <p:spPr>
          <a:xfrm>
            <a:off x="7772400" y="3371850"/>
            <a:ext cx="3556000" cy="409575"/>
          </a:xfrm>
          <a:prstGeom prst="rect">
            <a:avLst/>
          </a:prstGeom>
          <a:solidFill>
            <a:srgbClr val="3A2616"/>
          </a:solidFill>
          <a:ln w="12700">
            <a:solidFill>
              <a:srgbClr val="E56A1F"/>
            </a:solidFill>
          </a:ln>
        </p:spPr>
        <p:txBody>
          <a:bodyPr rtlCol="0" anchor="ctr"/>
          <a:lstStyle/>
          <a:p>
            <a:pPr algn="ctr"/>
          </a:p>
        </p:txBody>
      </p:sp>
      <p:sp>
        <p:nvSpPr>
          <p:cNvPr id="35" name="TextBox 34"/>
          <p:cNvSpPr txBox="1"/>
          <p:nvPr/>
        </p:nvSpPr>
        <p:spPr>
          <a:xfrm>
            <a:off x="7899400" y="3473450"/>
            <a:ext cx="3764280" cy="206375"/>
          </a:xfrm>
          <a:prstGeom prst="rect">
            <a:avLst/>
          </a:prstGeom>
          <a:noFill/>
        </p:spPr>
        <p:txBody>
          <a:bodyPr wrap="none" tIns="0" rIns="0" bIns="0" lIns="0" anchor="t">
            <a:noAutofit/>
          </a:bodyPr>
          <a:lstStyle/>
          <a:p>
            <a:pPr algn="l">
              <a:lnSpc>
                <a:spcPts val="1625"/>
              </a:lnSpc>
            </a:pPr>
            <a:r>
              <a:rPr sz="1300" b="1">
                <a:solidFill>
                  <a:srgbClr val="F5F2EA"/>
                </a:solidFill>
                <a:latin typeface="IBM Plex Sans"/>
              </a:rPr>
              <a:t>QAOA on IBM QPU</a:t>
            </a:r>
          </a:p>
        </p:txBody>
      </p:sp>
      <p:pic>
        <p:nvPicPr>
          <p:cNvPr id="36" name="Picture 35" descr="image.png"/>
          <p:cNvPicPr>
            <a:picLocks noChangeAspect="1"/>
          </p:cNvPicPr>
          <p:nvPr/>
        </p:nvPicPr>
        <p:blipFill>
          <a:blip r:embed="rId5"/>
          <a:stretch>
            <a:fillRect/>
          </a:stretch>
        </p:blipFill>
        <p:spPr>
          <a:xfrm>
            <a:off x="9461500" y="3819525"/>
            <a:ext cx="177800" cy="190500"/>
          </a:xfrm>
          <a:prstGeom prst="rect">
            <a:avLst/>
          </a:prstGeom>
        </p:spPr>
      </p:pic>
      <p:sp>
        <p:nvSpPr>
          <p:cNvPr id="37" name="Rectangle 36"/>
          <p:cNvSpPr/>
          <p:nvPr/>
        </p:nvSpPr>
        <p:spPr>
          <a:xfrm>
            <a:off x="7772400" y="4048125"/>
            <a:ext cx="3556000" cy="409575"/>
          </a:xfrm>
          <a:prstGeom prst="rect">
            <a:avLst/>
          </a:prstGeom>
          <a:solidFill>
            <a:srgbClr val="22302A"/>
          </a:solidFill>
          <a:ln w="12700">
            <a:solidFill>
              <a:srgbClr val="4F7658"/>
            </a:solidFill>
          </a:ln>
        </p:spPr>
        <p:txBody>
          <a:bodyPr rtlCol="0" anchor="ctr"/>
          <a:lstStyle/>
          <a:p>
            <a:pPr algn="ctr"/>
          </a:p>
        </p:txBody>
      </p:sp>
      <p:sp>
        <p:nvSpPr>
          <p:cNvPr id="38" name="TextBox 37"/>
          <p:cNvSpPr txBox="1"/>
          <p:nvPr/>
        </p:nvSpPr>
        <p:spPr>
          <a:xfrm>
            <a:off x="7899400" y="4149725"/>
            <a:ext cx="3764280" cy="206375"/>
          </a:xfrm>
          <a:prstGeom prst="rect">
            <a:avLst/>
          </a:prstGeom>
          <a:noFill/>
        </p:spPr>
        <p:txBody>
          <a:bodyPr wrap="none" tIns="0" rIns="0" bIns="0" lIns="0" anchor="t">
            <a:noAutofit/>
          </a:bodyPr>
          <a:lstStyle/>
          <a:p>
            <a:pPr algn="l">
              <a:lnSpc>
                <a:spcPts val="1625"/>
              </a:lnSpc>
            </a:pPr>
            <a:r>
              <a:rPr sz="1300" b="1">
                <a:solidFill>
                  <a:srgbClr val="F5F2EA"/>
                </a:solidFill>
                <a:latin typeface="IBM Plex Sans"/>
              </a:rPr>
              <a:t>Constraint validation</a:t>
            </a:r>
          </a:p>
        </p:txBody>
      </p:sp>
      <p:pic>
        <p:nvPicPr>
          <p:cNvPr id="39" name="Picture 38" descr="image.png"/>
          <p:cNvPicPr>
            <a:picLocks noChangeAspect="1"/>
          </p:cNvPicPr>
          <p:nvPr/>
        </p:nvPicPr>
        <p:blipFill>
          <a:blip r:embed="rId6"/>
          <a:stretch>
            <a:fillRect/>
          </a:stretch>
        </p:blipFill>
        <p:spPr>
          <a:xfrm>
            <a:off x="9461500" y="4495800"/>
            <a:ext cx="177800" cy="190500"/>
          </a:xfrm>
          <a:prstGeom prst="rect">
            <a:avLst/>
          </a:prstGeom>
        </p:spPr>
      </p:pic>
      <p:sp>
        <p:nvSpPr>
          <p:cNvPr id="40" name="Rectangle 39"/>
          <p:cNvSpPr/>
          <p:nvPr/>
        </p:nvSpPr>
        <p:spPr>
          <a:xfrm>
            <a:off x="7772400" y="4724400"/>
            <a:ext cx="3556000" cy="409575"/>
          </a:xfrm>
          <a:prstGeom prst="rect">
            <a:avLst/>
          </a:prstGeom>
          <a:solidFill>
            <a:srgbClr val="22302A"/>
          </a:solidFill>
          <a:ln w="12700">
            <a:solidFill>
              <a:srgbClr val="4F7658"/>
            </a:solidFill>
          </a:ln>
        </p:spPr>
        <p:txBody>
          <a:bodyPr rtlCol="0" anchor="ctr"/>
          <a:lstStyle/>
          <a:p>
            <a:pPr algn="ctr"/>
          </a:p>
        </p:txBody>
      </p:sp>
      <p:sp>
        <p:nvSpPr>
          <p:cNvPr id="41" name="TextBox 40"/>
          <p:cNvSpPr txBox="1"/>
          <p:nvPr/>
        </p:nvSpPr>
        <p:spPr>
          <a:xfrm>
            <a:off x="7899400" y="4826000"/>
            <a:ext cx="3764280" cy="206375"/>
          </a:xfrm>
          <a:prstGeom prst="rect">
            <a:avLst/>
          </a:prstGeom>
          <a:noFill/>
        </p:spPr>
        <p:txBody>
          <a:bodyPr wrap="none" tIns="0" rIns="0" bIns="0" lIns="0" anchor="t">
            <a:noAutofit/>
          </a:bodyPr>
          <a:lstStyle/>
          <a:p>
            <a:pPr algn="l">
              <a:lnSpc>
                <a:spcPts val="1625"/>
              </a:lnSpc>
            </a:pPr>
            <a:r>
              <a:rPr sz="1300" b="1">
                <a:solidFill>
                  <a:srgbClr val="F5F2EA"/>
                </a:solidFill>
                <a:latin typeface="IBM Plex Sans"/>
              </a:rPr>
              <a:t>Event-triggered re-optimization</a:t>
            </a:r>
          </a:p>
        </p:txBody>
      </p:sp>
      <p:sp>
        <p:nvSpPr>
          <p:cNvPr id="42" name="TextBox 41"/>
          <p:cNvSpPr txBox="1"/>
          <p:nvPr/>
        </p:nvSpPr>
        <p:spPr>
          <a:xfrm>
            <a:off x="812800" y="5438775"/>
            <a:ext cx="12045696" cy="280591"/>
          </a:xfrm>
          <a:prstGeom prst="rect">
            <a:avLst/>
          </a:prstGeom>
          <a:noFill/>
        </p:spPr>
        <p:txBody>
          <a:bodyPr wrap="none" tIns="0" rIns="0" bIns="0" lIns="0" anchor="t">
            <a:noAutofit/>
          </a:bodyPr>
          <a:lstStyle/>
          <a:p>
            <a:pPr algn="l">
              <a:lnSpc>
                <a:spcPts val="2210"/>
              </a:lnSpc>
            </a:pPr>
            <a:r>
              <a:rPr sz="1700" b="1">
                <a:solidFill>
                  <a:srgbClr val="F5F2EA"/>
                </a:solidFill>
                <a:latin typeface="IBM Plex Sans"/>
              </a:rPr>
              <a:t>The novelty is the closed-loop integration, </a:t>
            </a:r>
            <a:r>
              <a:rPr sz="1700" b="1">
                <a:solidFill>
                  <a:srgbClr val="E56A1F"/>
                </a:solidFill>
                <a:latin typeface="IBM Plex Sans"/>
              </a:rPr>
              <a:t>not a claim of quantum advantage.</a:t>
            </a:r>
          </a:p>
        </p:txBody>
      </p:sp>
      <p:sp>
        <p:nvSpPr>
          <p:cNvPr id="43" name="TextBox 42"/>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44" name="TextBox 43"/>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04 · System architecture</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Four layers from sensors to field teams</a:t>
            </a:r>
          </a:p>
        </p:txBody>
      </p:sp>
      <p:sp>
        <p:nvSpPr>
          <p:cNvPr id="4" name="TextBox 3"/>
          <p:cNvSpPr txBox="1"/>
          <p:nvPr/>
        </p:nvSpPr>
        <p:spPr>
          <a:xfrm>
            <a:off x="812800" y="1809750"/>
            <a:ext cx="2577084"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01 · Data sources</a:t>
            </a:r>
          </a:p>
        </p:txBody>
      </p:sp>
      <p:sp>
        <p:nvSpPr>
          <p:cNvPr id="5" name="Rectangle 4"/>
          <p:cNvSpPr/>
          <p:nvPr/>
        </p:nvSpPr>
        <p:spPr>
          <a:xfrm>
            <a:off x="812800" y="2057400"/>
            <a:ext cx="2260600" cy="590550"/>
          </a:xfrm>
          <a:prstGeom prst="rect">
            <a:avLst/>
          </a:prstGeom>
          <a:solidFill>
            <a:srgbClr val="262522"/>
          </a:solidFill>
          <a:ln w="12700">
            <a:solidFill>
              <a:srgbClr val="3A3834"/>
            </a:solidFill>
          </a:ln>
        </p:spPr>
        <p:txBody>
          <a:bodyPr rtlCol="0" anchor="ctr"/>
          <a:lstStyle/>
          <a:p>
            <a:pPr algn="ctr"/>
          </a:p>
        </p:txBody>
      </p:sp>
      <p:sp>
        <p:nvSpPr>
          <p:cNvPr id="6" name="TextBox 5"/>
          <p:cNvSpPr txBox="1"/>
          <p:nvPr/>
        </p:nvSpPr>
        <p:spPr>
          <a:xfrm>
            <a:off x="939800" y="21590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IMD rainfall grids</a:t>
            </a:r>
          </a:p>
        </p:txBody>
      </p:sp>
      <p:sp>
        <p:nvSpPr>
          <p:cNvPr id="7" name="TextBox 6"/>
          <p:cNvSpPr txBox="1"/>
          <p:nvPr/>
        </p:nvSpPr>
        <p:spPr>
          <a:xfrm>
            <a:off x="939800" y="23685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gridded forecasts, nowcasts</a:t>
            </a:r>
          </a:p>
        </p:txBody>
      </p:sp>
      <p:sp>
        <p:nvSpPr>
          <p:cNvPr id="8" name="Rectangle 7"/>
          <p:cNvSpPr/>
          <p:nvPr/>
        </p:nvSpPr>
        <p:spPr>
          <a:xfrm>
            <a:off x="812800" y="2724150"/>
            <a:ext cx="2260600" cy="590550"/>
          </a:xfrm>
          <a:prstGeom prst="rect">
            <a:avLst/>
          </a:prstGeom>
          <a:solidFill>
            <a:srgbClr val="262522"/>
          </a:solidFill>
          <a:ln w="12700">
            <a:solidFill>
              <a:srgbClr val="3A3834"/>
            </a:solidFill>
          </a:ln>
        </p:spPr>
        <p:txBody>
          <a:bodyPr rtlCol="0" anchor="ctr"/>
          <a:lstStyle/>
          <a:p>
            <a:pPr algn="ctr"/>
          </a:p>
        </p:txBody>
      </p:sp>
      <p:sp>
        <p:nvSpPr>
          <p:cNvPr id="9" name="TextBox 8"/>
          <p:cNvSpPr txBox="1"/>
          <p:nvPr/>
        </p:nvSpPr>
        <p:spPr>
          <a:xfrm>
            <a:off x="939800" y="28257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CWC river gauges</a:t>
            </a:r>
          </a:p>
        </p:txBody>
      </p:sp>
      <p:sp>
        <p:nvSpPr>
          <p:cNvPr id="10" name="TextBox 9"/>
          <p:cNvSpPr txBox="1"/>
          <p:nvPr/>
        </p:nvSpPr>
        <p:spPr>
          <a:xfrm>
            <a:off x="939800" y="30353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stage and discharge</a:t>
            </a:r>
          </a:p>
        </p:txBody>
      </p:sp>
      <p:sp>
        <p:nvSpPr>
          <p:cNvPr id="11" name="Rectangle 10"/>
          <p:cNvSpPr/>
          <p:nvPr/>
        </p:nvSpPr>
        <p:spPr>
          <a:xfrm>
            <a:off x="812800" y="3390900"/>
            <a:ext cx="2260600" cy="590550"/>
          </a:xfrm>
          <a:prstGeom prst="rect">
            <a:avLst/>
          </a:prstGeom>
          <a:solidFill>
            <a:srgbClr val="262522"/>
          </a:solidFill>
          <a:ln w="12700">
            <a:solidFill>
              <a:srgbClr val="3A3834"/>
            </a:solidFill>
          </a:ln>
        </p:spPr>
        <p:txBody>
          <a:bodyPr rtlCol="0" anchor="ctr"/>
          <a:lstStyle/>
          <a:p>
            <a:pPr algn="ctr"/>
          </a:p>
        </p:txBody>
      </p:sp>
      <p:sp>
        <p:nvSpPr>
          <p:cNvPr id="12" name="TextBox 11"/>
          <p:cNvSpPr txBox="1"/>
          <p:nvPr/>
        </p:nvSpPr>
        <p:spPr>
          <a:xfrm>
            <a:off x="939800" y="34925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Sentinel-1 SAR</a:t>
            </a:r>
          </a:p>
        </p:txBody>
      </p:sp>
      <p:sp>
        <p:nvSpPr>
          <p:cNvPr id="13" name="TextBox 12"/>
          <p:cNvSpPr txBox="1"/>
          <p:nvPr/>
        </p:nvSpPr>
        <p:spPr>
          <a:xfrm>
            <a:off x="939800" y="37020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past flood extents (labels)</a:t>
            </a:r>
          </a:p>
        </p:txBody>
      </p:sp>
      <p:sp>
        <p:nvSpPr>
          <p:cNvPr id="14" name="Rectangle 13"/>
          <p:cNvSpPr/>
          <p:nvPr/>
        </p:nvSpPr>
        <p:spPr>
          <a:xfrm>
            <a:off x="812800" y="4057650"/>
            <a:ext cx="2260600" cy="590550"/>
          </a:xfrm>
          <a:prstGeom prst="rect">
            <a:avLst/>
          </a:prstGeom>
          <a:solidFill>
            <a:srgbClr val="262522"/>
          </a:solidFill>
          <a:ln w="12700">
            <a:solidFill>
              <a:srgbClr val="3A3834"/>
            </a:solidFill>
          </a:ln>
        </p:spPr>
        <p:txBody>
          <a:bodyPr rtlCol="0" anchor="ctr"/>
          <a:lstStyle/>
          <a:p>
            <a:pPr algn="ctr"/>
          </a:p>
        </p:txBody>
      </p:sp>
      <p:sp>
        <p:nvSpPr>
          <p:cNvPr id="15" name="TextBox 14"/>
          <p:cNvSpPr txBox="1"/>
          <p:nvPr/>
        </p:nvSpPr>
        <p:spPr>
          <a:xfrm>
            <a:off x="939800" y="41592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SRTM · OSM · Census</a:t>
            </a:r>
          </a:p>
        </p:txBody>
      </p:sp>
      <p:sp>
        <p:nvSpPr>
          <p:cNvPr id="16" name="TextBox 15"/>
          <p:cNvSpPr txBox="1"/>
          <p:nvPr/>
        </p:nvSpPr>
        <p:spPr>
          <a:xfrm>
            <a:off x="939800" y="43688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terrain, roads, population</a:t>
            </a:r>
          </a:p>
        </p:txBody>
      </p:sp>
      <p:pic>
        <p:nvPicPr>
          <p:cNvPr id="17" name="Picture 16" descr="image.png"/>
          <p:cNvPicPr>
            <a:picLocks noChangeAspect="1"/>
          </p:cNvPicPr>
          <p:nvPr/>
        </p:nvPicPr>
        <p:blipFill>
          <a:blip r:embed="rId2"/>
          <a:stretch>
            <a:fillRect/>
          </a:stretch>
        </p:blipFill>
        <p:spPr>
          <a:xfrm>
            <a:off x="3149600" y="3381375"/>
            <a:ext cx="355600" cy="177800"/>
          </a:xfrm>
          <a:prstGeom prst="rect">
            <a:avLst/>
          </a:prstGeom>
        </p:spPr>
      </p:pic>
      <p:sp>
        <p:nvSpPr>
          <p:cNvPr id="18" name="TextBox 17"/>
          <p:cNvSpPr txBox="1"/>
          <p:nvPr/>
        </p:nvSpPr>
        <p:spPr>
          <a:xfrm>
            <a:off x="3581400" y="1809750"/>
            <a:ext cx="2577084"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02 · Classical services</a:t>
            </a:r>
          </a:p>
        </p:txBody>
      </p:sp>
      <p:sp>
        <p:nvSpPr>
          <p:cNvPr id="19" name="Rectangle 18"/>
          <p:cNvSpPr/>
          <p:nvPr/>
        </p:nvSpPr>
        <p:spPr>
          <a:xfrm>
            <a:off x="3581400" y="2057400"/>
            <a:ext cx="2260600" cy="590550"/>
          </a:xfrm>
          <a:prstGeom prst="rect">
            <a:avLst/>
          </a:prstGeom>
          <a:solidFill>
            <a:srgbClr val="262522"/>
          </a:solidFill>
          <a:ln w="12700">
            <a:solidFill>
              <a:srgbClr val="3A3834"/>
            </a:solidFill>
          </a:ln>
        </p:spPr>
        <p:txBody>
          <a:bodyPr rtlCol="0" anchor="ctr"/>
          <a:lstStyle/>
          <a:p>
            <a:pPr algn="ctr"/>
          </a:p>
        </p:txBody>
      </p:sp>
      <p:sp>
        <p:nvSpPr>
          <p:cNvPr id="20" name="TextBox 19"/>
          <p:cNvSpPr txBox="1"/>
          <p:nvPr/>
        </p:nvSpPr>
        <p:spPr>
          <a:xfrm>
            <a:off x="3708400" y="21590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Event trigger</a:t>
            </a:r>
          </a:p>
        </p:txBody>
      </p:sp>
      <p:sp>
        <p:nvSpPr>
          <p:cNvPr id="21" name="TextBox 20"/>
          <p:cNvSpPr txBox="1"/>
          <p:nvPr/>
        </p:nvSpPr>
        <p:spPr>
          <a:xfrm>
            <a:off x="3708400" y="23685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threshold rules on new data</a:t>
            </a:r>
          </a:p>
        </p:txBody>
      </p:sp>
      <p:sp>
        <p:nvSpPr>
          <p:cNvPr id="22" name="Rectangle 21"/>
          <p:cNvSpPr/>
          <p:nvPr/>
        </p:nvSpPr>
        <p:spPr>
          <a:xfrm>
            <a:off x="3581400" y="2724150"/>
            <a:ext cx="2260600" cy="590550"/>
          </a:xfrm>
          <a:prstGeom prst="rect">
            <a:avLst/>
          </a:prstGeom>
          <a:solidFill>
            <a:srgbClr val="262522"/>
          </a:solidFill>
          <a:ln w="12700">
            <a:solidFill>
              <a:srgbClr val="3A3834"/>
            </a:solidFill>
          </a:ln>
        </p:spPr>
        <p:txBody>
          <a:bodyPr rtlCol="0" anchor="ctr"/>
          <a:lstStyle/>
          <a:p>
            <a:pPr algn="ctr"/>
          </a:p>
        </p:txBody>
      </p:sp>
      <p:sp>
        <p:nvSpPr>
          <p:cNvPr id="23" name="TextBox 22"/>
          <p:cNvSpPr txBox="1"/>
          <p:nvPr/>
        </p:nvSpPr>
        <p:spPr>
          <a:xfrm>
            <a:off x="3708400" y="28257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Risk service</a:t>
            </a:r>
          </a:p>
        </p:txBody>
      </p:sp>
      <p:sp>
        <p:nvSpPr>
          <p:cNvPr id="24" name="TextBox 23"/>
          <p:cNvSpPr txBox="1"/>
          <p:nvPr/>
        </p:nvSpPr>
        <p:spPr>
          <a:xfrm>
            <a:off x="3708400" y="30353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XGBoost, 1 km grid</a:t>
            </a:r>
          </a:p>
        </p:txBody>
      </p:sp>
      <p:sp>
        <p:nvSpPr>
          <p:cNvPr id="25" name="Rectangle 24"/>
          <p:cNvSpPr/>
          <p:nvPr/>
        </p:nvSpPr>
        <p:spPr>
          <a:xfrm>
            <a:off x="3581400" y="3390900"/>
            <a:ext cx="2260600" cy="768350"/>
          </a:xfrm>
          <a:prstGeom prst="rect">
            <a:avLst/>
          </a:prstGeom>
          <a:solidFill>
            <a:srgbClr val="262522"/>
          </a:solidFill>
          <a:ln w="12700">
            <a:solidFill>
              <a:srgbClr val="3A3834"/>
            </a:solidFill>
          </a:ln>
        </p:spPr>
        <p:txBody>
          <a:bodyPr rtlCol="0" anchor="ctr"/>
          <a:lstStyle/>
          <a:p>
            <a:pPr algn="ctr"/>
          </a:p>
        </p:txBody>
      </p:sp>
      <p:sp>
        <p:nvSpPr>
          <p:cNvPr id="26" name="TextBox 25"/>
          <p:cNvSpPr txBox="1"/>
          <p:nvPr/>
        </p:nvSpPr>
        <p:spPr>
          <a:xfrm>
            <a:off x="3708400" y="34925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QUBO builder</a:t>
            </a:r>
          </a:p>
        </p:txBody>
      </p:sp>
      <p:sp>
        <p:nvSpPr>
          <p:cNvPr id="27" name="TextBox 26"/>
          <p:cNvSpPr txBox="1"/>
          <p:nvPr/>
        </p:nvSpPr>
        <p:spPr>
          <a:xfrm>
            <a:off x="3708400" y="3702050"/>
            <a:ext cx="2066798" cy="355600"/>
          </a:xfrm>
          <a:prstGeom prst="rect">
            <a:avLst/>
          </a:prstGeom>
          <a:noFill/>
        </p:spPr>
        <p:txBody>
          <a:bodyPr wrap="square" tIns="0" rIns="0" bIns="0" lIns="0" anchor="t">
            <a:noAutofit/>
          </a:bodyPr>
          <a:lstStyle/>
          <a:p>
            <a:pPr algn="l">
              <a:lnSpc>
                <a:spcPts val="1439"/>
              </a:lnSpc>
            </a:pPr>
            <a:r>
              <a:rPr sz="1200" b="0">
                <a:solidFill>
                  <a:srgbClr val="A9A59C"/>
                </a:solidFill>
                <a:latin typeface="IBM Plex Sans"/>
              </a:rPr>
              <a:t>weights, overlaps, k; decompose</a:t>
            </a:r>
          </a:p>
        </p:txBody>
      </p:sp>
      <p:sp>
        <p:nvSpPr>
          <p:cNvPr id="28" name="Rectangle 27"/>
          <p:cNvSpPr/>
          <p:nvPr/>
        </p:nvSpPr>
        <p:spPr>
          <a:xfrm>
            <a:off x="3581400" y="4235450"/>
            <a:ext cx="2260600" cy="590550"/>
          </a:xfrm>
          <a:prstGeom prst="rect">
            <a:avLst/>
          </a:prstGeom>
          <a:solidFill>
            <a:srgbClr val="262522"/>
          </a:solidFill>
          <a:ln w="12700">
            <a:solidFill>
              <a:srgbClr val="3A3834"/>
            </a:solidFill>
          </a:ln>
        </p:spPr>
        <p:txBody>
          <a:bodyPr rtlCol="0" anchor="ctr"/>
          <a:lstStyle/>
          <a:p>
            <a:pPr algn="ctr"/>
          </a:p>
        </p:txBody>
      </p:sp>
      <p:sp>
        <p:nvSpPr>
          <p:cNvPr id="29" name="TextBox 28"/>
          <p:cNvSpPr txBox="1"/>
          <p:nvPr/>
        </p:nvSpPr>
        <p:spPr>
          <a:xfrm>
            <a:off x="3708400" y="43370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Baseline solver</a:t>
            </a:r>
          </a:p>
        </p:txBody>
      </p:sp>
      <p:sp>
        <p:nvSpPr>
          <p:cNvPr id="30" name="TextBox 29"/>
          <p:cNvSpPr txBox="1"/>
          <p:nvPr/>
        </p:nvSpPr>
        <p:spPr>
          <a:xfrm>
            <a:off x="3708400" y="45466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greedy + exact, fallback</a:t>
            </a:r>
          </a:p>
        </p:txBody>
      </p:sp>
      <p:pic>
        <p:nvPicPr>
          <p:cNvPr id="31" name="Picture 30" descr="image.png"/>
          <p:cNvPicPr>
            <a:picLocks noChangeAspect="1"/>
          </p:cNvPicPr>
          <p:nvPr/>
        </p:nvPicPr>
        <p:blipFill>
          <a:blip r:embed="rId2"/>
          <a:stretch>
            <a:fillRect/>
          </a:stretch>
        </p:blipFill>
        <p:spPr>
          <a:xfrm>
            <a:off x="5918200" y="3381375"/>
            <a:ext cx="355600" cy="177800"/>
          </a:xfrm>
          <a:prstGeom prst="rect">
            <a:avLst/>
          </a:prstGeom>
        </p:spPr>
      </p:pic>
      <p:sp>
        <p:nvSpPr>
          <p:cNvPr id="32" name="TextBox 31"/>
          <p:cNvSpPr txBox="1"/>
          <p:nvPr/>
        </p:nvSpPr>
        <p:spPr>
          <a:xfrm>
            <a:off x="6350000" y="1809750"/>
            <a:ext cx="2577084"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03 · Quantum layer</a:t>
            </a:r>
          </a:p>
        </p:txBody>
      </p:sp>
      <p:sp>
        <p:nvSpPr>
          <p:cNvPr id="33" name="Rectangle 32"/>
          <p:cNvSpPr/>
          <p:nvPr/>
        </p:nvSpPr>
        <p:spPr>
          <a:xfrm>
            <a:off x="6350000" y="2057400"/>
            <a:ext cx="2260600" cy="590550"/>
          </a:xfrm>
          <a:prstGeom prst="rect">
            <a:avLst/>
          </a:prstGeom>
          <a:solidFill>
            <a:srgbClr val="262522"/>
          </a:solidFill>
          <a:ln w="12700">
            <a:solidFill>
              <a:srgbClr val="E56A1F"/>
            </a:solidFill>
          </a:ln>
        </p:spPr>
        <p:txBody>
          <a:bodyPr rtlCol="0" anchor="ctr"/>
          <a:lstStyle/>
          <a:p>
            <a:pPr algn="ctr"/>
          </a:p>
        </p:txBody>
      </p:sp>
      <p:sp>
        <p:nvSpPr>
          <p:cNvPr id="34" name="TextBox 33"/>
          <p:cNvSpPr txBox="1"/>
          <p:nvPr/>
        </p:nvSpPr>
        <p:spPr>
          <a:xfrm>
            <a:off x="6477000" y="21590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Transpiler</a:t>
            </a:r>
          </a:p>
        </p:txBody>
      </p:sp>
      <p:sp>
        <p:nvSpPr>
          <p:cNvPr id="35" name="TextBox 34"/>
          <p:cNvSpPr txBox="1"/>
          <p:nvPr/>
        </p:nvSpPr>
        <p:spPr>
          <a:xfrm>
            <a:off x="6477000" y="23685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ISA circuit, heavy-hex layout</a:t>
            </a:r>
          </a:p>
        </p:txBody>
      </p:sp>
      <p:sp>
        <p:nvSpPr>
          <p:cNvPr id="36" name="Rectangle 35"/>
          <p:cNvSpPr/>
          <p:nvPr/>
        </p:nvSpPr>
        <p:spPr>
          <a:xfrm>
            <a:off x="6350000" y="2724150"/>
            <a:ext cx="2260600" cy="590550"/>
          </a:xfrm>
          <a:prstGeom prst="rect">
            <a:avLst/>
          </a:prstGeom>
          <a:solidFill>
            <a:srgbClr val="262522"/>
          </a:solidFill>
          <a:ln w="12700">
            <a:solidFill>
              <a:srgbClr val="E56A1F"/>
            </a:solidFill>
          </a:ln>
        </p:spPr>
        <p:txBody>
          <a:bodyPr rtlCol="0" anchor="ctr"/>
          <a:lstStyle/>
          <a:p>
            <a:pPr algn="ctr"/>
          </a:p>
        </p:txBody>
      </p:sp>
      <p:sp>
        <p:nvSpPr>
          <p:cNvPr id="37" name="TextBox 36"/>
          <p:cNvSpPr txBox="1"/>
          <p:nvPr/>
        </p:nvSpPr>
        <p:spPr>
          <a:xfrm>
            <a:off x="6477000" y="28257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Qiskit Runtime</a:t>
            </a:r>
          </a:p>
        </p:txBody>
      </p:sp>
      <p:sp>
        <p:nvSpPr>
          <p:cNvPr id="38" name="TextBox 37"/>
          <p:cNvSpPr txBox="1"/>
          <p:nvPr/>
        </p:nvSpPr>
        <p:spPr>
          <a:xfrm>
            <a:off x="6477000" y="30353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Sampler V2, batch mode</a:t>
            </a:r>
          </a:p>
        </p:txBody>
      </p:sp>
      <p:sp>
        <p:nvSpPr>
          <p:cNvPr id="39" name="Rectangle 38"/>
          <p:cNvSpPr/>
          <p:nvPr/>
        </p:nvSpPr>
        <p:spPr>
          <a:xfrm>
            <a:off x="6350000" y="3390900"/>
            <a:ext cx="2260600" cy="590550"/>
          </a:xfrm>
          <a:prstGeom prst="rect">
            <a:avLst/>
          </a:prstGeom>
          <a:solidFill>
            <a:srgbClr val="3A2616"/>
          </a:solidFill>
          <a:ln w="12700">
            <a:solidFill>
              <a:srgbClr val="E56A1F"/>
            </a:solidFill>
          </a:ln>
        </p:spPr>
        <p:txBody>
          <a:bodyPr rtlCol="0" anchor="ctr"/>
          <a:lstStyle/>
          <a:p>
            <a:pPr algn="ctr"/>
          </a:p>
        </p:txBody>
      </p:sp>
      <p:sp>
        <p:nvSpPr>
          <p:cNvPr id="40" name="TextBox 39"/>
          <p:cNvSpPr txBox="1"/>
          <p:nvPr/>
        </p:nvSpPr>
        <p:spPr>
          <a:xfrm>
            <a:off x="6477000" y="34925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IBM Heron QPU</a:t>
            </a:r>
          </a:p>
        </p:txBody>
      </p:sp>
      <p:sp>
        <p:nvSpPr>
          <p:cNvPr id="41" name="TextBox 40"/>
          <p:cNvSpPr txBox="1"/>
          <p:nvPr/>
        </p:nvSpPr>
        <p:spPr>
          <a:xfrm>
            <a:off x="6477000" y="37020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4,096 shots per subproblem</a:t>
            </a:r>
          </a:p>
        </p:txBody>
      </p:sp>
      <p:sp>
        <p:nvSpPr>
          <p:cNvPr id="42" name="Rectangle 41"/>
          <p:cNvSpPr/>
          <p:nvPr/>
        </p:nvSpPr>
        <p:spPr>
          <a:xfrm>
            <a:off x="6350000" y="4057650"/>
            <a:ext cx="2260600" cy="590550"/>
          </a:xfrm>
          <a:prstGeom prst="rect">
            <a:avLst/>
          </a:prstGeom>
          <a:solidFill>
            <a:srgbClr val="262522"/>
          </a:solidFill>
          <a:ln w="12700">
            <a:solidFill>
              <a:srgbClr val="E56A1F"/>
            </a:solidFill>
          </a:ln>
        </p:spPr>
        <p:txBody>
          <a:bodyPr rtlCol="0" anchor="ctr"/>
          <a:lstStyle/>
          <a:p>
            <a:pPr algn="ctr"/>
          </a:p>
        </p:txBody>
      </p:sp>
      <p:sp>
        <p:nvSpPr>
          <p:cNvPr id="43" name="TextBox 42"/>
          <p:cNvSpPr txBox="1"/>
          <p:nvPr/>
        </p:nvSpPr>
        <p:spPr>
          <a:xfrm>
            <a:off x="6477000" y="41592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Decoder</a:t>
            </a:r>
          </a:p>
        </p:txBody>
      </p:sp>
      <p:sp>
        <p:nvSpPr>
          <p:cNvPr id="44" name="TextBox 43"/>
          <p:cNvSpPr txBox="1"/>
          <p:nvPr/>
        </p:nvSpPr>
        <p:spPr>
          <a:xfrm>
            <a:off x="6477000" y="43688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feasibility check, repair</a:t>
            </a:r>
          </a:p>
        </p:txBody>
      </p:sp>
      <p:pic>
        <p:nvPicPr>
          <p:cNvPr id="45" name="Picture 44" descr="image.png"/>
          <p:cNvPicPr>
            <a:picLocks noChangeAspect="1"/>
          </p:cNvPicPr>
          <p:nvPr/>
        </p:nvPicPr>
        <p:blipFill>
          <a:blip r:embed="rId2"/>
          <a:stretch>
            <a:fillRect/>
          </a:stretch>
        </p:blipFill>
        <p:spPr>
          <a:xfrm>
            <a:off x="8686800" y="3381375"/>
            <a:ext cx="355600" cy="177800"/>
          </a:xfrm>
          <a:prstGeom prst="rect">
            <a:avLst/>
          </a:prstGeom>
        </p:spPr>
      </p:pic>
      <p:sp>
        <p:nvSpPr>
          <p:cNvPr id="46" name="TextBox 45"/>
          <p:cNvSpPr txBox="1"/>
          <p:nvPr/>
        </p:nvSpPr>
        <p:spPr>
          <a:xfrm>
            <a:off x="9118600" y="1809750"/>
            <a:ext cx="2577084"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04 · Delivery</a:t>
            </a:r>
          </a:p>
        </p:txBody>
      </p:sp>
      <p:sp>
        <p:nvSpPr>
          <p:cNvPr id="47" name="Rectangle 46"/>
          <p:cNvSpPr/>
          <p:nvPr/>
        </p:nvSpPr>
        <p:spPr>
          <a:xfrm>
            <a:off x="9118600" y="2057400"/>
            <a:ext cx="2260600" cy="590550"/>
          </a:xfrm>
          <a:prstGeom prst="rect">
            <a:avLst/>
          </a:prstGeom>
          <a:solidFill>
            <a:srgbClr val="262522"/>
          </a:solidFill>
          <a:ln w="12700">
            <a:solidFill>
              <a:srgbClr val="3A3834"/>
            </a:solidFill>
          </a:ln>
        </p:spPr>
        <p:txBody>
          <a:bodyPr rtlCol="0" anchor="ctr"/>
          <a:lstStyle/>
          <a:p>
            <a:pPr algn="ctr"/>
          </a:p>
        </p:txBody>
      </p:sp>
      <p:sp>
        <p:nvSpPr>
          <p:cNvPr id="48" name="TextBox 47"/>
          <p:cNvSpPr txBox="1"/>
          <p:nvPr/>
        </p:nvSpPr>
        <p:spPr>
          <a:xfrm>
            <a:off x="9245600" y="21590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Plan store</a:t>
            </a:r>
          </a:p>
        </p:txBody>
      </p:sp>
      <p:sp>
        <p:nvSpPr>
          <p:cNvPr id="49" name="TextBox 48"/>
          <p:cNvSpPr txBox="1"/>
          <p:nvPr/>
        </p:nvSpPr>
        <p:spPr>
          <a:xfrm>
            <a:off x="9245600" y="23685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PostGIS, versioned plans</a:t>
            </a:r>
          </a:p>
        </p:txBody>
      </p:sp>
      <p:sp>
        <p:nvSpPr>
          <p:cNvPr id="50" name="Rectangle 49"/>
          <p:cNvSpPr/>
          <p:nvPr/>
        </p:nvSpPr>
        <p:spPr>
          <a:xfrm>
            <a:off x="9118600" y="2724150"/>
            <a:ext cx="2260600" cy="590550"/>
          </a:xfrm>
          <a:prstGeom prst="rect">
            <a:avLst/>
          </a:prstGeom>
          <a:solidFill>
            <a:srgbClr val="262522"/>
          </a:solidFill>
          <a:ln w="12700">
            <a:solidFill>
              <a:srgbClr val="3A3834"/>
            </a:solidFill>
          </a:ln>
        </p:spPr>
        <p:txBody>
          <a:bodyPr rtlCol="0" anchor="ctr"/>
          <a:lstStyle/>
          <a:p>
            <a:pPr algn="ctr"/>
          </a:p>
        </p:txBody>
      </p:sp>
      <p:sp>
        <p:nvSpPr>
          <p:cNvPr id="51" name="TextBox 50"/>
          <p:cNvSpPr txBox="1"/>
          <p:nvPr/>
        </p:nvSpPr>
        <p:spPr>
          <a:xfrm>
            <a:off x="9245600" y="28257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Operator console</a:t>
            </a:r>
          </a:p>
        </p:txBody>
      </p:sp>
      <p:sp>
        <p:nvSpPr>
          <p:cNvPr id="52" name="TextBox 51"/>
          <p:cNvSpPr txBox="1"/>
          <p:nvPr/>
        </p:nvSpPr>
        <p:spPr>
          <a:xfrm>
            <a:off x="9245600" y="30353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map, diff vs last plan</a:t>
            </a:r>
          </a:p>
        </p:txBody>
      </p:sp>
      <p:sp>
        <p:nvSpPr>
          <p:cNvPr id="53" name="Rectangle 52"/>
          <p:cNvSpPr/>
          <p:nvPr/>
        </p:nvSpPr>
        <p:spPr>
          <a:xfrm>
            <a:off x="9118600" y="3390900"/>
            <a:ext cx="2260600" cy="590550"/>
          </a:xfrm>
          <a:prstGeom prst="rect">
            <a:avLst/>
          </a:prstGeom>
          <a:solidFill>
            <a:srgbClr val="262522"/>
          </a:solidFill>
          <a:ln w="12700">
            <a:solidFill>
              <a:srgbClr val="3A3834"/>
            </a:solidFill>
          </a:ln>
        </p:spPr>
        <p:txBody>
          <a:bodyPr rtlCol="0" anchor="ctr"/>
          <a:lstStyle/>
          <a:p>
            <a:pPr algn="ctr"/>
          </a:p>
        </p:txBody>
      </p:sp>
      <p:sp>
        <p:nvSpPr>
          <p:cNvPr id="54" name="TextBox 53"/>
          <p:cNvSpPr txBox="1"/>
          <p:nvPr/>
        </p:nvSpPr>
        <p:spPr>
          <a:xfrm>
            <a:off x="9245600" y="349250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Field dispatch</a:t>
            </a:r>
          </a:p>
        </p:txBody>
      </p:sp>
      <p:sp>
        <p:nvSpPr>
          <p:cNvPr id="55" name="TextBox 54"/>
          <p:cNvSpPr txBox="1"/>
          <p:nvPr/>
        </p:nvSpPr>
        <p:spPr>
          <a:xfrm>
            <a:off x="9245600" y="370205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SMS / API to teams</a:t>
            </a:r>
          </a:p>
        </p:txBody>
      </p:sp>
      <p:sp>
        <p:nvSpPr>
          <p:cNvPr id="56" name="Rectangle 55"/>
          <p:cNvSpPr/>
          <p:nvPr/>
        </p:nvSpPr>
        <p:spPr>
          <a:xfrm>
            <a:off x="9118600" y="4057650"/>
            <a:ext cx="2260600" cy="590550"/>
          </a:xfrm>
          <a:prstGeom prst="rect">
            <a:avLst/>
          </a:prstGeom>
          <a:solidFill>
            <a:srgbClr val="262522"/>
          </a:solidFill>
          <a:ln w="12700">
            <a:solidFill>
              <a:srgbClr val="3A3834"/>
            </a:solidFill>
          </a:ln>
        </p:spPr>
        <p:txBody>
          <a:bodyPr rtlCol="0" anchor="ctr"/>
          <a:lstStyle/>
          <a:p>
            <a:pPr algn="ctr"/>
          </a:p>
        </p:txBody>
      </p:sp>
      <p:sp>
        <p:nvSpPr>
          <p:cNvPr id="57" name="TextBox 56"/>
          <p:cNvSpPr txBox="1"/>
          <p:nvPr/>
        </p:nvSpPr>
        <p:spPr>
          <a:xfrm>
            <a:off x="9245600" y="4159250"/>
            <a:ext cx="2287524"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Audit log</a:t>
            </a:r>
          </a:p>
        </p:txBody>
      </p:sp>
      <p:sp>
        <p:nvSpPr>
          <p:cNvPr id="58" name="TextBox 57"/>
          <p:cNvSpPr txBox="1"/>
          <p:nvPr/>
        </p:nvSpPr>
        <p:spPr>
          <a:xfrm>
            <a:off x="9245600" y="4368800"/>
            <a:ext cx="228752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IBM job IDs, metrics</a:t>
            </a:r>
          </a:p>
        </p:txBody>
      </p:sp>
      <p:sp>
        <p:nvSpPr>
          <p:cNvPr id="59" name="TextBox 58"/>
          <p:cNvSpPr txBox="1"/>
          <p:nvPr/>
        </p:nvSpPr>
        <p:spPr>
          <a:xfrm>
            <a:off x="812800" y="5130800"/>
            <a:ext cx="5284724" cy="462161"/>
          </a:xfrm>
          <a:prstGeom prst="rect">
            <a:avLst/>
          </a:prstGeom>
          <a:noFill/>
        </p:spPr>
        <p:txBody>
          <a:bodyPr wrap="square" tIns="0" rIns="0" bIns="0" lIns="0" anchor="t">
            <a:noAutofit/>
          </a:bodyPr>
          <a:lstStyle/>
          <a:p>
            <a:pPr algn="l">
              <a:lnSpc>
                <a:spcPts val="1820"/>
              </a:lnSpc>
            </a:pPr>
            <a:r>
              <a:rPr sz="1300" b="1">
                <a:solidFill>
                  <a:srgbClr val="E56A1F"/>
                </a:solidFill>
                <a:latin typeface="IBM Plex Sans"/>
              </a:rPr>
              <a:t>Fallback:</a:t>
            </a:r>
            <a:r>
              <a:rPr sz="1300" b="0">
                <a:solidFill>
                  <a:srgbClr val="A9A59C"/>
                </a:solidFill>
                <a:latin typeface="IBM Plex Sans"/>
              </a:rPr>
              <a:t> if the QPU queue exceeds the response window or no feasible sample returns, the baseline plan ships.</a:t>
            </a:r>
          </a:p>
        </p:txBody>
      </p:sp>
      <p:sp>
        <p:nvSpPr>
          <p:cNvPr id="60" name="TextBox 59"/>
          <p:cNvSpPr txBox="1"/>
          <p:nvPr/>
        </p:nvSpPr>
        <p:spPr>
          <a:xfrm>
            <a:off x="6248400" y="5130800"/>
            <a:ext cx="5284724" cy="462161"/>
          </a:xfrm>
          <a:prstGeom prst="rect">
            <a:avLst/>
          </a:prstGeom>
          <a:noFill/>
        </p:spPr>
        <p:txBody>
          <a:bodyPr wrap="square" tIns="0" rIns="0" bIns="0" lIns="0" anchor="t">
            <a:noAutofit/>
          </a:bodyPr>
          <a:lstStyle/>
          <a:p>
            <a:pPr algn="l">
              <a:lnSpc>
                <a:spcPts val="1820"/>
              </a:lnSpc>
            </a:pPr>
            <a:r>
              <a:rPr sz="1300" b="1">
                <a:solidFill>
                  <a:srgbClr val="E56A1F"/>
                </a:solidFill>
                <a:latin typeface="IBM Plex Sans"/>
              </a:rPr>
              <a:t>Audit:</a:t>
            </a:r>
            <a:r>
              <a:rPr sz="1300" b="0">
                <a:solidFill>
                  <a:srgbClr val="A9A59C"/>
                </a:solidFill>
                <a:latin typeface="IBM Plex Sans"/>
              </a:rPr>
              <a:t> every plan is stored with its inputs, QUBO, IBM job ID and hardware metrics.</a:t>
            </a:r>
          </a:p>
        </p:txBody>
      </p:sp>
      <p:sp>
        <p:nvSpPr>
          <p:cNvPr id="61" name="TextBox 60"/>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62" name="TextBox 61"/>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05 · Method</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One pipeline from risk map to deployed plan</a:t>
            </a:r>
          </a:p>
        </p:txBody>
      </p:sp>
      <p:sp>
        <p:nvSpPr>
          <p:cNvPr id="4" name="Rectangle 3"/>
          <p:cNvSpPr/>
          <p:nvPr/>
        </p:nvSpPr>
        <p:spPr>
          <a:xfrm>
            <a:off x="3784600" y="1809750"/>
            <a:ext cx="4597400" cy="2095500"/>
          </a:xfrm>
          <a:prstGeom prst="rect">
            <a:avLst/>
          </a:prstGeom>
          <a:noFill/>
          <a:ln w="6350">
            <a:solidFill>
              <a:srgbClr val="E56A1F"/>
            </a:solidFill>
            <a:prstDash val="dash"/>
          </a:ln>
        </p:spPr>
        <p:txBody>
          <a:bodyPr rtlCol="0" anchor="ctr"/>
          <a:lstStyle/>
          <a:p>
            <a:pPr algn="ctr"/>
          </a:p>
        </p:txBody>
      </p:sp>
      <p:sp>
        <p:nvSpPr>
          <p:cNvPr id="5" name="TextBox 4"/>
          <p:cNvSpPr txBox="1"/>
          <p:nvPr/>
        </p:nvSpPr>
        <p:spPr>
          <a:xfrm>
            <a:off x="3886200" y="1860550"/>
            <a:ext cx="434340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Quantum stages</a:t>
            </a:r>
          </a:p>
        </p:txBody>
      </p:sp>
      <p:pic>
        <p:nvPicPr>
          <p:cNvPr id="6" name="Picture 5" descr="image.png"/>
          <p:cNvPicPr>
            <a:picLocks noChangeAspect="1"/>
          </p:cNvPicPr>
          <p:nvPr/>
        </p:nvPicPr>
        <p:blipFill>
          <a:blip r:embed="rId2"/>
          <a:stretch>
            <a:fillRect/>
          </a:stretch>
        </p:blipFill>
        <p:spPr>
          <a:xfrm>
            <a:off x="812800" y="2190750"/>
            <a:ext cx="10566400" cy="1587500"/>
          </a:xfrm>
          <a:prstGeom prst="rect">
            <a:avLst/>
          </a:prstGeom>
        </p:spPr>
      </p:pic>
      <p:sp>
        <p:nvSpPr>
          <p:cNvPr id="7" name="Rectangle 6"/>
          <p:cNvSpPr/>
          <p:nvPr/>
        </p:nvSpPr>
        <p:spPr>
          <a:xfrm>
            <a:off x="812800" y="2190750"/>
            <a:ext cx="1320800" cy="1587500"/>
          </a:xfrm>
          <a:prstGeom prst="rect">
            <a:avLst/>
          </a:prstGeom>
          <a:solidFill>
            <a:srgbClr val="262522"/>
          </a:solidFill>
          <a:ln w="12700">
            <a:solidFill>
              <a:srgbClr val="3A3834"/>
            </a:solidFill>
          </a:ln>
        </p:spPr>
        <p:txBody>
          <a:bodyPr rtlCol="0" anchor="ctr"/>
          <a:lstStyle/>
          <a:p>
            <a:pPr algn="ctr"/>
          </a:p>
        </p:txBody>
      </p:sp>
      <p:sp>
        <p:nvSpPr>
          <p:cNvPr id="8" name="TextBox 7"/>
          <p:cNvSpPr txBox="1"/>
          <p:nvPr/>
        </p:nvSpPr>
        <p:spPr>
          <a:xfrm>
            <a:off x="927100" y="2317750"/>
            <a:ext cx="12451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01</a:t>
            </a:r>
          </a:p>
        </p:txBody>
      </p:sp>
      <p:sp>
        <p:nvSpPr>
          <p:cNvPr id="9" name="TextBox 8"/>
          <p:cNvSpPr txBox="1"/>
          <p:nvPr/>
        </p:nvSpPr>
        <p:spPr>
          <a:xfrm>
            <a:off x="9271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Disaster map</a:t>
            </a:r>
          </a:p>
        </p:txBody>
      </p:sp>
      <p:sp>
        <p:nvSpPr>
          <p:cNvPr id="10" name="TextBox 9"/>
          <p:cNvSpPr txBox="1"/>
          <p:nvPr/>
        </p:nvSpPr>
        <p:spPr>
          <a:xfrm>
            <a:off x="927100" y="2806005"/>
            <a:ext cx="1124966"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IMD · SRTM · OSM</a:t>
            </a:r>
          </a:p>
        </p:txBody>
      </p:sp>
      <p:sp>
        <p:nvSpPr>
          <p:cNvPr id="11" name="Rectangle 10"/>
          <p:cNvSpPr/>
          <p:nvPr/>
        </p:nvSpPr>
        <p:spPr>
          <a:xfrm>
            <a:off x="2349500" y="2190750"/>
            <a:ext cx="1320800" cy="1587500"/>
          </a:xfrm>
          <a:prstGeom prst="rect">
            <a:avLst/>
          </a:prstGeom>
          <a:solidFill>
            <a:srgbClr val="262522"/>
          </a:solidFill>
          <a:ln w="12700">
            <a:solidFill>
              <a:srgbClr val="3A3834"/>
            </a:solidFill>
          </a:ln>
        </p:spPr>
        <p:txBody>
          <a:bodyPr rtlCol="0" anchor="ctr"/>
          <a:lstStyle/>
          <a:p>
            <a:pPr algn="ctr"/>
          </a:p>
        </p:txBody>
      </p:sp>
      <p:sp>
        <p:nvSpPr>
          <p:cNvPr id="12" name="TextBox 11"/>
          <p:cNvSpPr txBox="1"/>
          <p:nvPr/>
        </p:nvSpPr>
        <p:spPr>
          <a:xfrm>
            <a:off x="2463800" y="2317750"/>
            <a:ext cx="12451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02</a:t>
            </a:r>
          </a:p>
        </p:txBody>
      </p:sp>
      <p:sp>
        <p:nvSpPr>
          <p:cNvPr id="13" name="TextBox 12"/>
          <p:cNvSpPr txBox="1"/>
          <p:nvPr/>
        </p:nvSpPr>
        <p:spPr>
          <a:xfrm>
            <a:off x="24638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Risk model</a:t>
            </a:r>
          </a:p>
        </p:txBody>
      </p:sp>
      <p:sp>
        <p:nvSpPr>
          <p:cNvPr id="14" name="TextBox 13"/>
          <p:cNvSpPr txBox="1"/>
          <p:nvPr/>
        </p:nvSpPr>
        <p:spPr>
          <a:xfrm>
            <a:off x="2463800" y="2806005"/>
            <a:ext cx="1124966"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XGBoost classifier</a:t>
            </a:r>
          </a:p>
        </p:txBody>
      </p:sp>
      <p:sp>
        <p:nvSpPr>
          <p:cNvPr id="15" name="Rectangle 14"/>
          <p:cNvSpPr/>
          <p:nvPr/>
        </p:nvSpPr>
        <p:spPr>
          <a:xfrm>
            <a:off x="3886200" y="2190750"/>
            <a:ext cx="1320800" cy="1587500"/>
          </a:xfrm>
          <a:prstGeom prst="rect">
            <a:avLst/>
          </a:prstGeom>
          <a:solidFill>
            <a:srgbClr val="3A2616"/>
          </a:solidFill>
          <a:ln w="12700">
            <a:solidFill>
              <a:srgbClr val="E56A1F"/>
            </a:solidFill>
          </a:ln>
        </p:spPr>
        <p:txBody>
          <a:bodyPr rtlCol="0" anchor="ctr"/>
          <a:lstStyle/>
          <a:p>
            <a:pPr algn="ctr"/>
          </a:p>
        </p:txBody>
      </p:sp>
      <p:sp>
        <p:nvSpPr>
          <p:cNvPr id="16" name="TextBox 15"/>
          <p:cNvSpPr txBox="1"/>
          <p:nvPr/>
        </p:nvSpPr>
        <p:spPr>
          <a:xfrm>
            <a:off x="4000500" y="2317750"/>
            <a:ext cx="1245108"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03</a:t>
            </a:r>
          </a:p>
        </p:txBody>
      </p:sp>
      <p:sp>
        <p:nvSpPr>
          <p:cNvPr id="17" name="TextBox 16"/>
          <p:cNvSpPr txBox="1"/>
          <p:nvPr/>
        </p:nvSpPr>
        <p:spPr>
          <a:xfrm>
            <a:off x="40005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QUBO</a:t>
            </a:r>
          </a:p>
        </p:txBody>
      </p:sp>
      <p:sp>
        <p:nvSpPr>
          <p:cNvPr id="18" name="TextBox 17"/>
          <p:cNvSpPr txBox="1"/>
          <p:nvPr/>
        </p:nvSpPr>
        <p:spPr>
          <a:xfrm>
            <a:off x="4000500" y="2806005"/>
            <a:ext cx="1124966"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Qiskit, Ising form</a:t>
            </a:r>
          </a:p>
        </p:txBody>
      </p:sp>
      <p:sp>
        <p:nvSpPr>
          <p:cNvPr id="19" name="Rectangle 18"/>
          <p:cNvSpPr/>
          <p:nvPr/>
        </p:nvSpPr>
        <p:spPr>
          <a:xfrm>
            <a:off x="5422900" y="2190750"/>
            <a:ext cx="1320800" cy="1587500"/>
          </a:xfrm>
          <a:prstGeom prst="rect">
            <a:avLst/>
          </a:prstGeom>
          <a:solidFill>
            <a:srgbClr val="3A2616"/>
          </a:solidFill>
          <a:ln w="12700">
            <a:solidFill>
              <a:srgbClr val="E56A1F"/>
            </a:solidFill>
          </a:ln>
        </p:spPr>
        <p:txBody>
          <a:bodyPr rtlCol="0" anchor="ctr"/>
          <a:lstStyle/>
          <a:p>
            <a:pPr algn="ctr"/>
          </a:p>
        </p:txBody>
      </p:sp>
      <p:sp>
        <p:nvSpPr>
          <p:cNvPr id="20" name="TextBox 19"/>
          <p:cNvSpPr txBox="1"/>
          <p:nvPr/>
        </p:nvSpPr>
        <p:spPr>
          <a:xfrm>
            <a:off x="5537200" y="2317750"/>
            <a:ext cx="1245108"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04</a:t>
            </a:r>
          </a:p>
        </p:txBody>
      </p:sp>
      <p:sp>
        <p:nvSpPr>
          <p:cNvPr id="21" name="TextBox 20"/>
          <p:cNvSpPr txBox="1"/>
          <p:nvPr/>
        </p:nvSpPr>
        <p:spPr>
          <a:xfrm>
            <a:off x="55372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QAOA circuit</a:t>
            </a:r>
          </a:p>
        </p:txBody>
      </p:sp>
      <p:sp>
        <p:nvSpPr>
          <p:cNvPr id="22" name="TextBox 21"/>
          <p:cNvSpPr txBox="1"/>
          <p:nvPr/>
        </p:nvSpPr>
        <p:spPr>
          <a:xfrm>
            <a:off x="5537200" y="2806005"/>
            <a:ext cx="1245108"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Qiskit, p = 1–2</a:t>
            </a:r>
          </a:p>
        </p:txBody>
      </p:sp>
      <p:sp>
        <p:nvSpPr>
          <p:cNvPr id="23" name="Rectangle 22"/>
          <p:cNvSpPr/>
          <p:nvPr/>
        </p:nvSpPr>
        <p:spPr>
          <a:xfrm>
            <a:off x="6959600" y="2190750"/>
            <a:ext cx="1320800" cy="1587500"/>
          </a:xfrm>
          <a:prstGeom prst="rect">
            <a:avLst/>
          </a:prstGeom>
          <a:solidFill>
            <a:srgbClr val="3A2616"/>
          </a:solidFill>
          <a:ln w="12700">
            <a:solidFill>
              <a:srgbClr val="E56A1F"/>
            </a:solidFill>
          </a:ln>
        </p:spPr>
        <p:txBody>
          <a:bodyPr rtlCol="0" anchor="ctr"/>
          <a:lstStyle/>
          <a:p>
            <a:pPr algn="ctr"/>
          </a:p>
        </p:txBody>
      </p:sp>
      <p:sp>
        <p:nvSpPr>
          <p:cNvPr id="24" name="TextBox 23"/>
          <p:cNvSpPr txBox="1"/>
          <p:nvPr/>
        </p:nvSpPr>
        <p:spPr>
          <a:xfrm>
            <a:off x="7073900" y="2317750"/>
            <a:ext cx="1245108"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05</a:t>
            </a:r>
          </a:p>
        </p:txBody>
      </p:sp>
      <p:sp>
        <p:nvSpPr>
          <p:cNvPr id="25" name="TextBox 24"/>
          <p:cNvSpPr txBox="1"/>
          <p:nvPr/>
        </p:nvSpPr>
        <p:spPr>
          <a:xfrm>
            <a:off x="70739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IBM QPU</a:t>
            </a:r>
          </a:p>
        </p:txBody>
      </p:sp>
      <p:sp>
        <p:nvSpPr>
          <p:cNvPr id="26" name="TextBox 25"/>
          <p:cNvSpPr txBox="1"/>
          <p:nvPr/>
        </p:nvSpPr>
        <p:spPr>
          <a:xfrm>
            <a:off x="7073900" y="2806005"/>
            <a:ext cx="1124966"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Heron · Runtime</a:t>
            </a:r>
          </a:p>
        </p:txBody>
      </p:sp>
      <p:sp>
        <p:nvSpPr>
          <p:cNvPr id="27" name="Rectangle 26"/>
          <p:cNvSpPr/>
          <p:nvPr/>
        </p:nvSpPr>
        <p:spPr>
          <a:xfrm>
            <a:off x="8496300" y="2190750"/>
            <a:ext cx="1320800" cy="1587500"/>
          </a:xfrm>
          <a:prstGeom prst="rect">
            <a:avLst/>
          </a:prstGeom>
          <a:solidFill>
            <a:srgbClr val="262522"/>
          </a:solidFill>
          <a:ln w="12700">
            <a:solidFill>
              <a:srgbClr val="3A3834"/>
            </a:solidFill>
          </a:ln>
        </p:spPr>
        <p:txBody>
          <a:bodyPr rtlCol="0" anchor="ctr"/>
          <a:lstStyle/>
          <a:p>
            <a:pPr algn="ctr"/>
          </a:p>
        </p:txBody>
      </p:sp>
      <p:sp>
        <p:nvSpPr>
          <p:cNvPr id="28" name="TextBox 27"/>
          <p:cNvSpPr txBox="1"/>
          <p:nvPr/>
        </p:nvSpPr>
        <p:spPr>
          <a:xfrm>
            <a:off x="8610600" y="2317750"/>
            <a:ext cx="12451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06</a:t>
            </a:r>
          </a:p>
        </p:txBody>
      </p:sp>
      <p:sp>
        <p:nvSpPr>
          <p:cNvPr id="29" name="TextBox 28"/>
          <p:cNvSpPr txBox="1"/>
          <p:nvPr/>
        </p:nvSpPr>
        <p:spPr>
          <a:xfrm>
            <a:off x="86106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Placement</a:t>
            </a:r>
          </a:p>
        </p:txBody>
      </p:sp>
      <p:sp>
        <p:nvSpPr>
          <p:cNvPr id="30" name="TextBox 29"/>
          <p:cNvSpPr txBox="1"/>
          <p:nvPr/>
        </p:nvSpPr>
        <p:spPr>
          <a:xfrm>
            <a:off x="8610600" y="2806005"/>
            <a:ext cx="1124966"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Decoded bitstring</a:t>
            </a:r>
          </a:p>
        </p:txBody>
      </p:sp>
      <p:sp>
        <p:nvSpPr>
          <p:cNvPr id="31" name="Rectangle 30"/>
          <p:cNvSpPr/>
          <p:nvPr/>
        </p:nvSpPr>
        <p:spPr>
          <a:xfrm>
            <a:off x="10033000" y="2190750"/>
            <a:ext cx="1320800" cy="1587500"/>
          </a:xfrm>
          <a:prstGeom prst="rect">
            <a:avLst/>
          </a:prstGeom>
          <a:solidFill>
            <a:srgbClr val="262522"/>
          </a:solidFill>
          <a:ln w="12700">
            <a:solidFill>
              <a:srgbClr val="3A3834"/>
            </a:solidFill>
          </a:ln>
        </p:spPr>
        <p:txBody>
          <a:bodyPr rtlCol="0" anchor="ctr"/>
          <a:lstStyle/>
          <a:p>
            <a:pPr algn="ctr"/>
          </a:p>
        </p:txBody>
      </p:sp>
      <p:sp>
        <p:nvSpPr>
          <p:cNvPr id="32" name="TextBox 31"/>
          <p:cNvSpPr txBox="1"/>
          <p:nvPr/>
        </p:nvSpPr>
        <p:spPr>
          <a:xfrm>
            <a:off x="10147300" y="2317750"/>
            <a:ext cx="12451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07</a:t>
            </a:r>
          </a:p>
        </p:txBody>
      </p:sp>
      <p:sp>
        <p:nvSpPr>
          <p:cNvPr id="33" name="TextBox 32"/>
          <p:cNvSpPr txBox="1"/>
          <p:nvPr/>
        </p:nvSpPr>
        <p:spPr>
          <a:xfrm>
            <a:off x="10147300" y="2552700"/>
            <a:ext cx="1245108" cy="189805"/>
          </a:xfrm>
          <a:prstGeom prst="rect">
            <a:avLst/>
          </a:prstGeom>
          <a:noFill/>
        </p:spPr>
        <p:txBody>
          <a:bodyPr wrap="none" tIns="0" rIns="0" bIns="0" lIns="0" anchor="t">
            <a:noAutofit/>
          </a:bodyPr>
          <a:lstStyle/>
          <a:p>
            <a:pPr algn="l">
              <a:lnSpc>
                <a:spcPts val="1495"/>
              </a:lnSpc>
            </a:pPr>
            <a:r>
              <a:rPr sz="1300" b="1">
                <a:solidFill>
                  <a:srgbClr val="F5F2EA"/>
                </a:solidFill>
                <a:latin typeface="IBM Plex Sans"/>
              </a:rPr>
              <a:t>Adaptation</a:t>
            </a:r>
          </a:p>
        </p:txBody>
      </p:sp>
      <p:sp>
        <p:nvSpPr>
          <p:cNvPr id="34" name="TextBox 33"/>
          <p:cNvSpPr txBox="1"/>
          <p:nvPr/>
        </p:nvSpPr>
        <p:spPr>
          <a:xfrm>
            <a:off x="10147300" y="2806005"/>
            <a:ext cx="1245108"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Event trigger</a:t>
            </a:r>
          </a:p>
        </p:txBody>
      </p:sp>
      <p:pic>
        <p:nvPicPr>
          <p:cNvPr id="35" name="Picture 34" descr="image.png"/>
          <p:cNvPicPr>
            <a:picLocks noChangeAspect="1"/>
          </p:cNvPicPr>
          <p:nvPr/>
        </p:nvPicPr>
        <p:blipFill>
          <a:blip r:embed="rId3"/>
          <a:stretch>
            <a:fillRect/>
          </a:stretch>
        </p:blipFill>
        <p:spPr>
          <a:xfrm>
            <a:off x="812800" y="3778250"/>
            <a:ext cx="10566400" cy="508000"/>
          </a:xfrm>
          <a:prstGeom prst="rect">
            <a:avLst/>
          </a:prstGeom>
        </p:spPr>
      </p:pic>
      <p:sp>
        <p:nvSpPr>
          <p:cNvPr id="36" name="TextBox 35"/>
          <p:cNvSpPr txBox="1"/>
          <p:nvPr/>
        </p:nvSpPr>
        <p:spPr>
          <a:xfrm>
            <a:off x="3136900" y="4184650"/>
            <a:ext cx="868680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Re-run when rainfall, river level or road status crosses a threshold</a:t>
            </a:r>
          </a:p>
        </p:txBody>
      </p:sp>
      <p:sp>
        <p:nvSpPr>
          <p:cNvPr id="37" name="TextBox 36"/>
          <p:cNvSpPr txBox="1"/>
          <p:nvPr/>
        </p:nvSpPr>
        <p:spPr>
          <a:xfrm>
            <a:off x="812800" y="4845050"/>
            <a:ext cx="9156700" cy="568920"/>
          </a:xfrm>
          <a:prstGeom prst="rect">
            <a:avLst/>
          </a:prstGeom>
          <a:noFill/>
        </p:spPr>
        <p:txBody>
          <a:bodyPr wrap="square" tIns="0" rIns="0" bIns="0" lIns="0" anchor="t">
            <a:noAutofit/>
          </a:bodyPr>
          <a:lstStyle/>
          <a:p>
            <a:pPr algn="l">
              <a:lnSpc>
                <a:spcPts val="2240"/>
              </a:lnSpc>
            </a:pPr>
            <a:r>
              <a:rPr sz="1600" b="0">
                <a:solidFill>
                  <a:srgbClr val="F5F2EA"/>
                </a:solidFill>
                <a:latin typeface="IBM Plex Sans"/>
              </a:rPr>
              <a:t>Classical where classical is strong: forecasting. Quantum where the problem is combinatorial: choosing sites.</a:t>
            </a:r>
          </a:p>
        </p:txBody>
      </p:sp>
      <p:sp>
        <p:nvSpPr>
          <p:cNvPr id="38" name="TextBox 37"/>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39" name="TextBox 38"/>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06 · Stage 1 — classical ML</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A risk score for every grid cell</a:t>
            </a:r>
          </a:p>
        </p:txBody>
      </p:sp>
      <p:sp>
        <p:nvSpPr>
          <p:cNvPr id="4" name="TextBox 3"/>
          <p:cNvSpPr txBox="1"/>
          <p:nvPr/>
        </p:nvSpPr>
        <p:spPr>
          <a:xfrm>
            <a:off x="812800" y="1809750"/>
            <a:ext cx="4866132" cy="2514600"/>
          </a:xfrm>
          <a:prstGeom prst="rect">
            <a:avLst/>
          </a:prstGeom>
          <a:noFill/>
        </p:spPr>
        <p:txBody>
          <a:bodyPr wrap="square" tIns="0" bIns="0" lIns="0" rIns="0">
            <a:noAutofit/>
          </a:bodyPr>
          <a:lstStyle/>
          <a:p>
            <a:pPr marL="188595" indent="-188595">
              <a:lnSpc>
                <a:spcPts val="2025"/>
              </a:lnSpc>
              <a:buChar char="•"/>
            </a:pPr>
            <a:r>
              <a:rPr sz="1500" b="1">
                <a:solidFill>
                  <a:srgbClr val="F5F2EA"/>
                </a:solidFill>
                <a:latin typeface="IBM Plex Sans"/>
              </a:rPr>
              <a:t>Features:</a:t>
            </a:r>
            <a:r>
              <a:rPr sz="1500" b="0">
                <a:solidFill>
                  <a:srgbClr val="A9A59C"/>
                </a:solidFill>
                <a:latin typeface="IBM Plex Sans"/>
              </a:rPr>
              <a:t> IMD gridded rainfall, SRTM elevation, river distance, land use</a:t>
            </a:r>
          </a:p>
          <a:p>
            <a:pPr marL="188595" indent="-188595">
              <a:lnSpc>
                <a:spcPts val="2025"/>
              </a:lnSpc>
              <a:spcBef>
                <a:spcPts val="1200"/>
              </a:spcBef>
              <a:buChar char="•"/>
            </a:pPr>
            <a:r>
              <a:rPr sz="1500" b="1">
                <a:solidFill>
                  <a:srgbClr val="F5F2EA"/>
                </a:solidFill>
                <a:latin typeface="IBM Plex Sans"/>
              </a:rPr>
              <a:t>Labels:</a:t>
            </a:r>
            <a:r>
              <a:rPr sz="1500" b="0">
                <a:solidFill>
                  <a:srgbClr val="A9A59C"/>
                </a:solidFill>
                <a:latin typeface="IBM Plex Sans"/>
              </a:rPr>
              <a:t> Sentinel-1 SAR flood extents from past events, incl. Sept 2024</a:t>
            </a:r>
          </a:p>
          <a:p>
            <a:pPr marL="188595" indent="-188595">
              <a:lnSpc>
                <a:spcPts val="2025"/>
              </a:lnSpc>
              <a:spcBef>
                <a:spcPts val="1200"/>
              </a:spcBef>
              <a:buChar char="•"/>
            </a:pPr>
            <a:r>
              <a:rPr sz="1500" b="1">
                <a:solidFill>
                  <a:srgbClr val="F5F2EA"/>
                </a:solidFill>
                <a:latin typeface="IBM Plex Sans"/>
              </a:rPr>
              <a:t>Model:</a:t>
            </a:r>
            <a:r>
              <a:rPr sz="1500" b="0">
                <a:solidFill>
                  <a:srgbClr val="A9A59C"/>
                </a:solidFill>
                <a:latin typeface="IBM Plex Sans"/>
              </a:rPr>
              <a:t> gradient-boosted trees (XGBoost), 1 km cells, spatial cross-validation</a:t>
            </a:r>
          </a:p>
          <a:p>
            <a:pPr marL="188595" indent="-188595">
              <a:lnSpc>
                <a:spcPts val="2025"/>
              </a:lnSpc>
              <a:spcBef>
                <a:spcPts val="1200"/>
              </a:spcBef>
              <a:buChar char="•"/>
            </a:pPr>
            <a:r>
              <a:rPr sz="1500" b="1">
                <a:solidFill>
                  <a:srgbClr val="F5F2EA"/>
                </a:solidFill>
                <a:latin typeface="IBM Plex Sans"/>
              </a:rPr>
              <a:t>Output:</a:t>
            </a:r>
            <a:r>
              <a:rPr sz="1500" b="0">
                <a:solidFill>
                  <a:srgbClr val="A9A59C"/>
                </a:solidFill>
                <a:latin typeface="IBM Plex Sans"/>
              </a:rPr>
              <a:t> risk × exposure = weight w_i for each candidate site</a:t>
            </a:r>
          </a:p>
        </p:txBody>
      </p:sp>
      <p:sp>
        <p:nvSpPr>
          <p:cNvPr id="5" name="Rectangle 4"/>
          <p:cNvSpPr/>
          <p:nvPr/>
        </p:nvSpPr>
        <p:spPr>
          <a:xfrm>
            <a:off x="812800" y="4552950"/>
            <a:ext cx="177800" cy="177800"/>
          </a:xfrm>
          <a:prstGeom prst="rect">
            <a:avLst/>
          </a:prstGeom>
          <a:solidFill>
            <a:srgbClr val="F1DDC6"/>
          </a:solidFill>
          <a:ln>
            <a:noFill/>
          </a:ln>
        </p:spPr>
        <p:txBody>
          <a:bodyPr rtlCol="0" anchor="ctr"/>
          <a:lstStyle/>
          <a:p>
            <a:pPr algn="ctr"/>
          </a:p>
        </p:txBody>
      </p:sp>
      <p:sp>
        <p:nvSpPr>
          <p:cNvPr id="6" name="TextBox 5"/>
          <p:cNvSpPr txBox="1"/>
          <p:nvPr/>
        </p:nvSpPr>
        <p:spPr>
          <a:xfrm>
            <a:off x="1066800" y="4552950"/>
            <a:ext cx="318742"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Low</a:t>
            </a:r>
          </a:p>
        </p:txBody>
      </p:sp>
      <p:sp>
        <p:nvSpPr>
          <p:cNvPr id="7" name="Rectangle 6"/>
          <p:cNvSpPr/>
          <p:nvPr/>
        </p:nvSpPr>
        <p:spPr>
          <a:xfrm>
            <a:off x="1524198" y="4552950"/>
            <a:ext cx="177800" cy="177800"/>
          </a:xfrm>
          <a:prstGeom prst="rect">
            <a:avLst/>
          </a:prstGeom>
          <a:solidFill>
            <a:srgbClr val="EDB185"/>
          </a:solidFill>
          <a:ln>
            <a:noFill/>
          </a:ln>
        </p:spPr>
        <p:txBody>
          <a:bodyPr rtlCol="0" anchor="ctr"/>
          <a:lstStyle/>
          <a:p>
            <a:pPr algn="ctr"/>
          </a:p>
        </p:txBody>
      </p:sp>
      <p:sp>
        <p:nvSpPr>
          <p:cNvPr id="8" name="TextBox 7"/>
          <p:cNvSpPr txBox="1"/>
          <p:nvPr/>
        </p:nvSpPr>
        <p:spPr>
          <a:xfrm>
            <a:off x="1778198" y="4552950"/>
            <a:ext cx="733967"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Moderate</a:t>
            </a:r>
          </a:p>
        </p:txBody>
      </p:sp>
      <p:sp>
        <p:nvSpPr>
          <p:cNvPr id="9" name="Rectangle 8"/>
          <p:cNvSpPr/>
          <p:nvPr/>
        </p:nvSpPr>
        <p:spPr>
          <a:xfrm>
            <a:off x="2599829" y="4552950"/>
            <a:ext cx="177800" cy="177800"/>
          </a:xfrm>
          <a:prstGeom prst="rect">
            <a:avLst/>
          </a:prstGeom>
          <a:solidFill>
            <a:srgbClr val="E56A1F"/>
          </a:solidFill>
          <a:ln>
            <a:noFill/>
          </a:ln>
        </p:spPr>
        <p:txBody>
          <a:bodyPr rtlCol="0" anchor="ctr"/>
          <a:lstStyle/>
          <a:p>
            <a:pPr algn="ctr"/>
          </a:p>
        </p:txBody>
      </p:sp>
      <p:sp>
        <p:nvSpPr>
          <p:cNvPr id="10" name="TextBox 9"/>
          <p:cNvSpPr txBox="1"/>
          <p:nvPr/>
        </p:nvSpPr>
        <p:spPr>
          <a:xfrm>
            <a:off x="2853829" y="4552950"/>
            <a:ext cx="357313"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High</a:t>
            </a:r>
          </a:p>
        </p:txBody>
      </p:sp>
      <p:sp>
        <p:nvSpPr>
          <p:cNvPr id="11" name="Rectangle 10"/>
          <p:cNvSpPr/>
          <p:nvPr/>
        </p:nvSpPr>
        <p:spPr>
          <a:xfrm>
            <a:off x="3345061" y="4552950"/>
            <a:ext cx="177800" cy="177800"/>
          </a:xfrm>
          <a:prstGeom prst="rect">
            <a:avLst/>
          </a:prstGeom>
          <a:solidFill>
            <a:srgbClr val="C83A2A"/>
          </a:solidFill>
          <a:ln>
            <a:noFill/>
          </a:ln>
        </p:spPr>
        <p:txBody>
          <a:bodyPr rtlCol="0" anchor="ctr"/>
          <a:lstStyle/>
          <a:p>
            <a:pPr algn="ctr"/>
          </a:p>
        </p:txBody>
      </p:sp>
      <p:sp>
        <p:nvSpPr>
          <p:cNvPr id="12" name="TextBox 11"/>
          <p:cNvSpPr txBox="1"/>
          <p:nvPr/>
        </p:nvSpPr>
        <p:spPr>
          <a:xfrm>
            <a:off x="3599061" y="4552950"/>
            <a:ext cx="550503"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Severe</a:t>
            </a:r>
          </a:p>
        </p:txBody>
      </p:sp>
      <p:sp>
        <p:nvSpPr>
          <p:cNvPr id="13" name="TextBox 12"/>
          <p:cNvSpPr txBox="1"/>
          <p:nvPr/>
        </p:nvSpPr>
        <p:spPr>
          <a:xfrm>
            <a:off x="812800" y="4959350"/>
            <a:ext cx="4866132" cy="41136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Shown: the prototype risk layer (river-distance and low-lying-terrain features) used in the benchmark.</a:t>
            </a:r>
          </a:p>
        </p:txBody>
      </p:sp>
      <p:pic>
        <p:nvPicPr>
          <p:cNvPr id="14" name="Picture 13" descr="image.png"/>
          <p:cNvPicPr>
            <a:picLocks noChangeAspect="1"/>
          </p:cNvPicPr>
          <p:nvPr/>
        </p:nvPicPr>
        <p:blipFill>
          <a:blip r:embed="rId2"/>
          <a:stretch>
            <a:fillRect/>
          </a:stretch>
        </p:blipFill>
        <p:spPr>
          <a:xfrm>
            <a:off x="6045200" y="1809750"/>
            <a:ext cx="5334000" cy="4000500"/>
          </a:xfrm>
          <a:prstGeom prst="rect">
            <a:avLst/>
          </a:prstGeom>
        </p:spPr>
      </p:pic>
      <p:sp>
        <p:nvSpPr>
          <p:cNvPr id="15" name="TextBox 14"/>
          <p:cNvSpPr txBox="1"/>
          <p:nvPr/>
        </p:nvSpPr>
        <p:spPr>
          <a:xfrm>
            <a:off x="8432800" y="3327400"/>
            <a:ext cx="1447800" cy="182860"/>
          </a:xfrm>
          <a:prstGeom prst="rect">
            <a:avLst/>
          </a:prstGeom>
          <a:noFill/>
        </p:spPr>
        <p:txBody>
          <a:bodyPr wrap="none" tIns="0" rIns="0" bIns="0" lIns="0" anchor="t">
            <a:noAutofit/>
          </a:bodyPr>
          <a:lstStyle/>
          <a:p>
            <a:pPr algn="l">
              <a:lnSpc>
                <a:spcPts val="1440"/>
              </a:lnSpc>
            </a:pPr>
            <a:r>
              <a:rPr sz="1200" b="1">
                <a:solidFill>
                  <a:srgbClr val="171717"/>
                </a:solidFill>
                <a:latin typeface="IBM Plex Sans"/>
              </a:rPr>
              <a:t>Vijayawada</a:t>
            </a:r>
          </a:p>
        </p:txBody>
      </p:sp>
      <p:sp>
        <p:nvSpPr>
          <p:cNvPr id="16" name="TextBox 15"/>
          <p:cNvSpPr txBox="1"/>
          <p:nvPr/>
        </p:nvSpPr>
        <p:spPr>
          <a:xfrm>
            <a:off x="10109200" y="5410200"/>
            <a:ext cx="1447800" cy="182860"/>
          </a:xfrm>
          <a:prstGeom prst="rect">
            <a:avLst/>
          </a:prstGeom>
          <a:noFill/>
        </p:spPr>
        <p:txBody>
          <a:bodyPr wrap="none" tIns="0" rIns="0" bIns="0" lIns="0" anchor="t">
            <a:noAutofit/>
          </a:bodyPr>
          <a:lstStyle/>
          <a:p>
            <a:pPr algn="l">
              <a:lnSpc>
                <a:spcPts val="1440"/>
              </a:lnSpc>
            </a:pPr>
            <a:r>
              <a:rPr sz="1200" b="0">
                <a:solidFill>
                  <a:srgbClr val="5A5A5A"/>
                </a:solidFill>
                <a:latin typeface="IBM Plex Sans"/>
              </a:rPr>
              <a:t>Bay of Bengal</a:t>
            </a:r>
          </a:p>
        </p:txBody>
      </p:sp>
      <p:sp>
        <p:nvSpPr>
          <p:cNvPr id="17" name="TextBox 16"/>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18" name="TextBox 17"/>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07 · Stage 2 — formulation</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Each site: one binary variable, one problem qubit</a:t>
            </a:r>
          </a:p>
        </p:txBody>
      </p:sp>
      <p:sp>
        <p:nvSpPr>
          <p:cNvPr id="4" name="Rectangle 3"/>
          <p:cNvSpPr/>
          <p:nvPr/>
        </p:nvSpPr>
        <p:spPr>
          <a:xfrm>
            <a:off x="812800" y="1809750"/>
            <a:ext cx="6096000" cy="1543050"/>
          </a:xfrm>
          <a:prstGeom prst="rect">
            <a:avLst/>
          </a:prstGeom>
          <a:solidFill>
            <a:srgbClr val="262522"/>
          </a:solidFill>
          <a:ln w="6350">
            <a:solidFill>
              <a:srgbClr val="3A3834"/>
            </a:solidFill>
          </a:ln>
        </p:spPr>
        <p:txBody>
          <a:bodyPr rtlCol="0" anchor="ctr"/>
          <a:lstStyle/>
          <a:p>
            <a:pPr algn="ctr"/>
          </a:p>
        </p:txBody>
      </p:sp>
      <p:sp>
        <p:nvSpPr>
          <p:cNvPr id="5" name="TextBox 4"/>
          <p:cNvSpPr txBox="1"/>
          <p:nvPr/>
        </p:nvSpPr>
        <p:spPr>
          <a:xfrm>
            <a:off x="1047750" y="2019300"/>
            <a:ext cx="5794883" cy="857250"/>
          </a:xfrm>
          <a:prstGeom prst="rect">
            <a:avLst/>
          </a:prstGeom>
          <a:noFill/>
        </p:spPr>
        <p:txBody>
          <a:bodyPr wrap="square" tIns="0" rIns="0" bIns="0" lIns="0" anchor="t">
            <a:noAutofit/>
          </a:bodyPr>
          <a:lstStyle/>
          <a:p>
            <a:pPr algn="l">
              <a:lnSpc>
                <a:spcPts val="2250"/>
              </a:lnSpc>
            </a:pPr>
            <a:r>
              <a:rPr sz="1500" b="0">
                <a:solidFill>
                  <a:srgbClr val="F5F2EA"/>
                </a:solidFill>
                <a:latin typeface="IBM Plex Mono"/>
              </a:rPr>
              <a:t>min f(x) = − Σ w_i·x_i</a:t>
            </a:r>
            <a:br/>
            <a:r>
              <a:rPr sz="1500" b="0">
                <a:solidFill>
                  <a:srgbClr val="F5F2EA"/>
                </a:solidFill>
                <a:latin typeface="IBM Plex Mono"/>
              </a:rPr>
              <a:t>          + Σ o_ij·x_i·x_j</a:t>
            </a:r>
            <a:br/>
            <a:r>
              <a:rPr sz="1500" b="0">
                <a:solidFill>
                  <a:srgbClr val="F5F2EA"/>
                </a:solidFill>
                <a:latin typeface="IBM Plex Mono"/>
              </a:rPr>
              <a:t>          + λ (Σ x_i − k)²</a:t>
            </a:r>
          </a:p>
        </p:txBody>
      </p:sp>
      <p:sp>
        <p:nvSpPr>
          <p:cNvPr id="6" name="TextBox 5"/>
          <p:cNvSpPr txBox="1"/>
          <p:nvPr/>
        </p:nvSpPr>
        <p:spPr>
          <a:xfrm>
            <a:off x="1047750" y="2952750"/>
            <a:ext cx="6413754" cy="19050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x_i ∈ {0,1} · x_i = (1 − z_i)/2 → Ising Hamiltonian H_C</a:t>
            </a:r>
          </a:p>
        </p:txBody>
      </p:sp>
      <p:sp>
        <p:nvSpPr>
          <p:cNvPr id="7" name="TextBox 6"/>
          <p:cNvSpPr txBox="1"/>
          <p:nvPr/>
        </p:nvSpPr>
        <p:spPr>
          <a:xfrm>
            <a:off x="812800" y="3556000"/>
            <a:ext cx="6278880" cy="1371600"/>
          </a:xfrm>
          <a:prstGeom prst="rect">
            <a:avLst/>
          </a:prstGeom>
          <a:noFill/>
        </p:spPr>
        <p:txBody>
          <a:bodyPr wrap="square" tIns="0" bIns="0" lIns="0" rIns="0">
            <a:noAutofit/>
          </a:bodyPr>
          <a:lstStyle/>
          <a:p>
            <a:pPr marL="188595" indent="-188595">
              <a:lnSpc>
                <a:spcPts val="2025"/>
              </a:lnSpc>
              <a:buChar char="•"/>
            </a:pPr>
            <a:r>
              <a:rPr sz="1500" b="1">
                <a:solidFill>
                  <a:srgbClr val="F5F2EA"/>
                </a:solidFill>
                <a:latin typeface="IBM Plex Sans"/>
              </a:rPr>
              <a:t>w_i</a:t>
            </a:r>
            <a:r>
              <a:rPr sz="1500" b="0">
                <a:solidFill>
                  <a:srgbClr val="A9A59C"/>
                </a:solidFill>
                <a:latin typeface="IBM Plex Sans"/>
              </a:rPr>
              <a:t> risk-weighted exposure site i covers</a:t>
            </a:r>
          </a:p>
          <a:p>
            <a:pPr marL="188595" indent="-188595">
              <a:lnSpc>
                <a:spcPts val="2025"/>
              </a:lnSpc>
              <a:spcBef>
                <a:spcPts val="900"/>
              </a:spcBef>
              <a:buChar char="•"/>
            </a:pPr>
            <a:r>
              <a:rPr sz="1500" b="1">
                <a:solidFill>
                  <a:srgbClr val="F5F2EA"/>
                </a:solidFill>
                <a:latin typeface="IBM Plex Sans"/>
              </a:rPr>
              <a:t>o_ij</a:t>
            </a:r>
            <a:r>
              <a:rPr sz="1500" b="0">
                <a:solidFill>
                  <a:srgbClr val="A9A59C"/>
                </a:solidFill>
                <a:latin typeface="IBM Plex Sans"/>
              </a:rPr>
              <a:t> coverage overlap between sites i and j</a:t>
            </a:r>
          </a:p>
          <a:p>
            <a:pPr marL="188595" indent="-188595">
              <a:lnSpc>
                <a:spcPts val="2025"/>
              </a:lnSpc>
              <a:spcBef>
                <a:spcPts val="900"/>
              </a:spcBef>
              <a:buChar char="•"/>
            </a:pPr>
            <a:r>
              <a:rPr sz="1500" b="1">
                <a:solidFill>
                  <a:srgbClr val="F5F2EA"/>
                </a:solidFill>
                <a:latin typeface="IBM Plex Sans"/>
              </a:rPr>
              <a:t>λ = 0.6 · max w_i</a:t>
            </a:r>
            <a:r>
              <a:rPr sz="1500" b="0">
                <a:solidFill>
                  <a:srgbClr val="A9A59C"/>
                </a:solidFill>
                <a:latin typeface="IBM Plex Sans"/>
              </a:rPr>
              <a:t> enforces exactly k units</a:t>
            </a:r>
          </a:p>
          <a:p>
            <a:pPr marL="188595" indent="-188595">
              <a:lnSpc>
                <a:spcPts val="2025"/>
              </a:lnSpc>
              <a:spcBef>
                <a:spcPts val="900"/>
              </a:spcBef>
              <a:buChar char="•"/>
            </a:pPr>
            <a:r>
              <a:rPr sz="1500" b="0">
                <a:solidFill>
                  <a:srgbClr val="A9A59C"/>
                </a:solidFill>
                <a:latin typeface="IBM Plex Sans"/>
              </a:rPr>
              <a:t>Every QUBO checked against exhaustive search</a:t>
            </a:r>
          </a:p>
        </p:txBody>
      </p:sp>
      <p:pic>
        <p:nvPicPr>
          <p:cNvPr id="8" name="Picture 7" descr="image.png"/>
          <p:cNvPicPr>
            <a:picLocks noChangeAspect="1"/>
          </p:cNvPicPr>
          <p:nvPr/>
        </p:nvPicPr>
        <p:blipFill>
          <a:blip r:embed="rId2"/>
          <a:stretch>
            <a:fillRect/>
          </a:stretch>
        </p:blipFill>
        <p:spPr>
          <a:xfrm>
            <a:off x="7518400" y="1809750"/>
            <a:ext cx="3048000" cy="3048000"/>
          </a:xfrm>
          <a:prstGeom prst="rect">
            <a:avLst/>
          </a:prstGeom>
        </p:spPr>
      </p:pic>
      <p:sp>
        <p:nvSpPr>
          <p:cNvPr id="9" name="TextBox 8"/>
          <p:cNvSpPr txBox="1"/>
          <p:nvPr/>
        </p:nvSpPr>
        <p:spPr>
          <a:xfrm>
            <a:off x="7518400" y="4984750"/>
            <a:ext cx="3139440" cy="355600"/>
          </a:xfrm>
          <a:prstGeom prst="rect">
            <a:avLst/>
          </a:prstGeom>
          <a:noFill/>
        </p:spPr>
        <p:txBody>
          <a:bodyPr wrap="square" tIns="0" rIns="0" bIns="0" lIns="0" anchor="t">
            <a:noAutofit/>
          </a:bodyPr>
          <a:lstStyle/>
          <a:p>
            <a:pPr algn="l">
              <a:lnSpc>
                <a:spcPts val="1439"/>
              </a:lnSpc>
            </a:pPr>
            <a:r>
              <a:rPr sz="1200" b="0">
                <a:solidFill>
                  <a:srgbClr val="A9A59C"/>
                </a:solidFill>
                <a:latin typeface="IBM Plex Sans"/>
              </a:rPr>
              <a:t>Actual QUBO of the 12-qubit western subproblem</a:t>
            </a:r>
          </a:p>
        </p:txBody>
      </p:sp>
      <p:sp>
        <p:nvSpPr>
          <p:cNvPr id="10" name="Rectangle 9"/>
          <p:cNvSpPr/>
          <p:nvPr/>
        </p:nvSpPr>
        <p:spPr>
          <a:xfrm>
            <a:off x="7518400" y="5467350"/>
            <a:ext cx="177800" cy="177800"/>
          </a:xfrm>
          <a:prstGeom prst="rect">
            <a:avLst/>
          </a:prstGeom>
          <a:solidFill>
            <a:srgbClr val="E56A1F"/>
          </a:solidFill>
          <a:ln>
            <a:noFill/>
          </a:ln>
        </p:spPr>
        <p:txBody>
          <a:bodyPr rtlCol="0" anchor="ctr"/>
          <a:lstStyle/>
          <a:p>
            <a:pPr algn="ctr"/>
          </a:p>
        </p:txBody>
      </p:sp>
      <p:sp>
        <p:nvSpPr>
          <p:cNvPr id="11" name="TextBox 10"/>
          <p:cNvSpPr txBox="1"/>
          <p:nvPr/>
        </p:nvSpPr>
        <p:spPr>
          <a:xfrm>
            <a:off x="7772400" y="5467350"/>
            <a:ext cx="598688"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Reward</a:t>
            </a:r>
          </a:p>
        </p:txBody>
      </p:sp>
      <p:sp>
        <p:nvSpPr>
          <p:cNvPr id="12" name="Rectangle 11"/>
          <p:cNvSpPr/>
          <p:nvPr/>
        </p:nvSpPr>
        <p:spPr>
          <a:xfrm>
            <a:off x="8475365" y="5467350"/>
            <a:ext cx="177800" cy="177800"/>
          </a:xfrm>
          <a:prstGeom prst="rect">
            <a:avLst/>
          </a:prstGeom>
          <a:solidFill>
            <a:srgbClr val="CFC9BD"/>
          </a:solidFill>
          <a:ln>
            <a:noFill/>
          </a:ln>
        </p:spPr>
        <p:txBody>
          <a:bodyPr rtlCol="0" anchor="ctr"/>
          <a:lstStyle/>
          <a:p>
            <a:pPr algn="ctr"/>
          </a:p>
        </p:txBody>
      </p:sp>
      <p:sp>
        <p:nvSpPr>
          <p:cNvPr id="13" name="TextBox 12"/>
          <p:cNvSpPr txBox="1"/>
          <p:nvPr/>
        </p:nvSpPr>
        <p:spPr>
          <a:xfrm>
            <a:off x="8729365" y="5467350"/>
            <a:ext cx="579572" cy="177800"/>
          </a:xfrm>
          <a:prstGeom prst="rect">
            <a:avLst/>
          </a:prstGeom>
          <a:noFill/>
        </p:spPr>
        <p:txBody>
          <a:bodyPr wrap="none" tIns="0" rIns="0" bIns="0" lIns="0" anchor="t">
            <a:noAutofit/>
          </a:bodyPr>
          <a:lstStyle/>
          <a:p>
            <a:pPr algn="l">
              <a:lnSpc>
                <a:spcPts val="1439"/>
              </a:lnSpc>
            </a:pPr>
            <a:r>
              <a:rPr sz="1200" b="0">
                <a:solidFill>
                  <a:srgbClr val="F5F2EA"/>
                </a:solidFill>
                <a:latin typeface="IBM Plex Sans"/>
              </a:rPr>
              <a:t>Penalty</a:t>
            </a:r>
          </a:p>
        </p:txBody>
      </p:sp>
      <p:sp>
        <p:nvSpPr>
          <p:cNvPr id="14" name="TextBox 13"/>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15" name="TextBox 14"/>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08 · Stage 3 — Quantum Approximate Optimization Algorithm</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QAOA: quantum sampling, classical tuning</a:t>
            </a:r>
          </a:p>
        </p:txBody>
      </p:sp>
      <p:pic>
        <p:nvPicPr>
          <p:cNvPr id="4" name="Picture 3" descr="image.png"/>
          <p:cNvPicPr>
            <a:picLocks noChangeAspect="1"/>
          </p:cNvPicPr>
          <p:nvPr/>
        </p:nvPicPr>
        <p:blipFill>
          <a:blip r:embed="rId2"/>
          <a:stretch>
            <a:fillRect/>
          </a:stretch>
        </p:blipFill>
        <p:spPr>
          <a:xfrm>
            <a:off x="812800" y="1809750"/>
            <a:ext cx="10566400" cy="2794000"/>
          </a:xfrm>
          <a:prstGeom prst="rect">
            <a:avLst/>
          </a:prstGeom>
        </p:spPr>
      </p:pic>
      <p:sp>
        <p:nvSpPr>
          <p:cNvPr id="5" name="TextBox 4"/>
          <p:cNvSpPr txBox="1"/>
          <p:nvPr/>
        </p:nvSpPr>
        <p:spPr>
          <a:xfrm>
            <a:off x="812800" y="2152650"/>
            <a:ext cx="57912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q0</a:t>
            </a:r>
          </a:p>
        </p:txBody>
      </p:sp>
      <p:sp>
        <p:nvSpPr>
          <p:cNvPr id="6" name="TextBox 5"/>
          <p:cNvSpPr txBox="1"/>
          <p:nvPr/>
        </p:nvSpPr>
        <p:spPr>
          <a:xfrm>
            <a:off x="812800" y="2609850"/>
            <a:ext cx="57912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q1</a:t>
            </a:r>
          </a:p>
        </p:txBody>
      </p:sp>
      <p:sp>
        <p:nvSpPr>
          <p:cNvPr id="7" name="TextBox 6"/>
          <p:cNvSpPr txBox="1"/>
          <p:nvPr/>
        </p:nvSpPr>
        <p:spPr>
          <a:xfrm>
            <a:off x="812800" y="3067050"/>
            <a:ext cx="57912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q2</a:t>
            </a:r>
          </a:p>
        </p:txBody>
      </p:sp>
      <p:sp>
        <p:nvSpPr>
          <p:cNvPr id="8" name="TextBox 7"/>
          <p:cNvSpPr txBox="1"/>
          <p:nvPr/>
        </p:nvSpPr>
        <p:spPr>
          <a:xfrm>
            <a:off x="812800" y="3524250"/>
            <a:ext cx="57912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q3</a:t>
            </a:r>
          </a:p>
        </p:txBody>
      </p:sp>
      <p:sp>
        <p:nvSpPr>
          <p:cNvPr id="9" name="TextBox 8"/>
          <p:cNvSpPr txBox="1"/>
          <p:nvPr/>
        </p:nvSpPr>
        <p:spPr>
          <a:xfrm>
            <a:off x="812800" y="3981450"/>
            <a:ext cx="57912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q4</a:t>
            </a:r>
          </a:p>
        </p:txBody>
      </p:sp>
      <p:sp>
        <p:nvSpPr>
          <p:cNvPr id="10" name="TextBox 9"/>
          <p:cNvSpPr txBox="1"/>
          <p:nvPr/>
        </p:nvSpPr>
        <p:spPr>
          <a:xfrm>
            <a:off x="1765300" y="4337050"/>
            <a:ext cx="94107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Hadamard</a:t>
            </a:r>
          </a:p>
        </p:txBody>
      </p:sp>
      <p:sp>
        <p:nvSpPr>
          <p:cNvPr id="11" name="TextBox 10"/>
          <p:cNvSpPr txBox="1"/>
          <p:nvPr/>
        </p:nvSpPr>
        <p:spPr>
          <a:xfrm>
            <a:off x="2717800" y="4337050"/>
            <a:ext cx="260604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Cost e^(−iγH_C)</a:t>
            </a:r>
          </a:p>
        </p:txBody>
      </p:sp>
      <p:sp>
        <p:nvSpPr>
          <p:cNvPr id="12" name="TextBox 11"/>
          <p:cNvSpPr txBox="1"/>
          <p:nvPr/>
        </p:nvSpPr>
        <p:spPr>
          <a:xfrm>
            <a:off x="5257800" y="4337050"/>
            <a:ext cx="217170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Mixer e^(−iβH_B)</a:t>
            </a:r>
          </a:p>
        </p:txBody>
      </p:sp>
      <p:sp>
        <p:nvSpPr>
          <p:cNvPr id="13" name="TextBox 12"/>
          <p:cNvSpPr txBox="1"/>
          <p:nvPr/>
        </p:nvSpPr>
        <p:spPr>
          <a:xfrm>
            <a:off x="6845300" y="4337050"/>
            <a:ext cx="144780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Measure</a:t>
            </a:r>
          </a:p>
        </p:txBody>
      </p:sp>
      <p:sp>
        <p:nvSpPr>
          <p:cNvPr id="14" name="TextBox 13"/>
          <p:cNvSpPr txBox="1"/>
          <p:nvPr/>
        </p:nvSpPr>
        <p:spPr>
          <a:xfrm>
            <a:off x="8496300" y="2508250"/>
            <a:ext cx="2823210"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Classical optimiser</a:t>
            </a:r>
          </a:p>
        </p:txBody>
      </p:sp>
      <p:sp>
        <p:nvSpPr>
          <p:cNvPr id="15" name="TextBox 14"/>
          <p:cNvSpPr txBox="1"/>
          <p:nvPr/>
        </p:nvSpPr>
        <p:spPr>
          <a:xfrm>
            <a:off x="8496300" y="2794000"/>
            <a:ext cx="2550795" cy="61704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COBYLA minimises CVaR(α = 0.2) of sampled QUBO energy; returns new γ, β</a:t>
            </a:r>
          </a:p>
        </p:txBody>
      </p:sp>
      <p:sp>
        <p:nvSpPr>
          <p:cNvPr id="16" name="TextBox 15"/>
          <p:cNvSpPr txBox="1"/>
          <p:nvPr/>
        </p:nvSpPr>
        <p:spPr>
          <a:xfrm>
            <a:off x="2755900" y="1962150"/>
            <a:ext cx="202692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 p layers, p = 1–2</a:t>
            </a:r>
          </a:p>
        </p:txBody>
      </p:sp>
      <p:sp>
        <p:nvSpPr>
          <p:cNvPr id="17" name="TextBox 16"/>
          <p:cNvSpPr txBox="1"/>
          <p:nvPr/>
        </p:nvSpPr>
        <p:spPr>
          <a:xfrm>
            <a:off x="812800" y="4908550"/>
            <a:ext cx="12045696"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Classical outer loop → quantum sampling → CVaR energy evaluation → parameter update</a:t>
            </a:r>
          </a:p>
        </p:txBody>
      </p:sp>
      <p:sp>
        <p:nvSpPr>
          <p:cNvPr id="18" name="TextBox 17"/>
          <p:cNvSpPr txBox="1"/>
          <p:nvPr/>
        </p:nvSpPr>
        <p:spPr>
          <a:xfrm>
            <a:off x="812800" y="5403850"/>
            <a:ext cx="3348736" cy="497681"/>
          </a:xfrm>
          <a:prstGeom prst="rect">
            <a:avLst/>
          </a:prstGeom>
          <a:noFill/>
        </p:spPr>
        <p:txBody>
          <a:bodyPr wrap="square" tIns="0" rIns="0" bIns="0" lIns="0" anchor="t">
            <a:noAutofit/>
          </a:bodyPr>
          <a:lstStyle/>
          <a:p>
            <a:pPr algn="l">
              <a:lnSpc>
                <a:spcPts val="1960"/>
              </a:lnSpc>
            </a:pPr>
            <a:r>
              <a:rPr sz="1400" b="1">
                <a:solidFill>
                  <a:srgbClr val="F5F2EA"/>
                </a:solidFill>
                <a:latin typeface="IBM Plex Sans"/>
              </a:rPr>
              <a:t>Cost layer</a:t>
            </a:r>
            <a:r>
              <a:rPr sz="1400" b="0">
                <a:solidFill>
                  <a:srgbClr val="A9A59C"/>
                </a:solidFill>
                <a:latin typeface="IBM Plex Sans"/>
              </a:rPr>
              <a:t> encodes the QUBO: ZZ for overlaps, Z for rewards</a:t>
            </a:r>
          </a:p>
        </p:txBody>
      </p:sp>
      <p:sp>
        <p:nvSpPr>
          <p:cNvPr id="19" name="TextBox 18"/>
          <p:cNvSpPr txBox="1"/>
          <p:nvPr/>
        </p:nvSpPr>
        <p:spPr>
          <a:xfrm>
            <a:off x="4470400" y="5403850"/>
            <a:ext cx="3348736" cy="497681"/>
          </a:xfrm>
          <a:prstGeom prst="rect">
            <a:avLst/>
          </a:prstGeom>
          <a:noFill/>
        </p:spPr>
        <p:txBody>
          <a:bodyPr wrap="square" tIns="0" rIns="0" bIns="0" lIns="0" anchor="t">
            <a:noAutofit/>
          </a:bodyPr>
          <a:lstStyle/>
          <a:p>
            <a:pPr algn="l">
              <a:lnSpc>
                <a:spcPts val="1960"/>
              </a:lnSpc>
            </a:pPr>
            <a:r>
              <a:rPr sz="1400" b="1">
                <a:solidFill>
                  <a:srgbClr val="F5F2EA"/>
                </a:solidFill>
                <a:latin typeface="IBM Plex Sans"/>
              </a:rPr>
              <a:t>Mixer</a:t>
            </a:r>
            <a:r>
              <a:rPr sz="1400" b="0">
                <a:solidFill>
                  <a:srgbClr val="A9A59C"/>
                </a:solidFill>
                <a:latin typeface="IBM Plex Sans"/>
              </a:rPr>
              <a:t> moves amplitude between placements</a:t>
            </a:r>
          </a:p>
        </p:txBody>
      </p:sp>
      <p:sp>
        <p:nvSpPr>
          <p:cNvPr id="20" name="TextBox 19"/>
          <p:cNvSpPr txBox="1"/>
          <p:nvPr/>
        </p:nvSpPr>
        <p:spPr>
          <a:xfrm>
            <a:off x="8128000" y="5403850"/>
            <a:ext cx="3348736" cy="497681"/>
          </a:xfrm>
          <a:prstGeom prst="rect">
            <a:avLst/>
          </a:prstGeom>
          <a:noFill/>
        </p:spPr>
        <p:txBody>
          <a:bodyPr wrap="square" tIns="0" rIns="0" bIns="0" lIns="0" anchor="t">
            <a:noAutofit/>
          </a:bodyPr>
          <a:lstStyle/>
          <a:p>
            <a:pPr algn="l">
              <a:lnSpc>
                <a:spcPts val="1960"/>
              </a:lnSpc>
            </a:pPr>
            <a:r>
              <a:rPr sz="1400" b="1">
                <a:solidFill>
                  <a:srgbClr val="F5F2EA"/>
                </a:solidFill>
                <a:latin typeface="IBM Plex Sans"/>
              </a:rPr>
              <a:t>Warm start</a:t>
            </a:r>
            <a:r>
              <a:rPr sz="1400" b="0">
                <a:solidFill>
                  <a:srgbClr val="A9A59C"/>
                </a:solidFill>
                <a:latin typeface="IBM Plex Sans"/>
              </a:rPr>
              <a:t> reuses γ, β from the last run when inputs change</a:t>
            </a:r>
          </a:p>
        </p:txBody>
      </p:sp>
      <p:sp>
        <p:nvSpPr>
          <p:cNvPr id="21" name="TextBox 20"/>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22" name="TextBox 21"/>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09 · Execution</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Hybrid execution on IBM Quantum under NISQ noise</a:t>
            </a:r>
          </a:p>
        </p:txBody>
      </p:sp>
      <p:sp>
        <p:nvSpPr>
          <p:cNvPr id="4" name="Rectangle 3"/>
          <p:cNvSpPr/>
          <p:nvPr/>
        </p:nvSpPr>
        <p:spPr>
          <a:xfrm>
            <a:off x="812800" y="1809750"/>
            <a:ext cx="5715000" cy="546100"/>
          </a:xfrm>
          <a:prstGeom prst="rect">
            <a:avLst/>
          </a:prstGeom>
          <a:solidFill>
            <a:srgbClr val="262522"/>
          </a:solidFill>
          <a:ln w="12700">
            <a:solidFill>
              <a:srgbClr val="3A3834"/>
            </a:solidFill>
          </a:ln>
        </p:spPr>
        <p:txBody>
          <a:bodyPr rtlCol="0" anchor="ctr"/>
          <a:lstStyle/>
          <a:p>
            <a:pPr algn="ctr"/>
          </a:p>
        </p:txBody>
      </p:sp>
      <p:sp>
        <p:nvSpPr>
          <p:cNvPr id="5" name="TextBox 4"/>
          <p:cNvSpPr txBox="1"/>
          <p:nvPr/>
        </p:nvSpPr>
        <p:spPr>
          <a:xfrm>
            <a:off x="1003300" y="1997075"/>
            <a:ext cx="347472"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01</a:t>
            </a:r>
          </a:p>
        </p:txBody>
      </p:sp>
      <p:sp>
        <p:nvSpPr>
          <p:cNvPr id="6" name="TextBox 5"/>
          <p:cNvSpPr txBox="1"/>
          <p:nvPr/>
        </p:nvSpPr>
        <p:spPr>
          <a:xfrm>
            <a:off x="1460500" y="1885950"/>
            <a:ext cx="2964370"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Qiskit</a:t>
            </a:r>
          </a:p>
        </p:txBody>
      </p:sp>
      <p:sp>
        <p:nvSpPr>
          <p:cNvPr id="7" name="TextBox 6"/>
          <p:cNvSpPr txBox="1"/>
          <p:nvPr/>
        </p:nvSpPr>
        <p:spPr>
          <a:xfrm>
            <a:off x="1460500" y="2101850"/>
            <a:ext cx="296437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QUBO → Ising operator, QAOAAnsatz</a:t>
            </a:r>
          </a:p>
        </p:txBody>
      </p:sp>
      <p:sp>
        <p:nvSpPr>
          <p:cNvPr id="8" name="Rectangle 7"/>
          <p:cNvSpPr/>
          <p:nvPr/>
        </p:nvSpPr>
        <p:spPr>
          <a:xfrm>
            <a:off x="812800" y="2355850"/>
            <a:ext cx="5715000" cy="533400"/>
          </a:xfrm>
          <a:prstGeom prst="rect">
            <a:avLst/>
          </a:prstGeom>
          <a:solidFill>
            <a:srgbClr val="262522"/>
          </a:solidFill>
          <a:ln>
            <a:noFill/>
          </a:ln>
        </p:spPr>
        <p:txBody>
          <a:bodyPr rtlCol="0" anchor="ctr"/>
          <a:lstStyle/>
          <a:p>
            <a:pPr algn="ctr"/>
          </a:p>
        </p:txBody>
      </p:sp>
      <p:cxnSp>
        <p:nvCxnSpPr>
          <p:cNvPr id="9" name="Connector 8"/>
          <p:cNvCxnSpPr/>
          <p:nvPr/>
        </p:nvCxnSpPr>
        <p:spPr>
          <a:xfrm>
            <a:off x="6521450" y="2355850"/>
            <a:ext cx="0" cy="533400"/>
          </a:xfrm>
          <a:prstGeom prst="line">
            <a:avLst/>
          </a:prstGeom>
          <a:ln w="12700">
            <a:solidFill>
              <a:srgbClr val="3A3834"/>
            </a:solidFill>
          </a:ln>
        </p:spPr>
      </p:cxnSp>
      <p:cxnSp>
        <p:nvCxnSpPr>
          <p:cNvPr id="10" name="Connector 9"/>
          <p:cNvCxnSpPr/>
          <p:nvPr/>
        </p:nvCxnSpPr>
        <p:spPr>
          <a:xfrm>
            <a:off x="812800" y="2882900"/>
            <a:ext cx="5715000" cy="0"/>
          </a:xfrm>
          <a:prstGeom prst="line">
            <a:avLst/>
          </a:prstGeom>
          <a:ln w="12700">
            <a:solidFill>
              <a:srgbClr val="3A3834"/>
            </a:solidFill>
          </a:ln>
        </p:spPr>
      </p:cxnSp>
      <p:cxnSp>
        <p:nvCxnSpPr>
          <p:cNvPr id="11" name="Connector 10"/>
          <p:cNvCxnSpPr/>
          <p:nvPr/>
        </p:nvCxnSpPr>
        <p:spPr>
          <a:xfrm>
            <a:off x="819150" y="2355850"/>
            <a:ext cx="0" cy="533400"/>
          </a:xfrm>
          <a:prstGeom prst="line">
            <a:avLst/>
          </a:prstGeom>
          <a:ln w="12700">
            <a:solidFill>
              <a:srgbClr val="3A3834"/>
            </a:solidFill>
          </a:ln>
        </p:spPr>
      </p:cxnSp>
      <p:sp>
        <p:nvSpPr>
          <p:cNvPr id="12" name="TextBox 11"/>
          <p:cNvSpPr txBox="1"/>
          <p:nvPr/>
        </p:nvSpPr>
        <p:spPr>
          <a:xfrm>
            <a:off x="1003300" y="2530475"/>
            <a:ext cx="347472"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02</a:t>
            </a:r>
          </a:p>
        </p:txBody>
      </p:sp>
      <p:sp>
        <p:nvSpPr>
          <p:cNvPr id="13" name="TextBox 12"/>
          <p:cNvSpPr txBox="1"/>
          <p:nvPr/>
        </p:nvSpPr>
        <p:spPr>
          <a:xfrm>
            <a:off x="1460500" y="2419350"/>
            <a:ext cx="3757041"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Decompose</a:t>
            </a:r>
          </a:p>
        </p:txBody>
      </p:sp>
      <p:sp>
        <p:nvSpPr>
          <p:cNvPr id="14" name="TextBox 13"/>
          <p:cNvSpPr txBox="1"/>
          <p:nvPr/>
        </p:nvSpPr>
        <p:spPr>
          <a:xfrm>
            <a:off x="1460500" y="2635250"/>
            <a:ext cx="3757041"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Region → ≤20-qubit subproblems (ours: 12 + 11)</a:t>
            </a:r>
          </a:p>
        </p:txBody>
      </p:sp>
      <p:sp>
        <p:nvSpPr>
          <p:cNvPr id="15" name="Rectangle 14"/>
          <p:cNvSpPr/>
          <p:nvPr/>
        </p:nvSpPr>
        <p:spPr>
          <a:xfrm>
            <a:off x="812800" y="2889250"/>
            <a:ext cx="5715000" cy="533400"/>
          </a:xfrm>
          <a:prstGeom prst="rect">
            <a:avLst/>
          </a:prstGeom>
          <a:solidFill>
            <a:srgbClr val="262522"/>
          </a:solidFill>
          <a:ln>
            <a:noFill/>
          </a:ln>
        </p:spPr>
        <p:txBody>
          <a:bodyPr rtlCol="0" anchor="ctr"/>
          <a:lstStyle/>
          <a:p>
            <a:pPr algn="ctr"/>
          </a:p>
        </p:txBody>
      </p:sp>
      <p:cxnSp>
        <p:nvCxnSpPr>
          <p:cNvPr id="16" name="Connector 15"/>
          <p:cNvCxnSpPr/>
          <p:nvPr/>
        </p:nvCxnSpPr>
        <p:spPr>
          <a:xfrm>
            <a:off x="6521450" y="2889250"/>
            <a:ext cx="0" cy="533400"/>
          </a:xfrm>
          <a:prstGeom prst="line">
            <a:avLst/>
          </a:prstGeom>
          <a:ln w="12700">
            <a:solidFill>
              <a:srgbClr val="3A3834"/>
            </a:solidFill>
          </a:ln>
        </p:spPr>
      </p:cxnSp>
      <p:cxnSp>
        <p:nvCxnSpPr>
          <p:cNvPr id="17" name="Connector 16"/>
          <p:cNvCxnSpPr/>
          <p:nvPr/>
        </p:nvCxnSpPr>
        <p:spPr>
          <a:xfrm>
            <a:off x="812800" y="3416300"/>
            <a:ext cx="5715000" cy="0"/>
          </a:xfrm>
          <a:prstGeom prst="line">
            <a:avLst/>
          </a:prstGeom>
          <a:ln w="12700">
            <a:solidFill>
              <a:srgbClr val="3A3834"/>
            </a:solidFill>
          </a:ln>
        </p:spPr>
      </p:cxnSp>
      <p:cxnSp>
        <p:nvCxnSpPr>
          <p:cNvPr id="18" name="Connector 17"/>
          <p:cNvCxnSpPr/>
          <p:nvPr/>
        </p:nvCxnSpPr>
        <p:spPr>
          <a:xfrm>
            <a:off x="819150" y="2889250"/>
            <a:ext cx="0" cy="533400"/>
          </a:xfrm>
          <a:prstGeom prst="line">
            <a:avLst/>
          </a:prstGeom>
          <a:ln w="12700">
            <a:solidFill>
              <a:srgbClr val="3A3834"/>
            </a:solidFill>
          </a:ln>
        </p:spPr>
      </p:cxnSp>
      <p:sp>
        <p:nvSpPr>
          <p:cNvPr id="19" name="TextBox 18"/>
          <p:cNvSpPr txBox="1"/>
          <p:nvPr/>
        </p:nvSpPr>
        <p:spPr>
          <a:xfrm>
            <a:off x="1003300" y="3063875"/>
            <a:ext cx="347472"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03</a:t>
            </a:r>
          </a:p>
        </p:txBody>
      </p:sp>
      <p:sp>
        <p:nvSpPr>
          <p:cNvPr id="20" name="TextBox 19"/>
          <p:cNvSpPr txBox="1"/>
          <p:nvPr/>
        </p:nvSpPr>
        <p:spPr>
          <a:xfrm>
            <a:off x="1460500" y="2952750"/>
            <a:ext cx="3244656"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Transpile</a:t>
            </a:r>
          </a:p>
        </p:txBody>
      </p:sp>
      <p:sp>
        <p:nvSpPr>
          <p:cNvPr id="21" name="TextBox 20"/>
          <p:cNvSpPr txBox="1"/>
          <p:nvPr/>
        </p:nvSpPr>
        <p:spPr>
          <a:xfrm>
            <a:off x="1460500" y="3168650"/>
            <a:ext cx="3244656"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ISA circuit, heavy-hex, optimization level 3</a:t>
            </a:r>
          </a:p>
        </p:txBody>
      </p:sp>
      <p:sp>
        <p:nvSpPr>
          <p:cNvPr id="22" name="Rectangle 21"/>
          <p:cNvSpPr/>
          <p:nvPr/>
        </p:nvSpPr>
        <p:spPr>
          <a:xfrm>
            <a:off x="812800" y="3422650"/>
            <a:ext cx="5715000" cy="533400"/>
          </a:xfrm>
          <a:prstGeom prst="rect">
            <a:avLst/>
          </a:prstGeom>
          <a:solidFill>
            <a:srgbClr val="262522"/>
          </a:solidFill>
          <a:ln>
            <a:noFill/>
          </a:ln>
        </p:spPr>
        <p:txBody>
          <a:bodyPr rtlCol="0" anchor="ctr"/>
          <a:lstStyle/>
          <a:p>
            <a:pPr algn="ctr"/>
          </a:p>
        </p:txBody>
      </p:sp>
      <p:cxnSp>
        <p:nvCxnSpPr>
          <p:cNvPr id="23" name="Connector 22"/>
          <p:cNvCxnSpPr/>
          <p:nvPr/>
        </p:nvCxnSpPr>
        <p:spPr>
          <a:xfrm>
            <a:off x="6521450" y="3422650"/>
            <a:ext cx="0" cy="533400"/>
          </a:xfrm>
          <a:prstGeom prst="line">
            <a:avLst/>
          </a:prstGeom>
          <a:ln w="12700">
            <a:solidFill>
              <a:srgbClr val="3A3834"/>
            </a:solidFill>
          </a:ln>
        </p:spPr>
      </p:cxnSp>
      <p:cxnSp>
        <p:nvCxnSpPr>
          <p:cNvPr id="24" name="Connector 23"/>
          <p:cNvCxnSpPr/>
          <p:nvPr/>
        </p:nvCxnSpPr>
        <p:spPr>
          <a:xfrm>
            <a:off x="812800" y="3949700"/>
            <a:ext cx="5715000" cy="0"/>
          </a:xfrm>
          <a:prstGeom prst="line">
            <a:avLst/>
          </a:prstGeom>
          <a:ln w="12700">
            <a:solidFill>
              <a:srgbClr val="3A3834"/>
            </a:solidFill>
          </a:ln>
        </p:spPr>
      </p:cxnSp>
      <p:cxnSp>
        <p:nvCxnSpPr>
          <p:cNvPr id="25" name="Connector 24"/>
          <p:cNvCxnSpPr/>
          <p:nvPr/>
        </p:nvCxnSpPr>
        <p:spPr>
          <a:xfrm>
            <a:off x="819150" y="3422650"/>
            <a:ext cx="0" cy="533400"/>
          </a:xfrm>
          <a:prstGeom prst="line">
            <a:avLst/>
          </a:prstGeom>
          <a:ln w="12700">
            <a:solidFill>
              <a:srgbClr val="3A3834"/>
            </a:solidFill>
          </a:ln>
        </p:spPr>
      </p:cxnSp>
      <p:sp>
        <p:nvSpPr>
          <p:cNvPr id="26" name="TextBox 25"/>
          <p:cNvSpPr txBox="1"/>
          <p:nvPr/>
        </p:nvSpPr>
        <p:spPr>
          <a:xfrm>
            <a:off x="1003300" y="3597275"/>
            <a:ext cx="347472"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04</a:t>
            </a:r>
          </a:p>
        </p:txBody>
      </p:sp>
      <p:sp>
        <p:nvSpPr>
          <p:cNvPr id="27" name="TextBox 26"/>
          <p:cNvSpPr txBox="1"/>
          <p:nvPr/>
        </p:nvSpPr>
        <p:spPr>
          <a:xfrm>
            <a:off x="1460500" y="3486150"/>
            <a:ext cx="2897184"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Qiskit Runtime</a:t>
            </a:r>
          </a:p>
        </p:txBody>
      </p:sp>
      <p:sp>
        <p:nvSpPr>
          <p:cNvPr id="28" name="TextBox 27"/>
          <p:cNvSpPr txBox="1"/>
          <p:nvPr/>
        </p:nvSpPr>
        <p:spPr>
          <a:xfrm>
            <a:off x="1460500" y="3702050"/>
            <a:ext cx="2897184"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Sampler V2, batch mode (Open Plan)</a:t>
            </a:r>
          </a:p>
        </p:txBody>
      </p:sp>
      <p:sp>
        <p:nvSpPr>
          <p:cNvPr id="29" name="Rectangle 28"/>
          <p:cNvSpPr/>
          <p:nvPr/>
        </p:nvSpPr>
        <p:spPr>
          <a:xfrm>
            <a:off x="812800" y="3956050"/>
            <a:ext cx="5715000" cy="533400"/>
          </a:xfrm>
          <a:prstGeom prst="rect">
            <a:avLst/>
          </a:prstGeom>
          <a:solidFill>
            <a:srgbClr val="E56A1F"/>
          </a:solidFill>
          <a:ln>
            <a:noFill/>
          </a:ln>
        </p:spPr>
        <p:txBody>
          <a:bodyPr rtlCol="0" anchor="ctr"/>
          <a:lstStyle/>
          <a:p>
            <a:pPr algn="ctr"/>
          </a:p>
        </p:txBody>
      </p:sp>
      <p:cxnSp>
        <p:nvCxnSpPr>
          <p:cNvPr id="30" name="Connector 29"/>
          <p:cNvCxnSpPr/>
          <p:nvPr/>
        </p:nvCxnSpPr>
        <p:spPr>
          <a:xfrm>
            <a:off x="6521450" y="3956050"/>
            <a:ext cx="0" cy="533400"/>
          </a:xfrm>
          <a:prstGeom prst="line">
            <a:avLst/>
          </a:prstGeom>
          <a:ln w="12700">
            <a:solidFill>
              <a:srgbClr val="E56A1F"/>
            </a:solidFill>
          </a:ln>
        </p:spPr>
      </p:cxnSp>
      <p:cxnSp>
        <p:nvCxnSpPr>
          <p:cNvPr id="31" name="Connector 30"/>
          <p:cNvCxnSpPr/>
          <p:nvPr/>
        </p:nvCxnSpPr>
        <p:spPr>
          <a:xfrm>
            <a:off x="812800" y="4483100"/>
            <a:ext cx="5715000" cy="0"/>
          </a:xfrm>
          <a:prstGeom prst="line">
            <a:avLst/>
          </a:prstGeom>
          <a:ln w="12700">
            <a:solidFill>
              <a:srgbClr val="E56A1F"/>
            </a:solidFill>
          </a:ln>
        </p:spPr>
      </p:cxnSp>
      <p:cxnSp>
        <p:nvCxnSpPr>
          <p:cNvPr id="32" name="Connector 31"/>
          <p:cNvCxnSpPr/>
          <p:nvPr/>
        </p:nvCxnSpPr>
        <p:spPr>
          <a:xfrm>
            <a:off x="819150" y="3956050"/>
            <a:ext cx="0" cy="533400"/>
          </a:xfrm>
          <a:prstGeom prst="line">
            <a:avLst/>
          </a:prstGeom>
          <a:ln w="12700">
            <a:solidFill>
              <a:srgbClr val="E56A1F"/>
            </a:solidFill>
          </a:ln>
        </p:spPr>
      </p:cxnSp>
      <p:sp>
        <p:nvSpPr>
          <p:cNvPr id="33" name="TextBox 32"/>
          <p:cNvSpPr txBox="1"/>
          <p:nvPr/>
        </p:nvSpPr>
        <p:spPr>
          <a:xfrm>
            <a:off x="1003300" y="4130675"/>
            <a:ext cx="347472" cy="171450"/>
          </a:xfrm>
          <a:prstGeom prst="rect">
            <a:avLst/>
          </a:prstGeom>
          <a:noFill/>
        </p:spPr>
        <p:txBody>
          <a:bodyPr wrap="none" tIns="0" rIns="0" bIns="0" lIns="0" anchor="t">
            <a:noAutofit/>
          </a:bodyPr>
          <a:lstStyle/>
          <a:p>
            <a:pPr algn="l">
              <a:lnSpc>
                <a:spcPts val="1439"/>
              </a:lnSpc>
            </a:pPr>
            <a:r>
              <a:rPr sz="1200" b="0">
                <a:solidFill>
                  <a:srgbClr val="171717"/>
                </a:solidFill>
                <a:latin typeface="IBM Plex Mono"/>
              </a:rPr>
              <a:t>05</a:t>
            </a:r>
          </a:p>
        </p:txBody>
      </p:sp>
      <p:sp>
        <p:nvSpPr>
          <p:cNvPr id="34" name="TextBox 33"/>
          <p:cNvSpPr txBox="1"/>
          <p:nvPr/>
        </p:nvSpPr>
        <p:spPr>
          <a:xfrm>
            <a:off x="1460500" y="4019550"/>
            <a:ext cx="3090261" cy="203200"/>
          </a:xfrm>
          <a:prstGeom prst="rect">
            <a:avLst/>
          </a:prstGeom>
          <a:noFill/>
        </p:spPr>
        <p:txBody>
          <a:bodyPr wrap="none" tIns="0" rIns="0" bIns="0" lIns="0" anchor="t">
            <a:noAutofit/>
          </a:bodyPr>
          <a:lstStyle/>
          <a:p>
            <a:pPr algn="l">
              <a:lnSpc>
                <a:spcPts val="1680"/>
              </a:lnSpc>
            </a:pPr>
            <a:r>
              <a:rPr sz="1400" b="1">
                <a:solidFill>
                  <a:srgbClr val="171717"/>
                </a:solidFill>
                <a:latin typeface="IBM Plex Sans"/>
              </a:rPr>
              <a:t>IBM Heron QPU</a:t>
            </a:r>
          </a:p>
        </p:txBody>
      </p:sp>
      <p:sp>
        <p:nvSpPr>
          <p:cNvPr id="35" name="TextBox 34"/>
          <p:cNvSpPr txBox="1"/>
          <p:nvPr/>
        </p:nvSpPr>
        <p:spPr>
          <a:xfrm>
            <a:off x="1460500" y="4235450"/>
            <a:ext cx="3090261" cy="177800"/>
          </a:xfrm>
          <a:prstGeom prst="rect">
            <a:avLst/>
          </a:prstGeom>
          <a:noFill/>
        </p:spPr>
        <p:txBody>
          <a:bodyPr wrap="none" tIns="0" rIns="0" bIns="0" lIns="0" anchor="t">
            <a:noAutofit/>
          </a:bodyPr>
          <a:lstStyle/>
          <a:p>
            <a:pPr algn="l">
              <a:lnSpc>
                <a:spcPts val="1439"/>
              </a:lnSpc>
            </a:pPr>
            <a:r>
              <a:rPr sz="1200" b="0">
                <a:solidFill>
                  <a:srgbClr val="171717"/>
                </a:solidFill>
                <a:latin typeface="IBM Plex Sans"/>
              </a:rPr>
              <a:t>Simulator-optimised angles, 4,096 shots</a:t>
            </a:r>
          </a:p>
        </p:txBody>
      </p:sp>
      <p:sp>
        <p:nvSpPr>
          <p:cNvPr id="36" name="Rectangle 35"/>
          <p:cNvSpPr/>
          <p:nvPr/>
        </p:nvSpPr>
        <p:spPr>
          <a:xfrm>
            <a:off x="812800" y="4489450"/>
            <a:ext cx="5715000" cy="533400"/>
          </a:xfrm>
          <a:prstGeom prst="rect">
            <a:avLst/>
          </a:prstGeom>
          <a:solidFill>
            <a:srgbClr val="262522"/>
          </a:solidFill>
          <a:ln>
            <a:noFill/>
          </a:ln>
        </p:spPr>
        <p:txBody>
          <a:bodyPr rtlCol="0" anchor="ctr"/>
          <a:lstStyle/>
          <a:p>
            <a:pPr algn="ctr"/>
          </a:p>
        </p:txBody>
      </p:sp>
      <p:cxnSp>
        <p:nvCxnSpPr>
          <p:cNvPr id="37" name="Connector 36"/>
          <p:cNvCxnSpPr/>
          <p:nvPr/>
        </p:nvCxnSpPr>
        <p:spPr>
          <a:xfrm>
            <a:off x="6521450" y="4489450"/>
            <a:ext cx="0" cy="533400"/>
          </a:xfrm>
          <a:prstGeom prst="line">
            <a:avLst/>
          </a:prstGeom>
          <a:ln w="12700">
            <a:solidFill>
              <a:srgbClr val="3A3834"/>
            </a:solidFill>
          </a:ln>
        </p:spPr>
      </p:cxnSp>
      <p:cxnSp>
        <p:nvCxnSpPr>
          <p:cNvPr id="38" name="Connector 37"/>
          <p:cNvCxnSpPr/>
          <p:nvPr/>
        </p:nvCxnSpPr>
        <p:spPr>
          <a:xfrm>
            <a:off x="812800" y="5016500"/>
            <a:ext cx="5715000" cy="0"/>
          </a:xfrm>
          <a:prstGeom prst="line">
            <a:avLst/>
          </a:prstGeom>
          <a:ln w="12700">
            <a:solidFill>
              <a:srgbClr val="3A3834"/>
            </a:solidFill>
          </a:ln>
        </p:spPr>
      </p:cxnSp>
      <p:cxnSp>
        <p:nvCxnSpPr>
          <p:cNvPr id="39" name="Connector 38"/>
          <p:cNvCxnSpPr/>
          <p:nvPr/>
        </p:nvCxnSpPr>
        <p:spPr>
          <a:xfrm>
            <a:off x="819150" y="4489450"/>
            <a:ext cx="0" cy="533400"/>
          </a:xfrm>
          <a:prstGeom prst="line">
            <a:avLst/>
          </a:prstGeom>
          <a:ln w="12700">
            <a:solidFill>
              <a:srgbClr val="3A3834"/>
            </a:solidFill>
          </a:ln>
        </p:spPr>
      </p:cxnSp>
      <p:sp>
        <p:nvSpPr>
          <p:cNvPr id="40" name="TextBox 39"/>
          <p:cNvSpPr txBox="1"/>
          <p:nvPr/>
        </p:nvSpPr>
        <p:spPr>
          <a:xfrm>
            <a:off x="1003300" y="4664075"/>
            <a:ext cx="347472"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06</a:t>
            </a:r>
          </a:p>
        </p:txBody>
      </p:sp>
      <p:sp>
        <p:nvSpPr>
          <p:cNvPr id="41" name="TextBox 40"/>
          <p:cNvSpPr txBox="1"/>
          <p:nvPr/>
        </p:nvSpPr>
        <p:spPr>
          <a:xfrm>
            <a:off x="1460500" y="4552950"/>
            <a:ext cx="3318629" cy="203200"/>
          </a:xfrm>
          <a:prstGeom prst="rect">
            <a:avLst/>
          </a:prstGeom>
          <a:noFill/>
        </p:spPr>
        <p:txBody>
          <a:bodyPr wrap="none" tIns="0" rIns="0" bIns="0" lIns="0" anchor="t">
            <a:noAutofit/>
          </a:bodyPr>
          <a:lstStyle/>
          <a:p>
            <a:pPr algn="l">
              <a:lnSpc>
                <a:spcPts val="1680"/>
              </a:lnSpc>
            </a:pPr>
            <a:r>
              <a:rPr sz="1400" b="1">
                <a:solidFill>
                  <a:srgbClr val="F5F2EA"/>
                </a:solidFill>
                <a:latin typeface="IBM Plex Sans"/>
              </a:rPr>
              <a:t>Mitigate &amp; decode</a:t>
            </a:r>
          </a:p>
        </p:txBody>
      </p:sp>
      <p:sp>
        <p:nvSpPr>
          <p:cNvPr id="42" name="TextBox 41"/>
          <p:cNvSpPr txBox="1"/>
          <p:nvPr/>
        </p:nvSpPr>
        <p:spPr>
          <a:xfrm>
            <a:off x="1460500" y="4768850"/>
            <a:ext cx="3318629"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Dynamical decoupling, Pauli twirling, CVaR</a:t>
            </a:r>
          </a:p>
        </p:txBody>
      </p:sp>
      <p:cxnSp>
        <p:nvCxnSpPr>
          <p:cNvPr id="43" name="Connector 42"/>
          <p:cNvCxnSpPr/>
          <p:nvPr/>
        </p:nvCxnSpPr>
        <p:spPr>
          <a:xfrm>
            <a:off x="7137400" y="1816100"/>
            <a:ext cx="4241800" cy="0"/>
          </a:xfrm>
          <a:prstGeom prst="line">
            <a:avLst/>
          </a:prstGeom>
          <a:ln w="12700">
            <a:solidFill>
              <a:srgbClr val="3A3834"/>
            </a:solidFill>
          </a:ln>
        </p:spPr>
      </p:cxnSp>
      <p:sp>
        <p:nvSpPr>
          <p:cNvPr id="44" name="TextBox 43"/>
          <p:cNvSpPr txBox="1"/>
          <p:nvPr/>
        </p:nvSpPr>
        <p:spPr>
          <a:xfrm>
            <a:off x="7137400" y="1936750"/>
            <a:ext cx="4835652" cy="406400"/>
          </a:xfrm>
          <a:prstGeom prst="rect">
            <a:avLst/>
          </a:prstGeom>
          <a:noFill/>
        </p:spPr>
        <p:txBody>
          <a:bodyPr wrap="none" tIns="0" rIns="0" bIns="0" lIns="0" anchor="t">
            <a:noAutofit/>
          </a:bodyPr>
          <a:lstStyle/>
          <a:p>
            <a:pPr algn="l">
              <a:lnSpc>
                <a:spcPts val="3200"/>
              </a:lnSpc>
            </a:pPr>
            <a:r>
              <a:rPr sz="3200" b="1">
                <a:solidFill>
                  <a:srgbClr val="E56A1F"/>
                </a:solidFill>
                <a:latin typeface="IBM Plex Sans"/>
              </a:rPr>
              <a:t>≤20</a:t>
            </a:r>
          </a:p>
        </p:txBody>
      </p:sp>
      <p:sp>
        <p:nvSpPr>
          <p:cNvPr id="45" name="TextBox 44"/>
          <p:cNvSpPr txBox="1"/>
          <p:nvPr/>
        </p:nvSpPr>
        <p:spPr>
          <a:xfrm>
            <a:off x="7137400" y="2381250"/>
            <a:ext cx="4369054" cy="41136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logical problem qubits per subproblem; target hardware: IBM Heron class</a:t>
            </a:r>
          </a:p>
        </p:txBody>
      </p:sp>
      <p:cxnSp>
        <p:nvCxnSpPr>
          <p:cNvPr id="46" name="Connector 45"/>
          <p:cNvCxnSpPr/>
          <p:nvPr/>
        </p:nvCxnSpPr>
        <p:spPr>
          <a:xfrm>
            <a:off x="7137400" y="2976761"/>
            <a:ext cx="4241800" cy="0"/>
          </a:xfrm>
          <a:prstGeom prst="line">
            <a:avLst/>
          </a:prstGeom>
          <a:ln w="12700">
            <a:solidFill>
              <a:srgbClr val="3A3834"/>
            </a:solidFill>
          </a:ln>
        </p:spPr>
      </p:cxnSp>
      <p:sp>
        <p:nvSpPr>
          <p:cNvPr id="47" name="TextBox 46"/>
          <p:cNvSpPr txBox="1"/>
          <p:nvPr/>
        </p:nvSpPr>
        <p:spPr>
          <a:xfrm>
            <a:off x="7137400" y="3097411"/>
            <a:ext cx="4835652" cy="406400"/>
          </a:xfrm>
          <a:prstGeom prst="rect">
            <a:avLst/>
          </a:prstGeom>
          <a:noFill/>
        </p:spPr>
        <p:txBody>
          <a:bodyPr wrap="none" tIns="0" rIns="0" bIns="0" lIns="0" anchor="t">
            <a:noAutofit/>
          </a:bodyPr>
          <a:lstStyle/>
          <a:p>
            <a:pPr algn="l">
              <a:lnSpc>
                <a:spcPts val="3200"/>
              </a:lnSpc>
            </a:pPr>
            <a:r>
              <a:rPr sz="3200" b="1">
                <a:solidFill>
                  <a:srgbClr val="F5F2EA"/>
                </a:solidFill>
                <a:latin typeface="IBM Plex Sans"/>
              </a:rPr>
              <a:t>66</a:t>
            </a:r>
          </a:p>
        </p:txBody>
      </p:sp>
      <p:sp>
        <p:nvSpPr>
          <p:cNvPr id="48" name="TextBox 47"/>
          <p:cNvSpPr txBox="1"/>
          <p:nvPr/>
        </p:nvSpPr>
        <p:spPr>
          <a:xfrm>
            <a:off x="7137400" y="3541911"/>
            <a:ext cx="4369054" cy="41136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ZZ terms per QAOA layer in our 12-qubit subproblem: the k-constraint makes it dense</a:t>
            </a:r>
          </a:p>
        </p:txBody>
      </p:sp>
      <p:cxnSp>
        <p:nvCxnSpPr>
          <p:cNvPr id="49" name="Connector 48"/>
          <p:cNvCxnSpPr/>
          <p:nvPr/>
        </p:nvCxnSpPr>
        <p:spPr>
          <a:xfrm>
            <a:off x="7137400" y="4137422"/>
            <a:ext cx="4241800" cy="0"/>
          </a:xfrm>
          <a:prstGeom prst="line">
            <a:avLst/>
          </a:prstGeom>
          <a:ln w="12700">
            <a:solidFill>
              <a:srgbClr val="3A3834"/>
            </a:solidFill>
          </a:ln>
        </p:spPr>
      </p:cxnSp>
      <p:sp>
        <p:nvSpPr>
          <p:cNvPr id="50" name="TextBox 49"/>
          <p:cNvSpPr txBox="1"/>
          <p:nvPr/>
        </p:nvSpPr>
        <p:spPr>
          <a:xfrm>
            <a:off x="7137400" y="4258072"/>
            <a:ext cx="4835652" cy="406400"/>
          </a:xfrm>
          <a:prstGeom prst="rect">
            <a:avLst/>
          </a:prstGeom>
          <a:noFill/>
        </p:spPr>
        <p:txBody>
          <a:bodyPr wrap="none" tIns="0" rIns="0" bIns="0" lIns="0" anchor="t">
            <a:noAutofit/>
          </a:bodyPr>
          <a:lstStyle/>
          <a:p>
            <a:pPr algn="l">
              <a:lnSpc>
                <a:spcPts val="3200"/>
              </a:lnSpc>
            </a:pPr>
            <a:r>
              <a:rPr sz="3200" b="1">
                <a:solidFill>
                  <a:srgbClr val="E7715F"/>
                </a:solidFill>
                <a:latin typeface="IBM Plex Sans"/>
              </a:rPr>
              <a:t>20,000+</a:t>
            </a:r>
          </a:p>
        </p:txBody>
      </p:sp>
      <p:sp>
        <p:nvSpPr>
          <p:cNvPr id="51" name="TextBox 50"/>
          <p:cNvSpPr txBox="1"/>
          <p:nvPr/>
        </p:nvSpPr>
        <p:spPr>
          <a:xfrm>
            <a:off x="7137400" y="4702572"/>
            <a:ext cx="4369054" cy="411361"/>
          </a:xfrm>
          <a:prstGeom prst="rect">
            <a:avLst/>
          </a:prstGeom>
          <a:noFill/>
        </p:spPr>
        <p:txBody>
          <a:bodyPr wrap="square" tIns="0" rIns="0" bIns="0" lIns="0" anchor="t">
            <a:noAutofit/>
          </a:bodyPr>
          <a:lstStyle/>
          <a:p>
            <a:pPr algn="l">
              <a:lnSpc>
                <a:spcPts val="1620"/>
              </a:lnSpc>
            </a:pPr>
            <a:r>
              <a:rPr sz="1200" b="0">
                <a:solidFill>
                  <a:srgbClr val="A9A59C"/>
                </a:solidFill>
                <a:latin typeface="IBM Plex Sans"/>
              </a:rPr>
              <a:t>2-qubit gates when large QAOA is transpiled naively; noise-dominated (arXiv 2607.11637)</a:t>
            </a:r>
          </a:p>
        </p:txBody>
      </p:sp>
      <p:sp>
        <p:nvSpPr>
          <p:cNvPr id="52" name="TextBox 51"/>
          <p:cNvSpPr txBox="1"/>
          <p:nvPr/>
        </p:nvSpPr>
        <p:spPr>
          <a:xfrm>
            <a:off x="7137400" y="5291733"/>
            <a:ext cx="4369054" cy="462161"/>
          </a:xfrm>
          <a:prstGeom prst="rect">
            <a:avLst/>
          </a:prstGeom>
          <a:noFill/>
        </p:spPr>
        <p:txBody>
          <a:bodyPr wrap="square" tIns="0" rIns="0" bIns="0" lIns="0" anchor="t">
            <a:noAutofit/>
          </a:bodyPr>
          <a:lstStyle/>
          <a:p>
            <a:pPr algn="l">
              <a:lnSpc>
                <a:spcPts val="1820"/>
              </a:lnSpc>
            </a:pPr>
            <a:r>
              <a:rPr sz="1300" b="0">
                <a:solidFill>
                  <a:srgbClr val="F5F2EA"/>
                </a:solidFill>
                <a:latin typeface="IBM Plex Sans"/>
              </a:rPr>
              <a:t>Hardware-aware decomposition: problem size is set by measured circuit fidelity, not nominal qubit count.</a:t>
            </a:r>
          </a:p>
        </p:txBody>
      </p:sp>
      <p:sp>
        <p:nvSpPr>
          <p:cNvPr id="53" name="TextBox 52"/>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54" name="TextBox 53"/>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10 · Adaptation</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A closed loop that re-solves only the affected region</a:t>
            </a:r>
          </a:p>
        </p:txBody>
      </p:sp>
      <p:sp>
        <p:nvSpPr>
          <p:cNvPr id="4" name="TextBox 3"/>
          <p:cNvSpPr txBox="1"/>
          <p:nvPr/>
        </p:nvSpPr>
        <p:spPr>
          <a:xfrm>
            <a:off x="812800" y="1809750"/>
            <a:ext cx="347472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T0 · forecast issued</a:t>
            </a:r>
          </a:p>
        </p:txBody>
      </p:sp>
      <p:pic>
        <p:nvPicPr>
          <p:cNvPr id="5" name="Picture 4" descr="image.png"/>
          <p:cNvPicPr>
            <a:picLocks noChangeAspect="1"/>
          </p:cNvPicPr>
          <p:nvPr/>
        </p:nvPicPr>
        <p:blipFill>
          <a:blip r:embed="rId2"/>
          <a:stretch>
            <a:fillRect/>
          </a:stretch>
        </p:blipFill>
        <p:spPr>
          <a:xfrm>
            <a:off x="812800" y="2082800"/>
            <a:ext cx="3048000" cy="2286000"/>
          </a:xfrm>
          <a:prstGeom prst="rect">
            <a:avLst/>
          </a:prstGeom>
        </p:spPr>
      </p:pic>
      <p:sp>
        <p:nvSpPr>
          <p:cNvPr id="6" name="TextBox 5"/>
          <p:cNvSpPr txBox="1"/>
          <p:nvPr/>
        </p:nvSpPr>
        <p:spPr>
          <a:xfrm>
            <a:off x="812800" y="4470400"/>
            <a:ext cx="3474720" cy="196850"/>
          </a:xfrm>
          <a:prstGeom prst="rect">
            <a:avLst/>
          </a:prstGeom>
          <a:noFill/>
        </p:spPr>
        <p:txBody>
          <a:bodyPr wrap="none" tIns="0" rIns="0" bIns="0" lIns="0" anchor="t">
            <a:noAutofit/>
          </a:bodyPr>
          <a:lstStyle/>
          <a:p>
            <a:pPr algn="l">
              <a:lnSpc>
                <a:spcPts val="1560"/>
              </a:lnSpc>
            </a:pPr>
            <a:r>
              <a:rPr sz="1300" b="0">
                <a:solidFill>
                  <a:srgbClr val="A9A59C"/>
                </a:solidFill>
                <a:latin typeface="IBM Plex Sans"/>
              </a:rPr>
              <a:t>Baseline risk; initial solve</a:t>
            </a:r>
          </a:p>
        </p:txBody>
      </p:sp>
      <p:sp>
        <p:nvSpPr>
          <p:cNvPr id="7" name="TextBox 6"/>
          <p:cNvSpPr txBox="1"/>
          <p:nvPr/>
        </p:nvSpPr>
        <p:spPr>
          <a:xfrm>
            <a:off x="4572000" y="1809750"/>
            <a:ext cx="347472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T+6 h · Budameru surge</a:t>
            </a:r>
          </a:p>
        </p:txBody>
      </p:sp>
      <p:pic>
        <p:nvPicPr>
          <p:cNvPr id="8" name="Picture 7" descr="image.png"/>
          <p:cNvPicPr>
            <a:picLocks noChangeAspect="1"/>
          </p:cNvPicPr>
          <p:nvPr/>
        </p:nvPicPr>
        <p:blipFill>
          <a:blip r:embed="rId3"/>
          <a:stretch>
            <a:fillRect/>
          </a:stretch>
        </p:blipFill>
        <p:spPr>
          <a:xfrm>
            <a:off x="4572000" y="2082800"/>
            <a:ext cx="3048000" cy="2286000"/>
          </a:xfrm>
          <a:prstGeom prst="rect">
            <a:avLst/>
          </a:prstGeom>
        </p:spPr>
      </p:pic>
      <p:sp>
        <p:nvSpPr>
          <p:cNvPr id="9" name="TextBox 8"/>
          <p:cNvSpPr txBox="1"/>
          <p:nvPr/>
        </p:nvSpPr>
        <p:spPr>
          <a:xfrm>
            <a:off x="4572000" y="4470400"/>
            <a:ext cx="3474720" cy="196850"/>
          </a:xfrm>
          <a:prstGeom prst="rect">
            <a:avLst/>
          </a:prstGeom>
          <a:noFill/>
        </p:spPr>
        <p:txBody>
          <a:bodyPr wrap="none" tIns="0" rIns="0" bIns="0" lIns="0" anchor="t">
            <a:noAutofit/>
          </a:bodyPr>
          <a:lstStyle/>
          <a:p>
            <a:pPr algn="l">
              <a:lnSpc>
                <a:spcPts val="1560"/>
              </a:lnSpc>
            </a:pPr>
            <a:r>
              <a:rPr sz="1300" b="0">
                <a:solidFill>
                  <a:srgbClr val="A9A59C"/>
                </a:solidFill>
                <a:latin typeface="IBM Plex Sans"/>
              </a:rPr>
              <a:t>Risk shifts north; re-solved</a:t>
            </a:r>
          </a:p>
        </p:txBody>
      </p:sp>
      <p:sp>
        <p:nvSpPr>
          <p:cNvPr id="10" name="TextBox 9"/>
          <p:cNvSpPr txBox="1"/>
          <p:nvPr/>
        </p:nvSpPr>
        <p:spPr>
          <a:xfrm>
            <a:off x="8331200" y="1809750"/>
            <a:ext cx="347472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T+12 h · delta flooding</a:t>
            </a:r>
          </a:p>
        </p:txBody>
      </p:sp>
      <p:pic>
        <p:nvPicPr>
          <p:cNvPr id="11" name="Picture 10" descr="image.png"/>
          <p:cNvPicPr>
            <a:picLocks noChangeAspect="1"/>
          </p:cNvPicPr>
          <p:nvPr/>
        </p:nvPicPr>
        <p:blipFill>
          <a:blip r:embed="rId4"/>
          <a:stretch>
            <a:fillRect/>
          </a:stretch>
        </p:blipFill>
        <p:spPr>
          <a:xfrm>
            <a:off x="8331200" y="2082800"/>
            <a:ext cx="3048000" cy="2286000"/>
          </a:xfrm>
          <a:prstGeom prst="rect">
            <a:avLst/>
          </a:prstGeom>
        </p:spPr>
      </p:pic>
      <p:sp>
        <p:nvSpPr>
          <p:cNvPr id="12" name="TextBox 11"/>
          <p:cNvSpPr txBox="1"/>
          <p:nvPr/>
        </p:nvSpPr>
        <p:spPr>
          <a:xfrm>
            <a:off x="8331200" y="4470400"/>
            <a:ext cx="3474720" cy="196850"/>
          </a:xfrm>
          <a:prstGeom prst="rect">
            <a:avLst/>
          </a:prstGeom>
          <a:noFill/>
        </p:spPr>
        <p:txBody>
          <a:bodyPr wrap="none" tIns="0" rIns="0" bIns="0" lIns="0" anchor="t">
            <a:noAutofit/>
          </a:bodyPr>
          <a:lstStyle/>
          <a:p>
            <a:pPr algn="l">
              <a:lnSpc>
                <a:spcPts val="1560"/>
              </a:lnSpc>
            </a:pPr>
            <a:r>
              <a:rPr sz="1300" b="0">
                <a:solidFill>
                  <a:srgbClr val="A9A59C"/>
                </a:solidFill>
                <a:latin typeface="IBM Plex Sans"/>
              </a:rPr>
              <a:t>Delta at risk; re-solved</a:t>
            </a:r>
          </a:p>
        </p:txBody>
      </p:sp>
      <p:sp>
        <p:nvSpPr>
          <p:cNvPr id="13" name="TextBox 12"/>
          <p:cNvSpPr txBox="1"/>
          <p:nvPr/>
        </p:nvSpPr>
        <p:spPr>
          <a:xfrm>
            <a:off x="812800" y="4972050"/>
            <a:ext cx="3348736" cy="497681"/>
          </a:xfrm>
          <a:prstGeom prst="rect">
            <a:avLst/>
          </a:prstGeom>
          <a:noFill/>
        </p:spPr>
        <p:txBody>
          <a:bodyPr wrap="square" tIns="0" rIns="0" bIns="0" lIns="0" anchor="t">
            <a:noAutofit/>
          </a:bodyPr>
          <a:lstStyle/>
          <a:p>
            <a:pPr algn="l">
              <a:lnSpc>
                <a:spcPts val="1960"/>
              </a:lnSpc>
            </a:pPr>
            <a:r>
              <a:rPr sz="1400" b="1">
                <a:solidFill>
                  <a:srgbClr val="E56A1F"/>
                </a:solidFill>
                <a:latin typeface="IBM Plex Sans"/>
              </a:rPr>
              <a:t>Trigger:</a:t>
            </a:r>
            <a:r>
              <a:rPr sz="1400" b="0">
                <a:solidFill>
                  <a:srgbClr val="F5F2EA"/>
                </a:solidFill>
                <a:latin typeface="IBM Plex Sans"/>
              </a:rPr>
              <a:t> new rainfall, gauge or road data past a threshold</a:t>
            </a:r>
          </a:p>
        </p:txBody>
      </p:sp>
      <p:sp>
        <p:nvSpPr>
          <p:cNvPr id="14" name="TextBox 13"/>
          <p:cNvSpPr txBox="1"/>
          <p:nvPr/>
        </p:nvSpPr>
        <p:spPr>
          <a:xfrm>
            <a:off x="4470400" y="4972050"/>
            <a:ext cx="3348736" cy="497681"/>
          </a:xfrm>
          <a:prstGeom prst="rect">
            <a:avLst/>
          </a:prstGeom>
          <a:noFill/>
        </p:spPr>
        <p:txBody>
          <a:bodyPr wrap="square" tIns="0" rIns="0" bIns="0" lIns="0" anchor="t">
            <a:noAutofit/>
          </a:bodyPr>
          <a:lstStyle/>
          <a:p>
            <a:pPr algn="l">
              <a:lnSpc>
                <a:spcPts val="1960"/>
              </a:lnSpc>
            </a:pPr>
            <a:r>
              <a:rPr sz="1400" b="1">
                <a:solidFill>
                  <a:srgbClr val="E56A1F"/>
                </a:solidFill>
                <a:latin typeface="IBM Plex Sans"/>
              </a:rPr>
              <a:t>Local re-solve:</a:t>
            </a:r>
            <a:r>
              <a:rPr sz="1400" b="0">
                <a:solidFill>
                  <a:srgbClr val="F5F2EA"/>
                </a:solidFill>
                <a:latin typeface="IBM Plex Sans"/>
              </a:rPr>
              <a:t> only subregions whose risk changed go back to the QPU</a:t>
            </a:r>
          </a:p>
        </p:txBody>
      </p:sp>
      <p:sp>
        <p:nvSpPr>
          <p:cNvPr id="15" name="TextBox 14"/>
          <p:cNvSpPr txBox="1"/>
          <p:nvPr/>
        </p:nvSpPr>
        <p:spPr>
          <a:xfrm>
            <a:off x="8128000" y="4972050"/>
            <a:ext cx="3348736" cy="497681"/>
          </a:xfrm>
          <a:prstGeom prst="rect">
            <a:avLst/>
          </a:prstGeom>
          <a:noFill/>
        </p:spPr>
        <p:txBody>
          <a:bodyPr wrap="square" tIns="0" rIns="0" bIns="0" lIns="0" anchor="t">
            <a:noAutofit/>
          </a:bodyPr>
          <a:lstStyle/>
          <a:p>
            <a:pPr algn="l">
              <a:lnSpc>
                <a:spcPts val="1960"/>
              </a:lnSpc>
            </a:pPr>
            <a:r>
              <a:rPr sz="1400" b="1">
                <a:solidFill>
                  <a:srgbClr val="E56A1F"/>
                </a:solidFill>
                <a:latin typeface="IBM Plex Sans"/>
              </a:rPr>
              <a:t>Warm start:</a:t>
            </a:r>
            <a:r>
              <a:rPr sz="1400" b="0">
                <a:solidFill>
                  <a:srgbClr val="F5F2EA"/>
                </a:solidFill>
                <a:latin typeface="IBM Plex Sans"/>
              </a:rPr>
              <a:t> previous γ, β cut optimiser iterations</a:t>
            </a:r>
          </a:p>
        </p:txBody>
      </p:sp>
      <p:sp>
        <p:nvSpPr>
          <p:cNvPr id="16" name="TextBox 15"/>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17" name="TextBox 16"/>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11 · Benchmark</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QAOA reaches 95% of optimum on our instance</a:t>
            </a:r>
          </a:p>
        </p:txBody>
      </p:sp>
      <p:sp>
        <p:nvSpPr>
          <p:cNvPr id="4" name="TextBox 3"/>
          <p:cNvSpPr txBox="1"/>
          <p:nvPr/>
        </p:nvSpPr>
        <p:spPr>
          <a:xfrm>
            <a:off x="812800" y="1809750"/>
            <a:ext cx="6225540" cy="17780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Risk-weighted coverage, same instance, k = 6 units</a:t>
            </a:r>
          </a:p>
        </p:txBody>
      </p:sp>
      <p:sp>
        <p:nvSpPr>
          <p:cNvPr id="5" name="TextBox 4"/>
          <p:cNvSpPr txBox="1"/>
          <p:nvPr/>
        </p:nvSpPr>
        <p:spPr>
          <a:xfrm>
            <a:off x="812800" y="2101850"/>
            <a:ext cx="1485013"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Uniform spacing</a:t>
            </a:r>
          </a:p>
        </p:txBody>
      </p:sp>
      <p:sp>
        <p:nvSpPr>
          <p:cNvPr id="6" name="TextBox 5"/>
          <p:cNvSpPr txBox="1"/>
          <p:nvPr/>
        </p:nvSpPr>
        <p:spPr>
          <a:xfrm>
            <a:off x="5267722" y="2101850"/>
            <a:ext cx="1146929" cy="1968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static plan</a:t>
            </a:r>
          </a:p>
        </p:txBody>
      </p:sp>
      <p:sp>
        <p:nvSpPr>
          <p:cNvPr id="7" name="Rectangle 6"/>
          <p:cNvSpPr/>
          <p:nvPr/>
        </p:nvSpPr>
        <p:spPr>
          <a:xfrm>
            <a:off x="812800" y="2349500"/>
            <a:ext cx="1104900" cy="203200"/>
          </a:xfrm>
          <a:prstGeom prst="rect">
            <a:avLst/>
          </a:prstGeom>
          <a:solidFill>
            <a:srgbClr val="6A665F"/>
          </a:solidFill>
          <a:ln>
            <a:noFill/>
          </a:ln>
        </p:spPr>
        <p:txBody>
          <a:bodyPr rtlCol="0" anchor="ctr"/>
          <a:lstStyle/>
          <a:p>
            <a:pPr algn="ctr"/>
          </a:p>
        </p:txBody>
      </p:sp>
      <p:sp>
        <p:nvSpPr>
          <p:cNvPr id="8" name="TextBox 7"/>
          <p:cNvSpPr txBox="1"/>
          <p:nvPr/>
        </p:nvSpPr>
        <p:spPr>
          <a:xfrm>
            <a:off x="2044700" y="2355850"/>
            <a:ext cx="2033141"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21.8% · ratio 0.35</a:t>
            </a:r>
          </a:p>
        </p:txBody>
      </p:sp>
      <p:sp>
        <p:nvSpPr>
          <p:cNvPr id="9" name="TextBox 8"/>
          <p:cNvSpPr txBox="1"/>
          <p:nvPr/>
        </p:nvSpPr>
        <p:spPr>
          <a:xfrm>
            <a:off x="812800" y="2667000"/>
            <a:ext cx="1485465"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Greedy heuristic</a:t>
            </a:r>
          </a:p>
        </p:txBody>
      </p:sp>
      <p:sp>
        <p:nvSpPr>
          <p:cNvPr id="10" name="TextBox 9"/>
          <p:cNvSpPr txBox="1"/>
          <p:nvPr/>
        </p:nvSpPr>
        <p:spPr>
          <a:xfrm>
            <a:off x="5725021" y="2667000"/>
            <a:ext cx="625608" cy="1968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0.01 s</a:t>
            </a:r>
          </a:p>
        </p:txBody>
      </p:sp>
      <p:sp>
        <p:nvSpPr>
          <p:cNvPr id="11" name="Rectangle 10"/>
          <p:cNvSpPr/>
          <p:nvPr/>
        </p:nvSpPr>
        <p:spPr>
          <a:xfrm>
            <a:off x="812800" y="2914650"/>
            <a:ext cx="3143250" cy="203200"/>
          </a:xfrm>
          <a:prstGeom prst="rect">
            <a:avLst/>
          </a:prstGeom>
          <a:solidFill>
            <a:srgbClr val="6A665F"/>
          </a:solidFill>
          <a:ln>
            <a:noFill/>
          </a:ln>
        </p:spPr>
        <p:txBody>
          <a:bodyPr rtlCol="0" anchor="ctr"/>
          <a:lstStyle/>
          <a:p>
            <a:pPr algn="ctr"/>
          </a:p>
        </p:txBody>
      </p:sp>
      <p:sp>
        <p:nvSpPr>
          <p:cNvPr id="12" name="TextBox 11"/>
          <p:cNvSpPr txBox="1"/>
          <p:nvPr/>
        </p:nvSpPr>
        <p:spPr>
          <a:xfrm>
            <a:off x="4083050" y="2921000"/>
            <a:ext cx="2033141"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61.9% · ratio 1.00</a:t>
            </a:r>
          </a:p>
        </p:txBody>
      </p:sp>
      <p:sp>
        <p:nvSpPr>
          <p:cNvPr id="13" name="TextBox 12"/>
          <p:cNvSpPr txBox="1"/>
          <p:nvPr/>
        </p:nvSpPr>
        <p:spPr>
          <a:xfrm>
            <a:off x="812800" y="3232150"/>
            <a:ext cx="1161520"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Exact search</a:t>
            </a:r>
          </a:p>
        </p:txBody>
      </p:sp>
      <p:sp>
        <p:nvSpPr>
          <p:cNvPr id="14" name="TextBox 13"/>
          <p:cNvSpPr txBox="1"/>
          <p:nvPr/>
        </p:nvSpPr>
        <p:spPr>
          <a:xfrm>
            <a:off x="4353223" y="3232150"/>
            <a:ext cx="2189458" cy="1968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100,947 plans · 0.7 s</a:t>
            </a:r>
          </a:p>
        </p:txBody>
      </p:sp>
      <p:sp>
        <p:nvSpPr>
          <p:cNvPr id="15" name="Rectangle 14"/>
          <p:cNvSpPr/>
          <p:nvPr/>
        </p:nvSpPr>
        <p:spPr>
          <a:xfrm>
            <a:off x="812800" y="3479800"/>
            <a:ext cx="3143250" cy="203200"/>
          </a:xfrm>
          <a:prstGeom prst="rect">
            <a:avLst/>
          </a:prstGeom>
          <a:solidFill>
            <a:srgbClr val="8DB596"/>
          </a:solidFill>
          <a:ln>
            <a:noFill/>
          </a:ln>
        </p:spPr>
        <p:txBody>
          <a:bodyPr rtlCol="0" anchor="ctr"/>
          <a:lstStyle/>
          <a:p>
            <a:pPr algn="ctr"/>
          </a:p>
        </p:txBody>
      </p:sp>
      <p:sp>
        <p:nvSpPr>
          <p:cNvPr id="16" name="TextBox 15"/>
          <p:cNvSpPr txBox="1"/>
          <p:nvPr/>
        </p:nvSpPr>
        <p:spPr>
          <a:xfrm>
            <a:off x="4083050" y="3486150"/>
            <a:ext cx="2033141"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61.9% · ratio 1.00</a:t>
            </a:r>
          </a:p>
        </p:txBody>
      </p:sp>
      <p:sp>
        <p:nvSpPr>
          <p:cNvPr id="17" name="TextBox 16"/>
          <p:cNvSpPr txBox="1"/>
          <p:nvPr/>
        </p:nvSpPr>
        <p:spPr>
          <a:xfrm>
            <a:off x="812800" y="3797300"/>
            <a:ext cx="1849678" cy="196850"/>
          </a:xfrm>
          <a:prstGeom prst="rect">
            <a:avLst/>
          </a:prstGeom>
          <a:noFill/>
        </p:spPr>
        <p:txBody>
          <a:bodyPr wrap="none" tIns="0" rIns="0" bIns="0" lIns="0" anchor="t">
            <a:noAutofit/>
          </a:bodyPr>
          <a:lstStyle/>
          <a:p>
            <a:pPr algn="l">
              <a:lnSpc>
                <a:spcPts val="1560"/>
              </a:lnSpc>
            </a:pPr>
            <a:r>
              <a:rPr sz="1300" b="1">
                <a:solidFill>
                  <a:srgbClr val="F5F2EA"/>
                </a:solidFill>
                <a:latin typeface="IBM Plex Sans"/>
              </a:rPr>
              <a:t>QAOA p=2, ideal sim</a:t>
            </a:r>
          </a:p>
        </p:txBody>
      </p:sp>
      <p:sp>
        <p:nvSpPr>
          <p:cNvPr id="18" name="TextBox 17"/>
          <p:cNvSpPr txBox="1"/>
          <p:nvPr/>
        </p:nvSpPr>
        <p:spPr>
          <a:xfrm>
            <a:off x="4353223" y="3797300"/>
            <a:ext cx="2189458" cy="1968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2 subproblems · 9.4 s</a:t>
            </a:r>
          </a:p>
        </p:txBody>
      </p:sp>
      <p:sp>
        <p:nvSpPr>
          <p:cNvPr id="19" name="Rectangle 18"/>
          <p:cNvSpPr/>
          <p:nvPr/>
        </p:nvSpPr>
        <p:spPr>
          <a:xfrm>
            <a:off x="812800" y="4044950"/>
            <a:ext cx="2990850" cy="203200"/>
          </a:xfrm>
          <a:prstGeom prst="rect">
            <a:avLst/>
          </a:prstGeom>
          <a:solidFill>
            <a:srgbClr val="E56A1F"/>
          </a:solidFill>
          <a:ln>
            <a:noFill/>
          </a:ln>
        </p:spPr>
        <p:txBody>
          <a:bodyPr rtlCol="0" anchor="ctr"/>
          <a:lstStyle/>
          <a:p>
            <a:pPr algn="ctr"/>
          </a:p>
        </p:txBody>
      </p:sp>
      <p:sp>
        <p:nvSpPr>
          <p:cNvPr id="20" name="TextBox 19"/>
          <p:cNvSpPr txBox="1"/>
          <p:nvPr/>
        </p:nvSpPr>
        <p:spPr>
          <a:xfrm>
            <a:off x="3930650" y="4051300"/>
            <a:ext cx="2033141" cy="190500"/>
          </a:xfrm>
          <a:prstGeom prst="rect">
            <a:avLst/>
          </a:prstGeom>
          <a:noFill/>
        </p:spPr>
        <p:txBody>
          <a:bodyPr wrap="none" tIns="0" rIns="0" bIns="0" lIns="0" anchor="t">
            <a:noAutofit/>
          </a:bodyPr>
          <a:lstStyle/>
          <a:p>
            <a:pPr algn="l">
              <a:lnSpc>
                <a:spcPts val="1560"/>
              </a:lnSpc>
            </a:pPr>
            <a:r>
              <a:rPr sz="1300" b="0">
                <a:solidFill>
                  <a:srgbClr val="F5F2EA"/>
                </a:solidFill>
                <a:latin typeface="IBM Plex Mono"/>
              </a:rPr>
              <a:t>58.9% · ratio 0.95</a:t>
            </a:r>
          </a:p>
        </p:txBody>
      </p:sp>
      <p:sp>
        <p:nvSpPr>
          <p:cNvPr id="21" name="TextBox 20"/>
          <p:cNvSpPr txBox="1"/>
          <p:nvPr/>
        </p:nvSpPr>
        <p:spPr>
          <a:xfrm>
            <a:off x="812800" y="4362450"/>
            <a:ext cx="6225540" cy="213320"/>
          </a:xfrm>
          <a:prstGeom prst="rect">
            <a:avLst/>
          </a:prstGeom>
          <a:noFill/>
        </p:spPr>
        <p:txBody>
          <a:bodyPr wrap="none" tIns="0" rIns="0" bIns="0" lIns="0" anchor="t">
            <a:noAutofit/>
          </a:bodyPr>
          <a:lstStyle/>
          <a:p>
            <a:pPr algn="l">
              <a:lnSpc>
                <a:spcPts val="1680"/>
              </a:lnSpc>
            </a:pPr>
            <a:r>
              <a:rPr sz="1200" b="0">
                <a:solidFill>
                  <a:srgbClr val="A9A59C"/>
                </a:solidFill>
                <a:latin typeface="IBM Plex Mono"/>
              </a:rPr>
              <a:t>Krishna-basin grid · 285 cells · 23 sites</a:t>
            </a:r>
          </a:p>
        </p:txBody>
      </p:sp>
      <p:graphicFrame>
        <p:nvGraphicFramePr>
          <p:cNvPr id="22" name="Table 21"/>
          <p:cNvGraphicFramePr>
            <a:graphicFrameLocks noGrp="1"/>
          </p:cNvGraphicFramePr>
          <p:nvPr/>
        </p:nvGraphicFramePr>
        <p:xfrm>
          <a:off x="6883400" y="1809750"/>
          <a:ext cx="4064000" cy="2031802"/>
        </p:xfrm>
        <a:graphic>
          <a:graphicData uri="http://schemas.openxmlformats.org/drawingml/2006/table">
            <a:tbl>
              <a:tblPr firstRow="0" bandRow="0"/>
              <a:tblGrid>
                <a:gridCol w="2032000"/>
                <a:gridCol w="1016000"/>
                <a:gridCol w="1016000"/>
              </a:tblGrid>
              <a:tr h="287536">
                <a:tc>
                  <a:txBody>
                    <a:bodyPr wrap="square"/>
                    <a:lstStyle/>
                    <a:p>
                      <a:pPr algn="l"/>
                      <a:r>
                        <a:rPr sz="1200" b="1">
                          <a:solidFill>
                            <a:srgbClr val="F5F2EA"/>
                          </a:solidFill>
                          <a:latin typeface="IBM Plex Sans"/>
                        </a:rPr>
                        <a:t>QAOA subproblem</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1">
                          <a:solidFill>
                            <a:srgbClr val="F5F2EA"/>
                          </a:solidFill>
                          <a:latin typeface="IBM Plex Sans"/>
                        </a:rPr>
                        <a:t>West</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1">
                          <a:solidFill>
                            <a:srgbClr val="F5F2EA"/>
                          </a:solidFill>
                          <a:latin typeface="IBM Plex Sans"/>
                        </a:rPr>
                        <a:t>East</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Problem qubits</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12</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11</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Units k</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3</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3</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ZZ terms / layer</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66</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55</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Feasible samples</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41.8%</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45.8%</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Random baseline</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5.4%</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F5F2EA"/>
                          </a:solidFill>
                          <a:latin typeface="IBM Plex Sans"/>
                        </a:rPr>
                        <a:t>8.1%</a:t>
                      </a:r>
                    </a:p>
                  </a:txBody>
                  <a:tcPr marL="91440" marR="91440" marT="32004" marB="32004" anchor="ctr">
                    <a:lnL w="0">
                      <a:noFill/>
                    </a:lnL>
                    <a:lnR w="0">
                      <a:noFill/>
                    </a:lnR>
                    <a:lnT w="0">
                      <a:noFill/>
                    </a:lnT>
                    <a:lnB w="6350">
                      <a:solidFill>
                        <a:srgbClr val="3A3834"/>
                      </a:solidFill>
                    </a:lnB>
                    <a:solidFill>
                      <a:srgbClr val="1C1B19"/>
                    </a:solidFill>
                  </a:tcPr>
                </a:tc>
              </a:tr>
              <a:tr h="290711">
                <a:tc>
                  <a:txBody>
                    <a:bodyPr wrap="square"/>
                    <a:lstStyle/>
                    <a:p>
                      <a:pPr algn="l"/>
                      <a:r>
                        <a:rPr sz="1200" b="0">
                          <a:solidFill>
                            <a:srgbClr val="A9A59C"/>
                          </a:solidFill>
                          <a:latin typeface="IBM Plex Sans"/>
                        </a:rPr>
                        <a:t>Hit QUBO optimum</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8DB596"/>
                          </a:solidFill>
                          <a:latin typeface="IBM Plex Sans"/>
                        </a:rPr>
                        <a:t>Yes</a:t>
                      </a:r>
                    </a:p>
                  </a:txBody>
                  <a:tcPr marL="91440" marR="91440" marT="32004" marB="32004" anchor="ctr">
                    <a:lnL w="0">
                      <a:noFill/>
                    </a:lnL>
                    <a:lnR w="0">
                      <a:noFill/>
                    </a:lnR>
                    <a:lnT w="0">
                      <a:noFill/>
                    </a:lnT>
                    <a:lnB w="6350">
                      <a:solidFill>
                        <a:srgbClr val="3A3834"/>
                      </a:solidFill>
                    </a:lnB>
                    <a:solidFill>
                      <a:srgbClr val="1C1B19"/>
                    </a:solidFill>
                  </a:tcPr>
                </a:tc>
                <a:tc>
                  <a:txBody>
                    <a:bodyPr wrap="square"/>
                    <a:lstStyle/>
                    <a:p>
                      <a:pPr algn="r"/>
                      <a:r>
                        <a:rPr sz="1200" b="0">
                          <a:solidFill>
                            <a:srgbClr val="8DB596"/>
                          </a:solidFill>
                          <a:latin typeface="IBM Plex Sans"/>
                        </a:rPr>
                        <a:t>Yes</a:t>
                      </a:r>
                    </a:p>
                  </a:txBody>
                  <a:tcPr marL="91440" marR="91440" marT="32004" marB="32004" anchor="ctr">
                    <a:lnL w="0">
                      <a:noFill/>
                    </a:lnL>
                    <a:lnR w="0">
                      <a:noFill/>
                    </a:lnR>
                    <a:lnT w="0">
                      <a:noFill/>
                    </a:lnT>
                    <a:lnB w="6350">
                      <a:solidFill>
                        <a:srgbClr val="3A3834"/>
                      </a:solidFill>
                    </a:lnB>
                    <a:solidFill>
                      <a:srgbClr val="1C1B19"/>
                    </a:solidFill>
                  </a:tcPr>
                </a:tc>
              </a:tr>
            </a:tbl>
          </a:graphicData>
        </a:graphic>
      </p:graphicFrame>
      <p:sp>
        <p:nvSpPr>
          <p:cNvPr id="23" name="TextBox 22"/>
          <p:cNvSpPr txBox="1"/>
          <p:nvPr/>
        </p:nvSpPr>
        <p:spPr>
          <a:xfrm>
            <a:off x="6883400" y="3997127"/>
            <a:ext cx="4630674" cy="1266627"/>
          </a:xfrm>
          <a:prstGeom prst="rect">
            <a:avLst/>
          </a:prstGeom>
          <a:noFill/>
        </p:spPr>
        <p:txBody>
          <a:bodyPr wrap="square" tIns="0" bIns="0" lIns="0" rIns="0">
            <a:noAutofit/>
          </a:bodyPr>
          <a:lstStyle/>
          <a:p>
            <a:pPr marL="163449" indent="-163449">
              <a:lnSpc>
                <a:spcPts val="1755"/>
              </a:lnSpc>
              <a:buChar char="•"/>
            </a:pPr>
            <a:r>
              <a:rPr sz="1300" b="0">
                <a:solidFill>
                  <a:srgbClr val="A9A59C"/>
                </a:solidFill>
                <a:latin typeface="IBM Plex Sans"/>
              </a:rPr>
              <a:t>QAOA raises feasible plans 7.8× and 5.7× over random sampling</a:t>
            </a:r>
          </a:p>
          <a:p>
            <a:pPr marL="163449" indent="-163449">
              <a:lnSpc>
                <a:spcPts val="1755"/>
              </a:lnSpc>
              <a:spcBef>
                <a:spcPts val="600"/>
              </a:spcBef>
              <a:buChar char="•"/>
            </a:pPr>
            <a:r>
              <a:rPr sz="1300" b="0">
                <a:solidFill>
                  <a:srgbClr val="A9A59C"/>
                </a:solidFill>
                <a:latin typeface="IBM Plex Sans"/>
              </a:rPr>
              <a:t>The 5% gap comes from the pairwise QUBO and regional split, not the sampler</a:t>
            </a:r>
          </a:p>
          <a:p>
            <a:pPr marL="163449" indent="-163449">
              <a:lnSpc>
                <a:spcPts val="1755"/>
              </a:lnSpc>
              <a:spcBef>
                <a:spcPts val="600"/>
              </a:spcBef>
              <a:buChar char="•"/>
            </a:pPr>
            <a:r>
              <a:rPr sz="1300" b="0">
                <a:solidFill>
                  <a:srgbClr val="A9A59C"/>
                </a:solidFill>
                <a:latin typeface="IBM Plex Sans"/>
              </a:rPr>
              <a:t>Greedy is optimal here: no quantum advantage claimed</a:t>
            </a:r>
          </a:p>
        </p:txBody>
      </p:sp>
      <p:sp>
        <p:nvSpPr>
          <p:cNvPr id="24" name="TextBox 23"/>
          <p:cNvSpPr txBox="1"/>
          <p:nvPr/>
        </p:nvSpPr>
        <p:spPr>
          <a:xfrm>
            <a:off x="812800" y="5568553"/>
            <a:ext cx="12045696" cy="231080"/>
          </a:xfrm>
          <a:prstGeom prst="rect">
            <a:avLst/>
          </a:prstGeom>
          <a:noFill/>
        </p:spPr>
        <p:txBody>
          <a:bodyPr wrap="none" tIns="0" rIns="0" bIns="0" lIns="0" anchor="t">
            <a:noAutofit/>
          </a:bodyPr>
          <a:lstStyle/>
          <a:p>
            <a:pPr algn="l">
              <a:lnSpc>
                <a:spcPts val="1820"/>
              </a:lnSpc>
            </a:pPr>
            <a:r>
              <a:rPr sz="1300" b="1">
                <a:solidFill>
                  <a:srgbClr val="E56A1F"/>
                </a:solidFill>
                <a:latin typeface="IBM Plex Sans"/>
              </a:rPr>
              <a:t>Hardware step:</a:t>
            </a:r>
            <a:r>
              <a:rPr sz="1300" b="0">
                <a:solidFill>
                  <a:srgbClr val="F5F2EA"/>
                </a:solidFill>
                <a:latin typeface="IBM Plex Sans"/>
              </a:rPr>
              <a:t> the same circuits run on IBM Heron via </a:t>
            </a:r>
            <a:r>
              <a:rPr sz="1300" b="0">
                <a:solidFill>
                  <a:srgbClr val="E56A1F"/>
                </a:solidFill>
                <a:latin typeface="IBM Plex Sans"/>
              </a:rPr>
              <a:t>benchmark/run_ibm.py</a:t>
            </a:r>
            <a:r>
              <a:rPr sz="1300" b="0">
                <a:solidFill>
                  <a:srgbClr val="F5F2EA"/>
                </a:solidFill>
                <a:latin typeface="IBM Plex Sans"/>
              </a:rPr>
              <a:t> (transferred angles, 4,096 shots, job IDs logged).</a:t>
            </a:r>
          </a:p>
        </p:txBody>
      </p:sp>
      <p:sp>
        <p:nvSpPr>
          <p:cNvPr id="25" name="TextBox 24"/>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26" name="TextBox 25"/>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12 · Demo</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The operator view: a map, a QPU job, a plan</a:t>
            </a:r>
          </a:p>
        </p:txBody>
      </p:sp>
      <p:sp>
        <p:nvSpPr>
          <p:cNvPr id="4" name="Rectangle 3"/>
          <p:cNvSpPr/>
          <p:nvPr/>
        </p:nvSpPr>
        <p:spPr>
          <a:xfrm>
            <a:off x="812800" y="1809750"/>
            <a:ext cx="10566400" cy="3416300"/>
          </a:xfrm>
          <a:prstGeom prst="rect">
            <a:avLst/>
          </a:prstGeom>
          <a:solidFill>
            <a:srgbClr val="262522"/>
          </a:solidFill>
          <a:ln w="12700">
            <a:solidFill>
              <a:srgbClr val="3A3834"/>
            </a:solidFill>
          </a:ln>
        </p:spPr>
        <p:txBody>
          <a:bodyPr rtlCol="0" anchor="ctr"/>
          <a:lstStyle/>
          <a:p>
            <a:pPr algn="ctr"/>
          </a:p>
        </p:txBody>
      </p:sp>
      <p:sp>
        <p:nvSpPr>
          <p:cNvPr id="5" name="Rectangle 4"/>
          <p:cNvSpPr/>
          <p:nvPr/>
        </p:nvSpPr>
        <p:spPr>
          <a:xfrm>
            <a:off x="825500" y="1822450"/>
            <a:ext cx="10541000" cy="323850"/>
          </a:xfrm>
          <a:prstGeom prst="rect">
            <a:avLst/>
          </a:prstGeom>
          <a:solidFill>
            <a:srgbClr val="11100F"/>
          </a:solidFill>
          <a:ln>
            <a:noFill/>
          </a:ln>
        </p:spPr>
        <p:txBody>
          <a:bodyPr rtlCol="0" anchor="ctr"/>
          <a:lstStyle/>
          <a:p>
            <a:pPr algn="ctr"/>
          </a:p>
        </p:txBody>
      </p:sp>
      <p:sp>
        <p:nvSpPr>
          <p:cNvPr id="6" name="TextBox 5"/>
          <p:cNvSpPr txBox="1"/>
          <p:nvPr/>
        </p:nvSpPr>
        <p:spPr>
          <a:xfrm>
            <a:off x="977900" y="1898650"/>
            <a:ext cx="3023527"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Q-ADR console · Krishna basin</a:t>
            </a:r>
          </a:p>
        </p:txBody>
      </p:sp>
      <p:sp>
        <p:nvSpPr>
          <p:cNvPr id="7" name="TextBox 6"/>
          <p:cNvSpPr txBox="1"/>
          <p:nvPr/>
        </p:nvSpPr>
        <p:spPr>
          <a:xfrm>
            <a:off x="9202043" y="1898650"/>
            <a:ext cx="2293745" cy="171450"/>
          </a:xfrm>
          <a:prstGeom prst="rect">
            <a:avLst/>
          </a:prstGeom>
          <a:noFill/>
        </p:spPr>
        <p:txBody>
          <a:bodyPr wrap="none" tIns="0" rIns="0" bIns="0" lIns="0" anchor="t">
            <a:noAutofit/>
          </a:bodyPr>
          <a:lstStyle/>
          <a:p>
            <a:pPr algn="l">
              <a:lnSpc>
                <a:spcPts val="1439"/>
              </a:lnSpc>
            </a:pPr>
            <a:r>
              <a:rPr sz="1200" b="0">
                <a:solidFill>
                  <a:srgbClr val="8DB596"/>
                </a:solidFill>
                <a:latin typeface="IBM Plex Mono"/>
              </a:rPr>
              <a:t>● Qiskit Runtime ready</a:t>
            </a:r>
          </a:p>
        </p:txBody>
      </p:sp>
      <p:pic>
        <p:nvPicPr>
          <p:cNvPr id="8" name="Picture 7" descr="image.png"/>
          <p:cNvPicPr>
            <a:picLocks noChangeAspect="1"/>
          </p:cNvPicPr>
          <p:nvPr/>
        </p:nvPicPr>
        <p:blipFill>
          <a:blip r:embed="rId2"/>
          <a:stretch>
            <a:fillRect/>
          </a:stretch>
        </p:blipFill>
        <p:spPr>
          <a:xfrm>
            <a:off x="977900" y="2298700"/>
            <a:ext cx="3683000" cy="2762250"/>
          </a:xfrm>
          <a:prstGeom prst="rect">
            <a:avLst/>
          </a:prstGeom>
        </p:spPr>
      </p:pic>
      <p:sp>
        <p:nvSpPr>
          <p:cNvPr id="9" name="TextBox 8"/>
          <p:cNvSpPr txBox="1"/>
          <p:nvPr/>
        </p:nvSpPr>
        <p:spPr>
          <a:xfrm>
            <a:off x="4914900" y="2298700"/>
            <a:ext cx="7181088" cy="215900"/>
          </a:xfrm>
          <a:prstGeom prst="rect">
            <a:avLst/>
          </a:prstGeom>
          <a:noFill/>
        </p:spPr>
        <p:txBody>
          <a:bodyPr wrap="none" tIns="0" rIns="0" bIns="0" lIns="0" anchor="t">
            <a:noAutofit/>
          </a:bodyPr>
          <a:lstStyle/>
          <a:p>
            <a:pPr algn="l">
              <a:lnSpc>
                <a:spcPts val="1800"/>
              </a:lnSpc>
            </a:pPr>
            <a:r>
              <a:rPr sz="1500" b="1">
                <a:solidFill>
                  <a:srgbClr val="F5F2EA"/>
                </a:solidFill>
                <a:latin typeface="IBM Plex Sans"/>
              </a:rPr>
              <a:t>Quantum job</a:t>
            </a:r>
          </a:p>
        </p:txBody>
      </p:sp>
      <p:sp>
        <p:nvSpPr>
          <p:cNvPr id="10" name="TextBox 9"/>
          <p:cNvSpPr txBox="1"/>
          <p:nvPr/>
        </p:nvSpPr>
        <p:spPr>
          <a:xfrm>
            <a:off x="4914900" y="2616200"/>
            <a:ext cx="521321"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Event</a:t>
            </a:r>
          </a:p>
        </p:txBody>
      </p:sp>
      <p:sp>
        <p:nvSpPr>
          <p:cNvPr id="11" name="TextBox 10"/>
          <p:cNvSpPr txBox="1"/>
          <p:nvPr/>
        </p:nvSpPr>
        <p:spPr>
          <a:xfrm>
            <a:off x="9385002" y="2616200"/>
            <a:ext cx="2085171"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T0 · forecast issued</a:t>
            </a:r>
          </a:p>
        </p:txBody>
      </p:sp>
      <p:cxnSp>
        <p:nvCxnSpPr>
          <p:cNvPr id="12" name="Connector 11"/>
          <p:cNvCxnSpPr/>
          <p:nvPr/>
        </p:nvCxnSpPr>
        <p:spPr>
          <a:xfrm>
            <a:off x="4914900" y="2892425"/>
            <a:ext cx="6299200" cy="0"/>
          </a:xfrm>
          <a:prstGeom prst="line">
            <a:avLst/>
          </a:prstGeom>
          <a:ln w="6350">
            <a:solidFill>
              <a:srgbClr val="3A3834"/>
            </a:solidFill>
          </a:ln>
        </p:spPr>
      </p:cxnSp>
      <p:sp>
        <p:nvSpPr>
          <p:cNvPr id="13" name="TextBox 12"/>
          <p:cNvSpPr txBox="1"/>
          <p:nvPr/>
        </p:nvSpPr>
        <p:spPr>
          <a:xfrm>
            <a:off x="4914900" y="2946400"/>
            <a:ext cx="6256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Solver</a:t>
            </a:r>
          </a:p>
        </p:txBody>
      </p:sp>
      <p:sp>
        <p:nvSpPr>
          <p:cNvPr id="14" name="TextBox 13"/>
          <p:cNvSpPr txBox="1"/>
          <p:nvPr/>
        </p:nvSpPr>
        <p:spPr>
          <a:xfrm>
            <a:off x="8836223" y="2946400"/>
            <a:ext cx="2710779"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QAOA p = 2 · 2 subproblems</a:t>
            </a:r>
          </a:p>
        </p:txBody>
      </p:sp>
      <p:cxnSp>
        <p:nvCxnSpPr>
          <p:cNvPr id="15" name="Connector 14"/>
          <p:cNvCxnSpPr/>
          <p:nvPr/>
        </p:nvCxnSpPr>
        <p:spPr>
          <a:xfrm>
            <a:off x="4914900" y="3222625"/>
            <a:ext cx="6299200" cy="0"/>
          </a:xfrm>
          <a:prstGeom prst="line">
            <a:avLst/>
          </a:prstGeom>
          <a:ln w="6350">
            <a:solidFill>
              <a:srgbClr val="3A3834"/>
            </a:solidFill>
          </a:ln>
        </p:spPr>
      </p:cxnSp>
      <p:sp>
        <p:nvSpPr>
          <p:cNvPr id="16" name="TextBox 15"/>
          <p:cNvSpPr txBox="1"/>
          <p:nvPr/>
        </p:nvSpPr>
        <p:spPr>
          <a:xfrm>
            <a:off x="4914900" y="3276600"/>
            <a:ext cx="1459676"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Problem qubits</a:t>
            </a:r>
          </a:p>
        </p:txBody>
      </p:sp>
      <p:sp>
        <p:nvSpPr>
          <p:cNvPr id="17" name="TextBox 16"/>
          <p:cNvSpPr txBox="1"/>
          <p:nvPr/>
        </p:nvSpPr>
        <p:spPr>
          <a:xfrm>
            <a:off x="10573841" y="3276600"/>
            <a:ext cx="729895"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12 + 11</a:t>
            </a:r>
          </a:p>
        </p:txBody>
      </p:sp>
      <p:cxnSp>
        <p:nvCxnSpPr>
          <p:cNvPr id="18" name="Connector 17"/>
          <p:cNvCxnSpPr/>
          <p:nvPr/>
        </p:nvCxnSpPr>
        <p:spPr>
          <a:xfrm>
            <a:off x="4914900" y="3552825"/>
            <a:ext cx="6299200" cy="0"/>
          </a:xfrm>
          <a:prstGeom prst="line">
            <a:avLst/>
          </a:prstGeom>
          <a:ln w="6350">
            <a:solidFill>
              <a:srgbClr val="3A3834"/>
            </a:solidFill>
          </a:ln>
        </p:spPr>
      </p:cxnSp>
      <p:sp>
        <p:nvSpPr>
          <p:cNvPr id="19" name="TextBox 18"/>
          <p:cNvSpPr txBox="1"/>
          <p:nvPr/>
        </p:nvSpPr>
        <p:spPr>
          <a:xfrm>
            <a:off x="4914900" y="3606800"/>
            <a:ext cx="521321"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Shots</a:t>
            </a:r>
          </a:p>
        </p:txBody>
      </p:sp>
      <p:sp>
        <p:nvSpPr>
          <p:cNvPr id="20" name="TextBox 19"/>
          <p:cNvSpPr txBox="1"/>
          <p:nvPr/>
        </p:nvSpPr>
        <p:spPr>
          <a:xfrm>
            <a:off x="9385002" y="3606800"/>
            <a:ext cx="2085171"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4,096 per subproblem</a:t>
            </a:r>
          </a:p>
        </p:txBody>
      </p:sp>
      <p:cxnSp>
        <p:nvCxnSpPr>
          <p:cNvPr id="21" name="Connector 20"/>
          <p:cNvCxnSpPr/>
          <p:nvPr/>
        </p:nvCxnSpPr>
        <p:spPr>
          <a:xfrm>
            <a:off x="4914900" y="3883025"/>
            <a:ext cx="6299200" cy="0"/>
          </a:xfrm>
          <a:prstGeom prst="line">
            <a:avLst/>
          </a:prstGeom>
          <a:ln w="6350">
            <a:solidFill>
              <a:srgbClr val="3A3834"/>
            </a:solidFill>
          </a:ln>
        </p:spPr>
      </p:cxnSp>
      <p:sp>
        <p:nvSpPr>
          <p:cNvPr id="22" name="TextBox 21"/>
          <p:cNvSpPr txBox="1"/>
          <p:nvPr/>
        </p:nvSpPr>
        <p:spPr>
          <a:xfrm>
            <a:off x="4914900" y="3937000"/>
            <a:ext cx="1668137"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Feasible samples</a:t>
            </a:r>
          </a:p>
        </p:txBody>
      </p:sp>
      <p:sp>
        <p:nvSpPr>
          <p:cNvPr id="23" name="TextBox 22"/>
          <p:cNvSpPr txBox="1"/>
          <p:nvPr/>
        </p:nvSpPr>
        <p:spPr>
          <a:xfrm>
            <a:off x="10025162" y="3937000"/>
            <a:ext cx="135539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41.8% / 45.8%</a:t>
            </a:r>
          </a:p>
        </p:txBody>
      </p:sp>
      <p:cxnSp>
        <p:nvCxnSpPr>
          <p:cNvPr id="24" name="Connector 23"/>
          <p:cNvCxnSpPr/>
          <p:nvPr/>
        </p:nvCxnSpPr>
        <p:spPr>
          <a:xfrm>
            <a:off x="4914900" y="4213225"/>
            <a:ext cx="6299200" cy="0"/>
          </a:xfrm>
          <a:prstGeom prst="line">
            <a:avLst/>
          </a:prstGeom>
          <a:ln w="6350">
            <a:solidFill>
              <a:srgbClr val="3A3834"/>
            </a:solidFill>
          </a:ln>
        </p:spPr>
      </p:cxnSp>
      <p:sp>
        <p:nvSpPr>
          <p:cNvPr id="25" name="TextBox 24"/>
          <p:cNvSpPr txBox="1"/>
          <p:nvPr/>
        </p:nvSpPr>
        <p:spPr>
          <a:xfrm>
            <a:off x="4914900" y="4267200"/>
            <a:ext cx="625608"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Status</a:t>
            </a:r>
          </a:p>
        </p:txBody>
      </p:sp>
      <p:sp>
        <p:nvSpPr>
          <p:cNvPr id="26" name="TextBox 25"/>
          <p:cNvSpPr txBox="1"/>
          <p:nvPr/>
        </p:nvSpPr>
        <p:spPr>
          <a:xfrm>
            <a:off x="10299502" y="4267200"/>
            <a:ext cx="1042642" cy="171450"/>
          </a:xfrm>
          <a:prstGeom prst="rect">
            <a:avLst/>
          </a:prstGeom>
          <a:noFill/>
        </p:spPr>
        <p:txBody>
          <a:bodyPr wrap="none" tIns="0" rIns="0" bIns="0" lIns="0" anchor="t">
            <a:noAutofit/>
          </a:bodyPr>
          <a:lstStyle/>
          <a:p>
            <a:pPr algn="l">
              <a:lnSpc>
                <a:spcPts val="1439"/>
              </a:lnSpc>
            </a:pPr>
            <a:r>
              <a:rPr sz="1200" b="0">
                <a:solidFill>
                  <a:srgbClr val="8DB596"/>
                </a:solidFill>
                <a:latin typeface="IBM Plex Mono"/>
              </a:rPr>
              <a:t>Plan ready</a:t>
            </a:r>
          </a:p>
        </p:txBody>
      </p:sp>
      <p:sp>
        <p:nvSpPr>
          <p:cNvPr id="27" name="TextBox 26"/>
          <p:cNvSpPr txBox="1"/>
          <p:nvPr/>
        </p:nvSpPr>
        <p:spPr>
          <a:xfrm>
            <a:off x="4914900" y="4540250"/>
            <a:ext cx="7181088" cy="196850"/>
          </a:xfrm>
          <a:prstGeom prst="rect">
            <a:avLst/>
          </a:prstGeom>
          <a:noFill/>
        </p:spPr>
        <p:txBody>
          <a:bodyPr wrap="none" tIns="0" rIns="0" bIns="0" lIns="0" anchor="t">
            <a:noAutofit/>
          </a:bodyPr>
          <a:lstStyle/>
          <a:p>
            <a:pPr algn="l">
              <a:lnSpc>
                <a:spcPts val="1560"/>
              </a:lnSpc>
            </a:pPr>
            <a:r>
              <a:rPr sz="1300" b="0">
                <a:solidFill>
                  <a:srgbClr val="A9A59C"/>
                </a:solidFill>
                <a:latin typeface="IBM Plex Sans"/>
              </a:rPr>
              <a:t>6 units placed · 58.9% risk-weighted coverage</a:t>
            </a:r>
          </a:p>
        </p:txBody>
      </p:sp>
      <p:sp>
        <p:nvSpPr>
          <p:cNvPr id="28" name="TextBox 27"/>
          <p:cNvSpPr txBox="1"/>
          <p:nvPr/>
        </p:nvSpPr>
        <p:spPr>
          <a:xfrm>
            <a:off x="812800" y="5530850"/>
            <a:ext cx="278023" cy="222250"/>
          </a:xfrm>
          <a:prstGeom prst="rect">
            <a:avLst/>
          </a:prstGeom>
          <a:solidFill>
            <a:srgbClr val="E56A1F"/>
          </a:solidFill>
        </p:spPr>
        <p:txBody>
          <a:bodyPr wrap="none" tIns="25400" rIns="76200" bIns="25400" lIns="76200" anchor="t">
            <a:noAutofit/>
          </a:bodyPr>
          <a:lstStyle/>
          <a:p>
            <a:pPr algn="l">
              <a:lnSpc>
                <a:spcPts val="1439"/>
              </a:lnSpc>
            </a:pPr>
            <a:r>
              <a:rPr sz="1200" b="0">
                <a:solidFill>
                  <a:srgbClr val="171717"/>
                </a:solidFill>
                <a:latin typeface="IBM Plex Mono"/>
              </a:rPr>
              <a:t>1</a:t>
            </a:r>
          </a:p>
        </p:txBody>
      </p:sp>
      <p:sp>
        <p:nvSpPr>
          <p:cNvPr id="29" name="TextBox 28"/>
          <p:cNvSpPr txBox="1"/>
          <p:nvPr/>
        </p:nvSpPr>
        <p:spPr>
          <a:xfrm>
            <a:off x="1158280" y="5543550"/>
            <a:ext cx="1266146" cy="196850"/>
          </a:xfrm>
          <a:prstGeom prst="rect">
            <a:avLst/>
          </a:prstGeom>
          <a:noFill/>
        </p:spPr>
        <p:txBody>
          <a:bodyPr wrap="none" tIns="0" rIns="0" bIns="0" lIns="0" anchor="t">
            <a:noAutofit/>
          </a:bodyPr>
          <a:lstStyle/>
          <a:p>
            <a:pPr algn="l">
              <a:lnSpc>
                <a:spcPts val="1560"/>
              </a:lnSpc>
            </a:pPr>
            <a:r>
              <a:rPr sz="1300" b="0">
                <a:solidFill>
                  <a:srgbClr val="F5F2EA"/>
                </a:solidFill>
                <a:latin typeface="IBM Plex Sans"/>
              </a:rPr>
              <a:t>Load live event</a:t>
            </a:r>
          </a:p>
        </p:txBody>
      </p:sp>
      <p:sp>
        <p:nvSpPr>
          <p:cNvPr id="30" name="TextBox 29"/>
          <p:cNvSpPr txBox="1"/>
          <p:nvPr/>
        </p:nvSpPr>
        <p:spPr>
          <a:xfrm>
            <a:off x="3492500" y="5530850"/>
            <a:ext cx="278023" cy="222250"/>
          </a:xfrm>
          <a:prstGeom prst="rect">
            <a:avLst/>
          </a:prstGeom>
          <a:solidFill>
            <a:srgbClr val="E56A1F"/>
          </a:solidFill>
        </p:spPr>
        <p:txBody>
          <a:bodyPr wrap="none" tIns="25400" rIns="76200" bIns="25400" lIns="76200" anchor="t">
            <a:noAutofit/>
          </a:bodyPr>
          <a:lstStyle/>
          <a:p>
            <a:pPr algn="l">
              <a:lnSpc>
                <a:spcPts val="1439"/>
              </a:lnSpc>
            </a:pPr>
            <a:r>
              <a:rPr sz="1200" b="0">
                <a:solidFill>
                  <a:srgbClr val="171717"/>
                </a:solidFill>
                <a:latin typeface="IBM Plex Mono"/>
              </a:rPr>
              <a:t>2</a:t>
            </a:r>
          </a:p>
        </p:txBody>
      </p:sp>
      <p:sp>
        <p:nvSpPr>
          <p:cNvPr id="31" name="TextBox 30"/>
          <p:cNvSpPr txBox="1"/>
          <p:nvPr/>
        </p:nvSpPr>
        <p:spPr>
          <a:xfrm>
            <a:off x="3837980" y="5543550"/>
            <a:ext cx="836670" cy="196850"/>
          </a:xfrm>
          <a:prstGeom prst="rect">
            <a:avLst/>
          </a:prstGeom>
          <a:noFill/>
        </p:spPr>
        <p:txBody>
          <a:bodyPr wrap="none" tIns="0" rIns="0" bIns="0" lIns="0" anchor="t">
            <a:noAutofit/>
          </a:bodyPr>
          <a:lstStyle/>
          <a:p>
            <a:pPr algn="l">
              <a:lnSpc>
                <a:spcPts val="1560"/>
              </a:lnSpc>
            </a:pPr>
            <a:r>
              <a:rPr sz="1300" b="0">
                <a:solidFill>
                  <a:srgbClr val="F5F2EA"/>
                </a:solidFill>
                <a:latin typeface="IBM Plex Sans"/>
              </a:rPr>
              <a:t>Score risk</a:t>
            </a:r>
          </a:p>
        </p:txBody>
      </p:sp>
      <p:sp>
        <p:nvSpPr>
          <p:cNvPr id="32" name="TextBox 31"/>
          <p:cNvSpPr txBox="1"/>
          <p:nvPr/>
        </p:nvSpPr>
        <p:spPr>
          <a:xfrm>
            <a:off x="6172200" y="5530850"/>
            <a:ext cx="278023" cy="222250"/>
          </a:xfrm>
          <a:prstGeom prst="rect">
            <a:avLst/>
          </a:prstGeom>
          <a:solidFill>
            <a:srgbClr val="E56A1F"/>
          </a:solidFill>
        </p:spPr>
        <p:txBody>
          <a:bodyPr wrap="none" tIns="25400" rIns="76200" bIns="25400" lIns="76200" anchor="t">
            <a:noAutofit/>
          </a:bodyPr>
          <a:lstStyle/>
          <a:p>
            <a:pPr algn="l">
              <a:lnSpc>
                <a:spcPts val="1439"/>
              </a:lnSpc>
            </a:pPr>
            <a:r>
              <a:rPr sz="1200" b="0">
                <a:solidFill>
                  <a:srgbClr val="171717"/>
                </a:solidFill>
                <a:latin typeface="IBM Plex Mono"/>
              </a:rPr>
              <a:t>3</a:t>
            </a:r>
          </a:p>
        </p:txBody>
      </p:sp>
      <p:sp>
        <p:nvSpPr>
          <p:cNvPr id="33" name="TextBox 32"/>
          <p:cNvSpPr txBox="1"/>
          <p:nvPr/>
        </p:nvSpPr>
        <p:spPr>
          <a:xfrm>
            <a:off x="6517680" y="5543550"/>
            <a:ext cx="1506617" cy="196850"/>
          </a:xfrm>
          <a:prstGeom prst="rect">
            <a:avLst/>
          </a:prstGeom>
          <a:noFill/>
        </p:spPr>
        <p:txBody>
          <a:bodyPr wrap="none" tIns="0" rIns="0" bIns="0" lIns="0" anchor="t">
            <a:noAutofit/>
          </a:bodyPr>
          <a:lstStyle/>
          <a:p>
            <a:pPr algn="l">
              <a:lnSpc>
                <a:spcPts val="1560"/>
              </a:lnSpc>
            </a:pPr>
            <a:r>
              <a:rPr sz="1300" b="0">
                <a:solidFill>
                  <a:srgbClr val="F5F2EA"/>
                </a:solidFill>
                <a:latin typeface="IBM Plex Sans"/>
              </a:rPr>
              <a:t>Solve on the QPU</a:t>
            </a:r>
          </a:p>
        </p:txBody>
      </p:sp>
      <p:sp>
        <p:nvSpPr>
          <p:cNvPr id="34" name="TextBox 33"/>
          <p:cNvSpPr txBox="1"/>
          <p:nvPr/>
        </p:nvSpPr>
        <p:spPr>
          <a:xfrm>
            <a:off x="8851900" y="5530850"/>
            <a:ext cx="278023" cy="222250"/>
          </a:xfrm>
          <a:prstGeom prst="rect">
            <a:avLst/>
          </a:prstGeom>
          <a:solidFill>
            <a:srgbClr val="E56A1F"/>
          </a:solidFill>
        </p:spPr>
        <p:txBody>
          <a:bodyPr wrap="none" tIns="25400" rIns="76200" bIns="25400" lIns="76200" anchor="t">
            <a:noAutofit/>
          </a:bodyPr>
          <a:lstStyle/>
          <a:p>
            <a:pPr algn="l">
              <a:lnSpc>
                <a:spcPts val="1439"/>
              </a:lnSpc>
            </a:pPr>
            <a:r>
              <a:rPr sz="1200" b="0">
                <a:solidFill>
                  <a:srgbClr val="171717"/>
                </a:solidFill>
                <a:latin typeface="IBM Plex Mono"/>
              </a:rPr>
              <a:t>4</a:t>
            </a:r>
          </a:p>
        </p:txBody>
      </p:sp>
      <p:sp>
        <p:nvSpPr>
          <p:cNvPr id="35" name="TextBox 34"/>
          <p:cNvSpPr txBox="1"/>
          <p:nvPr/>
        </p:nvSpPr>
        <p:spPr>
          <a:xfrm>
            <a:off x="9197380" y="5543550"/>
            <a:ext cx="1548807" cy="196850"/>
          </a:xfrm>
          <a:prstGeom prst="rect">
            <a:avLst/>
          </a:prstGeom>
          <a:noFill/>
        </p:spPr>
        <p:txBody>
          <a:bodyPr wrap="none" tIns="0" rIns="0" bIns="0" lIns="0" anchor="t">
            <a:noAutofit/>
          </a:bodyPr>
          <a:lstStyle/>
          <a:p>
            <a:pPr algn="l">
              <a:lnSpc>
                <a:spcPts val="1560"/>
              </a:lnSpc>
            </a:pPr>
            <a:r>
              <a:rPr sz="1300" b="0">
                <a:solidFill>
                  <a:srgbClr val="F5F2EA"/>
                </a:solidFill>
                <a:latin typeface="IBM Plex Sans"/>
              </a:rPr>
              <a:t>Re-plan on update</a:t>
            </a:r>
          </a:p>
        </p:txBody>
      </p:sp>
      <p:sp>
        <p:nvSpPr>
          <p:cNvPr id="36" name="TextBox 35"/>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37" name="TextBox 36"/>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12045696"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13 · Contribution and limits</a:t>
            </a:r>
          </a:p>
        </p:txBody>
      </p:sp>
      <p:sp>
        <p:nvSpPr>
          <p:cNvPr id="3" name="TextBox 2"/>
          <p:cNvSpPr txBox="1"/>
          <p:nvPr/>
        </p:nvSpPr>
        <p:spPr>
          <a:xfrm>
            <a:off x="812800" y="1085850"/>
            <a:ext cx="12045696" cy="419100"/>
          </a:xfrm>
          <a:prstGeom prst="rect">
            <a:avLst/>
          </a:prstGeom>
          <a:noFill/>
        </p:spPr>
        <p:txBody>
          <a:bodyPr wrap="none" tIns="0" rIns="0" bIns="0" lIns="0" anchor="t">
            <a:noAutofit/>
          </a:bodyPr>
          <a:lstStyle/>
          <a:p>
            <a:pPr algn="l">
              <a:lnSpc>
                <a:spcPts val="3300"/>
              </a:lnSpc>
            </a:pPr>
            <a:r>
              <a:rPr sz="3000" b="1">
                <a:solidFill>
                  <a:srgbClr val="F5F2EA"/>
                </a:solidFill>
                <a:latin typeface="IBM Plex Sans"/>
              </a:rPr>
              <a:t>A quantum-compatible, hardware-executed pipeline</a:t>
            </a:r>
          </a:p>
        </p:txBody>
      </p:sp>
      <p:cxnSp>
        <p:nvCxnSpPr>
          <p:cNvPr id="4" name="Connector 3"/>
          <p:cNvCxnSpPr/>
          <p:nvPr/>
        </p:nvCxnSpPr>
        <p:spPr>
          <a:xfrm>
            <a:off x="812800" y="1822450"/>
            <a:ext cx="3251200" cy="0"/>
          </a:xfrm>
          <a:prstGeom prst="line">
            <a:avLst/>
          </a:prstGeom>
          <a:ln w="25400">
            <a:solidFill>
              <a:srgbClr val="E56A1F"/>
            </a:solidFill>
          </a:ln>
        </p:spPr>
      </p:cxnSp>
      <p:sp>
        <p:nvSpPr>
          <p:cNvPr id="5" name="TextBox 4"/>
          <p:cNvSpPr txBox="1"/>
          <p:nvPr/>
        </p:nvSpPr>
        <p:spPr>
          <a:xfrm>
            <a:off x="812800" y="1987550"/>
            <a:ext cx="3706368" cy="247650"/>
          </a:xfrm>
          <a:prstGeom prst="rect">
            <a:avLst/>
          </a:prstGeom>
          <a:noFill/>
        </p:spPr>
        <p:txBody>
          <a:bodyPr wrap="none" tIns="0" rIns="0" bIns="0" lIns="0" anchor="t">
            <a:noAutofit/>
          </a:bodyPr>
          <a:lstStyle/>
          <a:p>
            <a:pPr algn="l">
              <a:lnSpc>
                <a:spcPts val="2039"/>
              </a:lnSpc>
            </a:pPr>
            <a:r>
              <a:rPr sz="1700" b="1">
                <a:solidFill>
                  <a:srgbClr val="F5F2EA"/>
                </a:solidFill>
                <a:latin typeface="IBM Plex Sans"/>
              </a:rPr>
              <a:t>What is new</a:t>
            </a:r>
          </a:p>
        </p:txBody>
      </p:sp>
      <p:sp>
        <p:nvSpPr>
          <p:cNvPr id="6" name="TextBox 5"/>
          <p:cNvSpPr txBox="1"/>
          <p:nvPr/>
        </p:nvSpPr>
        <p:spPr>
          <a:xfrm>
            <a:off x="812800" y="2362200"/>
            <a:ext cx="3348736" cy="1514872"/>
          </a:xfrm>
          <a:prstGeom prst="rect">
            <a:avLst/>
          </a:prstGeom>
          <a:noFill/>
        </p:spPr>
        <p:txBody>
          <a:bodyPr wrap="square" tIns="0" bIns="0" lIns="0" rIns="0">
            <a:noAutofit/>
          </a:bodyPr>
          <a:lstStyle/>
          <a:p>
            <a:pPr marL="163449" indent="-163449">
              <a:lnSpc>
                <a:spcPts val="1755"/>
              </a:lnSpc>
              <a:buChar char="•"/>
            </a:pPr>
            <a:r>
              <a:rPr sz="1300" b="0">
                <a:solidFill>
                  <a:srgbClr val="A9A59C"/>
                </a:solidFill>
                <a:latin typeface="IBM Plex Sans"/>
              </a:rPr>
              <a:t>Closed loop: ML risk → QUBO → QAOA, no manual step</a:t>
            </a:r>
          </a:p>
          <a:p>
            <a:pPr marL="163449" indent="-163449">
              <a:lnSpc>
                <a:spcPts val="1755"/>
              </a:lnSpc>
              <a:spcBef>
                <a:spcPts val="700"/>
              </a:spcBef>
              <a:buChar char="•"/>
            </a:pPr>
            <a:r>
              <a:rPr sz="1300" b="0">
                <a:solidFill>
                  <a:srgbClr val="A9A59C"/>
                </a:solidFill>
                <a:latin typeface="IBM Plex Sans"/>
              </a:rPr>
              <a:t>Event-triggered, warm-started, local re-solve</a:t>
            </a:r>
          </a:p>
          <a:p>
            <a:pPr marL="163449" indent="-163449">
              <a:lnSpc>
                <a:spcPts val="1755"/>
              </a:lnSpc>
              <a:spcBef>
                <a:spcPts val="700"/>
              </a:spcBef>
              <a:buChar char="•"/>
            </a:pPr>
            <a:r>
              <a:rPr sz="1300" b="0">
                <a:solidFill>
                  <a:srgbClr val="A9A59C"/>
                </a:solidFill>
                <a:latin typeface="IBM Plex Sans"/>
              </a:rPr>
              <a:t>Decomposition sized to measured QPU fidelity</a:t>
            </a:r>
          </a:p>
        </p:txBody>
      </p:sp>
      <p:cxnSp>
        <p:nvCxnSpPr>
          <p:cNvPr id="7" name="Connector 6"/>
          <p:cNvCxnSpPr/>
          <p:nvPr/>
        </p:nvCxnSpPr>
        <p:spPr>
          <a:xfrm>
            <a:off x="4470400" y="1822450"/>
            <a:ext cx="3251200" cy="0"/>
          </a:xfrm>
          <a:prstGeom prst="line">
            <a:avLst/>
          </a:prstGeom>
          <a:ln w="25400">
            <a:solidFill>
              <a:srgbClr val="4F7658"/>
            </a:solidFill>
          </a:ln>
        </p:spPr>
      </p:cxnSp>
      <p:sp>
        <p:nvSpPr>
          <p:cNvPr id="8" name="TextBox 7"/>
          <p:cNvSpPr txBox="1"/>
          <p:nvPr/>
        </p:nvSpPr>
        <p:spPr>
          <a:xfrm>
            <a:off x="4470400" y="1987550"/>
            <a:ext cx="3706368" cy="247650"/>
          </a:xfrm>
          <a:prstGeom prst="rect">
            <a:avLst/>
          </a:prstGeom>
          <a:noFill/>
        </p:spPr>
        <p:txBody>
          <a:bodyPr wrap="none" tIns="0" rIns="0" bIns="0" lIns="0" anchor="t">
            <a:noAutofit/>
          </a:bodyPr>
          <a:lstStyle/>
          <a:p>
            <a:pPr algn="l">
              <a:lnSpc>
                <a:spcPts val="2039"/>
              </a:lnSpc>
            </a:pPr>
            <a:r>
              <a:rPr sz="1700" b="1">
                <a:solidFill>
                  <a:srgbClr val="F5F2EA"/>
                </a:solidFill>
                <a:latin typeface="IBM Plex Sans"/>
              </a:rPr>
              <a:t>Fit to QAIC</a:t>
            </a:r>
          </a:p>
        </p:txBody>
      </p:sp>
      <p:sp>
        <p:nvSpPr>
          <p:cNvPr id="9" name="TextBox 8"/>
          <p:cNvSpPr txBox="1"/>
          <p:nvPr/>
        </p:nvSpPr>
        <p:spPr>
          <a:xfrm>
            <a:off x="4470400" y="2362200"/>
            <a:ext cx="3348736" cy="1069181"/>
          </a:xfrm>
          <a:prstGeom prst="rect">
            <a:avLst/>
          </a:prstGeom>
          <a:noFill/>
        </p:spPr>
        <p:txBody>
          <a:bodyPr wrap="square" tIns="0" bIns="0" lIns="0" rIns="0">
            <a:noAutofit/>
          </a:bodyPr>
          <a:lstStyle/>
          <a:p>
            <a:pPr marL="163449" indent="-163449">
              <a:lnSpc>
                <a:spcPts val="1755"/>
              </a:lnSpc>
              <a:buChar char="•"/>
            </a:pPr>
            <a:r>
              <a:rPr sz="1300" b="0">
                <a:solidFill>
                  <a:srgbClr val="A9A59C"/>
                </a:solidFill>
                <a:latin typeface="IBM Plex Sans"/>
              </a:rPr>
              <a:t>Addresses UC-067; extends to UC-077</a:t>
            </a:r>
          </a:p>
          <a:p>
            <a:pPr marL="163449" indent="-163449">
              <a:lnSpc>
                <a:spcPts val="1755"/>
              </a:lnSpc>
              <a:spcBef>
                <a:spcPts val="700"/>
              </a:spcBef>
              <a:buChar char="•"/>
            </a:pPr>
            <a:r>
              <a:rPr sz="1300" b="0">
                <a:solidFill>
                  <a:srgbClr val="A9A59C"/>
                </a:solidFill>
                <a:latin typeface="IBM Plex Sans"/>
              </a:rPr>
              <a:t>Builds on DST-NQM proposals 03 and 04</a:t>
            </a:r>
          </a:p>
          <a:p>
            <a:pPr marL="163449" indent="-163449">
              <a:lnSpc>
                <a:spcPts val="1755"/>
              </a:lnSpc>
              <a:spcBef>
                <a:spcPts val="700"/>
              </a:spcBef>
              <a:buChar char="•"/>
            </a:pPr>
            <a:r>
              <a:rPr sz="1300" b="0">
                <a:solidFill>
                  <a:srgbClr val="A9A59C"/>
                </a:solidFill>
                <a:latin typeface="IBM Plex Sans"/>
              </a:rPr>
              <a:t>Compatible with the planned Amaravati IBM Quantum System Two</a:t>
            </a:r>
          </a:p>
        </p:txBody>
      </p:sp>
      <p:cxnSp>
        <p:nvCxnSpPr>
          <p:cNvPr id="10" name="Connector 9"/>
          <p:cNvCxnSpPr/>
          <p:nvPr/>
        </p:nvCxnSpPr>
        <p:spPr>
          <a:xfrm>
            <a:off x="8128000" y="1822450"/>
            <a:ext cx="3251200" cy="0"/>
          </a:xfrm>
          <a:prstGeom prst="line">
            <a:avLst/>
          </a:prstGeom>
          <a:ln w="25400">
            <a:solidFill>
              <a:srgbClr val="C83A2A"/>
            </a:solidFill>
          </a:ln>
        </p:spPr>
      </p:cxnSp>
      <p:sp>
        <p:nvSpPr>
          <p:cNvPr id="11" name="TextBox 10"/>
          <p:cNvSpPr txBox="1"/>
          <p:nvPr/>
        </p:nvSpPr>
        <p:spPr>
          <a:xfrm>
            <a:off x="8128000" y="1987550"/>
            <a:ext cx="3706368" cy="247650"/>
          </a:xfrm>
          <a:prstGeom prst="rect">
            <a:avLst/>
          </a:prstGeom>
          <a:noFill/>
        </p:spPr>
        <p:txBody>
          <a:bodyPr wrap="none" tIns="0" rIns="0" bIns="0" lIns="0" anchor="t">
            <a:noAutofit/>
          </a:bodyPr>
          <a:lstStyle/>
          <a:p>
            <a:pPr algn="l">
              <a:lnSpc>
                <a:spcPts val="2039"/>
              </a:lnSpc>
            </a:pPr>
            <a:r>
              <a:rPr sz="1700" b="1">
                <a:solidFill>
                  <a:srgbClr val="F5F2EA"/>
                </a:solidFill>
                <a:latin typeface="IBM Plex Sans"/>
              </a:rPr>
              <a:t>Honest limits</a:t>
            </a:r>
          </a:p>
        </p:txBody>
      </p:sp>
      <p:sp>
        <p:nvSpPr>
          <p:cNvPr id="12" name="TextBox 11"/>
          <p:cNvSpPr txBox="1"/>
          <p:nvPr/>
        </p:nvSpPr>
        <p:spPr>
          <a:xfrm>
            <a:off x="8128000" y="2362200"/>
            <a:ext cx="3348736" cy="1514872"/>
          </a:xfrm>
          <a:prstGeom prst="rect">
            <a:avLst/>
          </a:prstGeom>
          <a:noFill/>
        </p:spPr>
        <p:txBody>
          <a:bodyPr wrap="square" tIns="0" bIns="0" lIns="0" rIns="0">
            <a:noAutofit/>
          </a:bodyPr>
          <a:lstStyle/>
          <a:p>
            <a:pPr marL="163449" indent="-163449">
              <a:lnSpc>
                <a:spcPts val="1755"/>
              </a:lnSpc>
              <a:buChar char="•"/>
            </a:pPr>
            <a:r>
              <a:rPr sz="1300" b="0">
                <a:solidFill>
                  <a:srgbClr val="A9A59C"/>
                </a:solidFill>
                <a:latin typeface="IBM Plex Sans"/>
              </a:rPr>
              <a:t>No quantum advantage claimed at this scale</a:t>
            </a:r>
          </a:p>
          <a:p>
            <a:pPr marL="163449" indent="-163449">
              <a:lnSpc>
                <a:spcPts val="1755"/>
              </a:lnSpc>
              <a:spcBef>
                <a:spcPts val="700"/>
              </a:spcBef>
              <a:buChar char="•"/>
            </a:pPr>
            <a:r>
              <a:rPr sz="1300" b="0">
                <a:solidFill>
                  <a:srgbClr val="A9A59C"/>
                </a:solidFill>
                <a:latin typeface="IBM Plex Sans"/>
              </a:rPr>
              <a:t>NISQ noise caps subproblems near 20 qubits</a:t>
            </a:r>
          </a:p>
          <a:p>
            <a:pPr marL="163449" indent="-163449">
              <a:lnSpc>
                <a:spcPts val="1755"/>
              </a:lnSpc>
              <a:spcBef>
                <a:spcPts val="700"/>
              </a:spcBef>
              <a:buChar char="•"/>
            </a:pPr>
            <a:r>
              <a:rPr sz="1300" b="0">
                <a:solidFill>
                  <a:srgbClr val="A9A59C"/>
                </a:solidFill>
                <a:latin typeface="IBM Plex Sans"/>
              </a:rPr>
              <a:t>Greedy and exact solvers stay baseline and fallback</a:t>
            </a:r>
          </a:p>
        </p:txBody>
      </p:sp>
      <p:sp>
        <p:nvSpPr>
          <p:cNvPr id="13" name="Rectangle 12"/>
          <p:cNvSpPr/>
          <p:nvPr/>
        </p:nvSpPr>
        <p:spPr>
          <a:xfrm>
            <a:off x="812800" y="4321572"/>
            <a:ext cx="10566400" cy="19050"/>
          </a:xfrm>
          <a:prstGeom prst="rect">
            <a:avLst/>
          </a:prstGeom>
          <a:solidFill>
            <a:srgbClr val="A9A59C"/>
          </a:solidFill>
          <a:ln>
            <a:noFill/>
          </a:ln>
        </p:spPr>
        <p:txBody>
          <a:bodyPr rtlCol="0" anchor="ctr"/>
          <a:lstStyle/>
          <a:p>
            <a:pPr algn="ctr"/>
          </a:p>
        </p:txBody>
      </p:sp>
      <p:sp>
        <p:nvSpPr>
          <p:cNvPr id="14" name="Oval 13"/>
          <p:cNvSpPr/>
          <p:nvPr/>
        </p:nvSpPr>
        <p:spPr>
          <a:xfrm>
            <a:off x="812800" y="4232672"/>
            <a:ext cx="190500" cy="190500"/>
          </a:xfrm>
          <a:prstGeom prst="ellipse">
            <a:avLst/>
          </a:prstGeom>
          <a:solidFill>
            <a:srgbClr val="E56A1F"/>
          </a:solidFill>
          <a:ln w="19050">
            <a:solidFill>
              <a:srgbClr val="E56A1F"/>
            </a:solidFill>
          </a:ln>
        </p:spPr>
        <p:txBody>
          <a:bodyPr rtlCol="0" anchor="ctr"/>
          <a:lstStyle/>
          <a:p>
            <a:pPr algn="ctr"/>
          </a:p>
        </p:txBody>
      </p:sp>
      <p:sp>
        <p:nvSpPr>
          <p:cNvPr id="15" name="TextBox 14"/>
          <p:cNvSpPr txBox="1"/>
          <p:nvPr/>
        </p:nvSpPr>
        <p:spPr>
          <a:xfrm>
            <a:off x="812800" y="4537472"/>
            <a:ext cx="260604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Done</a:t>
            </a:r>
          </a:p>
        </p:txBody>
      </p:sp>
      <p:sp>
        <p:nvSpPr>
          <p:cNvPr id="16" name="TextBox 15"/>
          <p:cNvSpPr txBox="1"/>
          <p:nvPr/>
        </p:nvSpPr>
        <p:spPr>
          <a:xfrm>
            <a:off x="812800" y="4778772"/>
            <a:ext cx="2419985"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Pipeline + benchmark vs greedy and exact</a:t>
            </a:r>
          </a:p>
        </p:txBody>
      </p:sp>
      <p:sp>
        <p:nvSpPr>
          <p:cNvPr id="17" name="Oval 16"/>
          <p:cNvSpPr/>
          <p:nvPr/>
        </p:nvSpPr>
        <p:spPr>
          <a:xfrm>
            <a:off x="3505200" y="4232672"/>
            <a:ext cx="190500" cy="190500"/>
          </a:xfrm>
          <a:prstGeom prst="ellipse">
            <a:avLst/>
          </a:prstGeom>
          <a:solidFill>
            <a:srgbClr val="E56A1F"/>
          </a:solidFill>
          <a:ln w="19050">
            <a:solidFill>
              <a:srgbClr val="E56A1F"/>
            </a:solidFill>
          </a:ln>
        </p:spPr>
        <p:txBody>
          <a:bodyPr rtlCol="0" anchor="ctr"/>
          <a:lstStyle/>
          <a:p>
            <a:pPr algn="ctr"/>
          </a:p>
        </p:txBody>
      </p:sp>
      <p:sp>
        <p:nvSpPr>
          <p:cNvPr id="18" name="TextBox 17"/>
          <p:cNvSpPr txBox="1"/>
          <p:nvPr/>
        </p:nvSpPr>
        <p:spPr>
          <a:xfrm>
            <a:off x="3505200" y="4537472"/>
            <a:ext cx="260604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Now</a:t>
            </a:r>
          </a:p>
        </p:txBody>
      </p:sp>
      <p:sp>
        <p:nvSpPr>
          <p:cNvPr id="19" name="TextBox 18"/>
          <p:cNvSpPr txBox="1"/>
          <p:nvPr/>
        </p:nvSpPr>
        <p:spPr>
          <a:xfrm>
            <a:off x="3505200" y="4778772"/>
            <a:ext cx="2419985"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Same circuits on IBM Heron via Qiskit Runtime</a:t>
            </a:r>
          </a:p>
        </p:txBody>
      </p:sp>
      <p:sp>
        <p:nvSpPr>
          <p:cNvPr id="20" name="Oval 19"/>
          <p:cNvSpPr/>
          <p:nvPr/>
        </p:nvSpPr>
        <p:spPr>
          <a:xfrm>
            <a:off x="6197600" y="4232672"/>
            <a:ext cx="190500" cy="190500"/>
          </a:xfrm>
          <a:prstGeom prst="ellipse">
            <a:avLst/>
          </a:prstGeom>
          <a:solidFill>
            <a:srgbClr val="1C1B19"/>
          </a:solidFill>
          <a:ln w="19050">
            <a:solidFill>
              <a:srgbClr val="A9A59C"/>
            </a:solidFill>
          </a:ln>
        </p:spPr>
        <p:txBody>
          <a:bodyPr rtlCol="0" anchor="ctr"/>
          <a:lstStyle/>
          <a:p>
            <a:pPr algn="ctr"/>
          </a:p>
        </p:txBody>
      </p:sp>
      <p:sp>
        <p:nvSpPr>
          <p:cNvPr id="21" name="TextBox 20"/>
          <p:cNvSpPr txBox="1"/>
          <p:nvPr/>
        </p:nvSpPr>
        <p:spPr>
          <a:xfrm>
            <a:off x="6197600" y="4537472"/>
            <a:ext cx="260604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Next</a:t>
            </a:r>
          </a:p>
        </p:txBody>
      </p:sp>
      <p:sp>
        <p:nvSpPr>
          <p:cNvPr id="22" name="TextBox 21"/>
          <p:cNvSpPr txBox="1"/>
          <p:nvPr/>
        </p:nvSpPr>
        <p:spPr>
          <a:xfrm>
            <a:off x="6197600" y="4778772"/>
            <a:ext cx="2419985" cy="396081"/>
          </a:xfrm>
          <a:prstGeom prst="rect">
            <a:avLst/>
          </a:prstGeom>
          <a:noFill/>
        </p:spPr>
        <p:txBody>
          <a:bodyPr wrap="square" tIns="0" rIns="0" bIns="0" lIns="0" anchor="t">
            <a:noAutofit/>
          </a:bodyPr>
          <a:lstStyle/>
          <a:p>
            <a:pPr algn="l">
              <a:lnSpc>
                <a:spcPts val="1560"/>
              </a:lnSpc>
            </a:pPr>
            <a:r>
              <a:rPr sz="1200" b="0">
                <a:solidFill>
                  <a:srgbClr val="A9A59C"/>
                </a:solidFill>
                <a:latin typeface="IBM Plex Sans"/>
              </a:rPr>
              <a:t>Train XGBoost on Sentinel-1 flood extents</a:t>
            </a:r>
          </a:p>
        </p:txBody>
      </p:sp>
      <p:sp>
        <p:nvSpPr>
          <p:cNvPr id="23" name="Oval 22"/>
          <p:cNvSpPr/>
          <p:nvPr/>
        </p:nvSpPr>
        <p:spPr>
          <a:xfrm>
            <a:off x="8890000" y="4232672"/>
            <a:ext cx="190500" cy="190500"/>
          </a:xfrm>
          <a:prstGeom prst="ellipse">
            <a:avLst/>
          </a:prstGeom>
          <a:solidFill>
            <a:srgbClr val="1C1B19"/>
          </a:solidFill>
          <a:ln w="19050">
            <a:solidFill>
              <a:srgbClr val="A9A59C"/>
            </a:solidFill>
          </a:ln>
        </p:spPr>
        <p:txBody>
          <a:bodyPr rtlCol="0" anchor="ctr"/>
          <a:lstStyle/>
          <a:p>
            <a:pPr algn="ctr"/>
          </a:p>
        </p:txBody>
      </p:sp>
      <p:sp>
        <p:nvSpPr>
          <p:cNvPr id="24" name="TextBox 23"/>
          <p:cNvSpPr txBox="1"/>
          <p:nvPr/>
        </p:nvSpPr>
        <p:spPr>
          <a:xfrm>
            <a:off x="8890000" y="4537472"/>
            <a:ext cx="260604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Proposed</a:t>
            </a:r>
          </a:p>
        </p:txBody>
      </p:sp>
      <p:sp>
        <p:nvSpPr>
          <p:cNvPr id="25" name="TextBox 24"/>
          <p:cNvSpPr txBox="1"/>
          <p:nvPr/>
        </p:nvSpPr>
        <p:spPr>
          <a:xfrm>
            <a:off x="8890000" y="4778772"/>
            <a:ext cx="2678430"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APSDMA pilot; cyclones (UC-077)</a:t>
            </a:r>
          </a:p>
        </p:txBody>
      </p:sp>
      <p:sp>
        <p:nvSpPr>
          <p:cNvPr id="26" name="TextBox 25"/>
          <p:cNvSpPr txBox="1"/>
          <p:nvPr/>
        </p:nvSpPr>
        <p:spPr>
          <a:xfrm>
            <a:off x="812800" y="5566172"/>
            <a:ext cx="12045696" cy="184150"/>
          </a:xfrm>
          <a:prstGeom prst="rect">
            <a:avLst/>
          </a:prstGeom>
          <a:noFill/>
        </p:spPr>
        <p:txBody>
          <a:bodyPr wrap="none" tIns="0" rIns="0" bIns="0" lIns="0" anchor="t">
            <a:noAutofit/>
          </a:bodyPr>
          <a:lstStyle/>
          <a:p>
            <a:pPr algn="l">
              <a:lnSpc>
                <a:spcPts val="1439"/>
              </a:lnSpc>
            </a:pPr>
            <a:r>
              <a:rPr sz="1200" b="0">
                <a:solidFill>
                  <a:srgbClr val="A9A59C"/>
                </a:solidFill>
                <a:latin typeface="IBM Plex Sans"/>
              </a:rPr>
              <a:t>Buyer: state disaster authorities; ₹2.29 lakh crore in disaster funds for 2021–26 (15th Finance Commission, PIB).</a:t>
            </a:r>
          </a:p>
        </p:txBody>
      </p:sp>
      <p:sp>
        <p:nvSpPr>
          <p:cNvPr id="27" name="TextBox 26"/>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28" name="TextBox 27"/>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1B19"/>
        </a:solidFill>
        <a:effectLst/>
      </p:bgPr>
    </p:bg>
    <p:spTree>
      <p:nvGrpSpPr>
        <p:cNvPr id="1" name=""/>
        <p:cNvGrpSpPr/>
        <p:nvPr/>
      </p:nvGrpSpPr>
      <p:grpSpPr/>
      <p:sp>
        <p:nvSpPr>
          <p:cNvPr id="2" name="TextBox 1"/>
          <p:cNvSpPr txBox="1"/>
          <p:nvPr/>
        </p:nvSpPr>
        <p:spPr>
          <a:xfrm>
            <a:off x="812800" y="812800"/>
            <a:ext cx="5067300"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14 · Summary</a:t>
            </a:r>
          </a:p>
        </p:txBody>
      </p:sp>
      <p:sp>
        <p:nvSpPr>
          <p:cNvPr id="3" name="TextBox 2"/>
          <p:cNvSpPr txBox="1"/>
          <p:nvPr/>
        </p:nvSpPr>
        <p:spPr>
          <a:xfrm>
            <a:off x="812800" y="1212850"/>
            <a:ext cx="4578350" cy="1755378"/>
          </a:xfrm>
          <a:prstGeom prst="rect">
            <a:avLst/>
          </a:prstGeom>
          <a:noFill/>
        </p:spPr>
        <p:txBody>
          <a:bodyPr wrap="square" tIns="0" rIns="0" bIns="0" lIns="0" anchor="t">
            <a:noAutofit/>
          </a:bodyPr>
          <a:lstStyle/>
          <a:p>
            <a:pPr algn="l">
              <a:lnSpc>
                <a:spcPts val="3456"/>
              </a:lnSpc>
            </a:pPr>
            <a:r>
              <a:rPr sz="3200" b="1">
                <a:solidFill>
                  <a:srgbClr val="F5F2EA"/>
                </a:solidFill>
                <a:latin typeface="IBM Plex Sans"/>
              </a:rPr>
              <a:t>Forecasts say where the water goes. We decide where help goes.</a:t>
            </a:r>
          </a:p>
        </p:txBody>
      </p:sp>
      <p:sp>
        <p:nvSpPr>
          <p:cNvPr id="4" name="TextBox 3"/>
          <p:cNvSpPr txBox="1"/>
          <p:nvPr/>
        </p:nvSpPr>
        <p:spPr>
          <a:xfrm>
            <a:off x="812800" y="3196828"/>
            <a:ext cx="4578350" cy="1377851"/>
          </a:xfrm>
          <a:prstGeom prst="rect">
            <a:avLst/>
          </a:prstGeom>
          <a:noFill/>
        </p:spPr>
        <p:txBody>
          <a:bodyPr wrap="square" tIns="0" bIns="0" lIns="0" rIns="0">
            <a:noAutofit/>
          </a:bodyPr>
          <a:lstStyle/>
          <a:p>
            <a:pPr marL="176022" indent="-176022">
              <a:lnSpc>
                <a:spcPts val="1889"/>
              </a:lnSpc>
              <a:buChar char="•"/>
            </a:pPr>
            <a:r>
              <a:rPr sz="1400" b="0">
                <a:solidFill>
                  <a:srgbClr val="A9A59C"/>
                </a:solidFill>
                <a:latin typeface="IBM Plex Sans"/>
              </a:rPr>
              <a:t>ML risk → QUBO → QAOA → plan, re-solved as the flood moves</a:t>
            </a:r>
          </a:p>
          <a:p>
            <a:pPr marL="176022" indent="-176022">
              <a:lnSpc>
                <a:spcPts val="1889"/>
              </a:lnSpc>
              <a:spcBef>
                <a:spcPts val="700"/>
              </a:spcBef>
              <a:buChar char="•"/>
            </a:pPr>
            <a:r>
              <a:rPr sz="1400" b="0">
                <a:solidFill>
                  <a:srgbClr val="A9A59C"/>
                </a:solidFill>
                <a:latin typeface="IBM Plex Sans"/>
              </a:rPr>
              <a:t>Benchmarked against greedy and exact baselines</a:t>
            </a:r>
          </a:p>
          <a:p>
            <a:pPr marL="176022" indent="-176022">
              <a:lnSpc>
                <a:spcPts val="1889"/>
              </a:lnSpc>
              <a:spcBef>
                <a:spcPts val="700"/>
              </a:spcBef>
              <a:buChar char="•"/>
            </a:pPr>
            <a:r>
              <a:rPr sz="1400" b="0">
                <a:solidFill>
                  <a:srgbClr val="A9A59C"/>
                </a:solidFill>
                <a:latin typeface="IBM Plex Sans"/>
              </a:rPr>
              <a:t>Portable to larger local QPU capacity as it becomes available</a:t>
            </a:r>
          </a:p>
        </p:txBody>
      </p:sp>
      <p:cxnSp>
        <p:nvCxnSpPr>
          <p:cNvPr id="5" name="Connector 4"/>
          <p:cNvCxnSpPr/>
          <p:nvPr/>
        </p:nvCxnSpPr>
        <p:spPr>
          <a:xfrm>
            <a:off x="812800" y="4809629"/>
            <a:ext cx="4445000" cy="0"/>
          </a:xfrm>
          <a:prstGeom prst="line">
            <a:avLst/>
          </a:prstGeom>
          <a:ln w="12700">
            <a:solidFill>
              <a:srgbClr val="3A3834"/>
            </a:solidFill>
          </a:ln>
        </p:spPr>
      </p:cxnSp>
      <p:sp>
        <p:nvSpPr>
          <p:cNvPr id="6" name="TextBox 5"/>
          <p:cNvSpPr txBox="1"/>
          <p:nvPr/>
        </p:nvSpPr>
        <p:spPr>
          <a:xfrm>
            <a:off x="812800" y="4968379"/>
            <a:ext cx="506730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Demo video:</a:t>
            </a:r>
          </a:p>
        </p:txBody>
      </p:sp>
      <p:sp>
        <p:nvSpPr>
          <p:cNvPr id="7" name="TextBox 6"/>
          <p:cNvSpPr txBox="1"/>
          <p:nvPr/>
        </p:nvSpPr>
        <p:spPr>
          <a:xfrm>
            <a:off x="812800" y="5190629"/>
            <a:ext cx="506730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Demo link:</a:t>
            </a:r>
          </a:p>
        </p:txBody>
      </p:sp>
      <p:sp>
        <p:nvSpPr>
          <p:cNvPr id="8" name="TextBox 7"/>
          <p:cNvSpPr txBox="1"/>
          <p:nvPr/>
        </p:nvSpPr>
        <p:spPr>
          <a:xfrm>
            <a:off x="812800" y="5412879"/>
            <a:ext cx="5067300"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Code: github.com/officialayush23/QuantumHack</a:t>
            </a:r>
          </a:p>
        </p:txBody>
      </p:sp>
      <p:sp>
        <p:nvSpPr>
          <p:cNvPr id="9" name="TextBox 8"/>
          <p:cNvSpPr txBox="1"/>
          <p:nvPr/>
        </p:nvSpPr>
        <p:spPr>
          <a:xfrm>
            <a:off x="812800" y="5635129"/>
            <a:ext cx="50673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Kala Dhua · officialayushp123@gmail.com</a:t>
            </a:r>
          </a:p>
        </p:txBody>
      </p:sp>
      <p:sp>
        <p:nvSpPr>
          <p:cNvPr id="10" name="TextBox 9"/>
          <p:cNvSpPr txBox="1"/>
          <p:nvPr/>
        </p:nvSpPr>
        <p:spPr>
          <a:xfrm>
            <a:off x="5867400" y="812800"/>
            <a:ext cx="6283452" cy="171450"/>
          </a:xfrm>
          <a:prstGeom prst="rect">
            <a:avLst/>
          </a:prstGeom>
          <a:noFill/>
        </p:spPr>
        <p:txBody>
          <a:bodyPr wrap="none" tIns="0" rIns="0" bIns="0" lIns="0" anchor="t">
            <a:noAutofit/>
          </a:bodyPr>
          <a:lstStyle/>
          <a:p>
            <a:pPr algn="l">
              <a:lnSpc>
                <a:spcPts val="1439"/>
              </a:lnSpc>
            </a:pPr>
            <a:r>
              <a:rPr sz="1200" b="0">
                <a:solidFill>
                  <a:srgbClr val="F5F2EA"/>
                </a:solidFill>
                <a:latin typeface="IBM Plex Mono"/>
              </a:rPr>
              <a:t>References</a:t>
            </a:r>
          </a:p>
        </p:txBody>
      </p:sp>
      <p:sp>
        <p:nvSpPr>
          <p:cNvPr id="11" name="TextBox 10"/>
          <p:cNvSpPr txBox="1"/>
          <p:nvPr/>
        </p:nvSpPr>
        <p:spPr>
          <a:xfrm>
            <a:off x="5867400" y="1047750"/>
            <a:ext cx="6283452"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Methods</a:t>
            </a:r>
          </a:p>
        </p:txBody>
      </p:sp>
      <p:sp>
        <p:nvSpPr>
          <p:cNvPr id="12" name="TextBox 11"/>
          <p:cNvSpPr txBox="1"/>
          <p:nvPr/>
        </p:nvSpPr>
        <p:spPr>
          <a:xfrm>
            <a:off x="5867400" y="1282700"/>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 Farhi, Goldstone, Gutmann (2014). QAOA. arXiv:1411.4028</a:t>
            </a:r>
          </a:p>
        </p:txBody>
      </p:sp>
      <p:sp>
        <p:nvSpPr>
          <p:cNvPr id="13" name="TextBox 12"/>
          <p:cNvSpPr txBox="1"/>
          <p:nvPr/>
        </p:nvSpPr>
        <p:spPr>
          <a:xfrm>
            <a:off x="5867400" y="1544241"/>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2. Lucas (2014). Ising formulations of NP problems. Front. Phys. 2:5</a:t>
            </a:r>
          </a:p>
        </p:txBody>
      </p:sp>
      <p:sp>
        <p:nvSpPr>
          <p:cNvPr id="14" name="TextBox 13"/>
          <p:cNvSpPr txBox="1"/>
          <p:nvPr/>
        </p:nvSpPr>
        <p:spPr>
          <a:xfrm>
            <a:off x="5867400" y="1805781"/>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3. Barkoutsos et al. (2020). CVaR variational optimization. Quantum 4:256</a:t>
            </a:r>
          </a:p>
        </p:txBody>
      </p:sp>
      <p:sp>
        <p:nvSpPr>
          <p:cNvPr id="15" name="TextBox 14"/>
          <p:cNvSpPr txBox="1"/>
          <p:nvPr/>
        </p:nvSpPr>
        <p:spPr>
          <a:xfrm>
            <a:off x="5867400" y="2067322"/>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4. Egger, Mareček, Woerner (2021). Warm-starting QAOA. Quantum 5:479</a:t>
            </a:r>
          </a:p>
        </p:txBody>
      </p:sp>
      <p:sp>
        <p:nvSpPr>
          <p:cNvPr id="16" name="TextBox 15"/>
          <p:cNvSpPr txBox="1"/>
          <p:nvPr/>
        </p:nvSpPr>
        <p:spPr>
          <a:xfrm>
            <a:off x="5867400" y="2328862"/>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5. QAOA benchmarks on IBM Heron (2026). arXiv:2607.11637</a:t>
            </a:r>
          </a:p>
        </p:txBody>
      </p:sp>
      <p:sp>
        <p:nvSpPr>
          <p:cNvPr id="17" name="TextBox 16"/>
          <p:cNvSpPr txBox="1"/>
          <p:nvPr/>
        </p:nvSpPr>
        <p:spPr>
          <a:xfrm>
            <a:off x="5867400" y="2590403"/>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6. Nearing et al. (2024). Global flood prediction. Nature 627:559</a:t>
            </a:r>
          </a:p>
        </p:txBody>
      </p:sp>
      <p:sp>
        <p:nvSpPr>
          <p:cNvPr id="18" name="TextBox 17"/>
          <p:cNvSpPr txBox="1"/>
          <p:nvPr/>
        </p:nvSpPr>
        <p:spPr>
          <a:xfrm>
            <a:off x="5867400" y="2851944"/>
            <a:ext cx="6283452"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Platform and programme</a:t>
            </a:r>
          </a:p>
        </p:txBody>
      </p:sp>
      <p:sp>
        <p:nvSpPr>
          <p:cNvPr id="19" name="TextBox 18"/>
          <p:cNvSpPr txBox="1"/>
          <p:nvPr/>
        </p:nvSpPr>
        <p:spPr>
          <a:xfrm>
            <a:off x="5867400" y="3086894"/>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7. IBM Quantum docs: Heron, Qiskit Runtime, Open Plan</a:t>
            </a:r>
          </a:p>
        </p:txBody>
      </p:sp>
      <p:sp>
        <p:nvSpPr>
          <p:cNvPr id="20" name="TextBox 19"/>
          <p:cNvSpPr txBox="1"/>
          <p:nvPr/>
        </p:nvSpPr>
        <p:spPr>
          <a:xfrm>
            <a:off x="5867400" y="3348434"/>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8. IBM Newsroom (2 May 2025): Amaravati Quantum Valley</a:t>
            </a:r>
          </a:p>
        </p:txBody>
      </p:sp>
      <p:sp>
        <p:nvSpPr>
          <p:cNvPr id="21" name="TextBox 20"/>
          <p:cNvSpPr txBox="1"/>
          <p:nvPr/>
        </p:nvSpPr>
        <p:spPr>
          <a:xfrm>
            <a:off x="5867400" y="3609975"/>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9. NQCC SparQ (2025): Mind Foundry sensor-network PoC</a:t>
            </a:r>
          </a:p>
        </p:txBody>
      </p:sp>
      <p:sp>
        <p:nvSpPr>
          <p:cNvPr id="22" name="TextBox 21"/>
          <p:cNvSpPr txBox="1"/>
          <p:nvPr/>
        </p:nvSpPr>
        <p:spPr>
          <a:xfrm>
            <a:off x="5867400" y="3871516"/>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10. QAIC (2026): 100 Quantum Use Cases, UC-067, UC-077</a:t>
            </a:r>
          </a:p>
        </p:txBody>
      </p:sp>
      <p:sp>
        <p:nvSpPr>
          <p:cNvPr id="23" name="TextBox 22"/>
          <p:cNvSpPr txBox="1"/>
          <p:nvPr/>
        </p:nvSpPr>
        <p:spPr>
          <a:xfrm>
            <a:off x="5867400" y="4133056"/>
            <a:ext cx="6283452" cy="171450"/>
          </a:xfrm>
          <a:prstGeom prst="rect">
            <a:avLst/>
          </a:prstGeom>
          <a:noFill/>
        </p:spPr>
        <p:txBody>
          <a:bodyPr wrap="none" tIns="0" rIns="0" bIns="0" lIns="0" anchor="t">
            <a:noAutofit/>
          </a:bodyPr>
          <a:lstStyle/>
          <a:p>
            <a:pPr algn="l">
              <a:lnSpc>
                <a:spcPts val="1439"/>
              </a:lnSpc>
            </a:pPr>
            <a:r>
              <a:rPr sz="1200" b="0">
                <a:solidFill>
                  <a:srgbClr val="E56A1F"/>
                </a:solidFill>
                <a:latin typeface="IBM Plex Mono"/>
              </a:rPr>
              <a:t>Problem data</a:t>
            </a:r>
          </a:p>
        </p:txBody>
      </p:sp>
      <p:sp>
        <p:nvSpPr>
          <p:cNvPr id="24" name="TextBox 23"/>
          <p:cNvSpPr txBox="1"/>
          <p:nvPr/>
        </p:nvSpPr>
        <p:spPr>
          <a:xfrm>
            <a:off x="5867400" y="4368006"/>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11. PIB / MHA: 15th Finance Commission disaster funds</a:t>
            </a:r>
          </a:p>
        </p:txBody>
      </p:sp>
      <p:sp>
        <p:nvSpPr>
          <p:cNvPr id="25" name="TextBox 24"/>
          <p:cNvSpPr txBox="1"/>
          <p:nvPr/>
        </p:nvSpPr>
        <p:spPr>
          <a:xfrm>
            <a:off x="5867400" y="4629547"/>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12. All India Radio (Oct 2025): Cyclone Montha</a:t>
            </a:r>
          </a:p>
        </p:txBody>
      </p:sp>
      <p:sp>
        <p:nvSpPr>
          <p:cNvPr id="26" name="TextBox 25"/>
          <p:cNvSpPr txBox="1"/>
          <p:nvPr/>
        </p:nvSpPr>
        <p:spPr>
          <a:xfrm>
            <a:off x="5867400" y="4891088"/>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13. Deccan Herald: Montha loss ₹6,384 cr, 24 districts</a:t>
            </a:r>
          </a:p>
        </p:txBody>
      </p:sp>
      <p:sp>
        <p:nvSpPr>
          <p:cNvPr id="27" name="TextBox 26"/>
          <p:cNvSpPr txBox="1"/>
          <p:nvPr/>
        </p:nvSpPr>
        <p:spPr>
          <a:xfrm>
            <a:off x="5867400" y="5152628"/>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14. National Herald (Sept 2024): Vijayawada state figures</a:t>
            </a:r>
          </a:p>
        </p:txBody>
      </p:sp>
      <p:sp>
        <p:nvSpPr>
          <p:cNvPr id="28" name="TextBox 27"/>
          <p:cNvSpPr txBox="1"/>
          <p:nvPr/>
        </p:nvSpPr>
        <p:spPr>
          <a:xfrm>
            <a:off x="5867400" y="5414169"/>
            <a:ext cx="6283452" cy="198041"/>
          </a:xfrm>
          <a:prstGeom prst="rect">
            <a:avLst/>
          </a:prstGeom>
          <a:noFill/>
        </p:spPr>
        <p:txBody>
          <a:bodyPr wrap="none" tIns="0" rIns="0" bIns="0" lIns="0" anchor="t">
            <a:noAutofit/>
          </a:bodyPr>
          <a:lstStyle/>
          <a:p>
            <a:pPr algn="l">
              <a:lnSpc>
                <a:spcPts val="1560"/>
              </a:lnSpc>
            </a:pPr>
            <a:r>
              <a:rPr sz="1200" b="0">
                <a:solidFill>
                  <a:srgbClr val="A9A59C"/>
                </a:solidFill>
                <a:latin typeface="IBM Plex Sans"/>
              </a:rPr>
              <a:t>15. The South First: Budameru inflow vs canal capacity</a:t>
            </a:r>
          </a:p>
        </p:txBody>
      </p:sp>
      <p:sp>
        <p:nvSpPr>
          <p:cNvPr id="29" name="TextBox 28"/>
          <p:cNvSpPr txBox="1"/>
          <p:nvPr/>
        </p:nvSpPr>
        <p:spPr>
          <a:xfrm>
            <a:off x="812800" y="6280150"/>
            <a:ext cx="7962900" cy="171450"/>
          </a:xfrm>
          <a:prstGeom prst="rect">
            <a:avLst/>
          </a:prstGeom>
          <a:noFill/>
        </p:spPr>
        <p:txBody>
          <a:bodyPr wrap="none" tIns="0" rIns="0" bIns="0" lIns="0" anchor="t">
            <a:noAutofit/>
          </a:bodyPr>
          <a:lstStyle/>
          <a:p>
            <a:pPr algn="l">
              <a:lnSpc>
                <a:spcPts val="1439"/>
              </a:lnSpc>
            </a:pPr>
            <a:r>
              <a:rPr sz="1200" b="0">
                <a:solidFill>
                  <a:srgbClr val="A9A59C"/>
                </a:solidFill>
                <a:latin typeface="IBM Plex Mono"/>
              </a:rPr>
              <a:t>Quantum-Assisted Disaster Response Optimization</a:t>
            </a:r>
          </a:p>
        </p:txBody>
      </p:sp>
      <p:sp>
        <p:nvSpPr>
          <p:cNvPr id="30" name="TextBox 29"/>
          <p:cNvSpPr txBox="1"/>
          <p:nvPr/>
        </p:nvSpPr>
        <p:spPr>
          <a:xfrm>
            <a:off x="9641840" y="6280150"/>
            <a:ext cx="1737360" cy="171450"/>
          </a:xfrm>
          <a:prstGeom prst="rect">
            <a:avLst/>
          </a:prstGeom>
          <a:noFill/>
        </p:spPr>
        <p:txBody>
          <a:bodyPr wrap="none" tIns="0" rIns="0" bIns="0" lIns="0" anchor="t">
            <a:noAutofit/>
          </a:bodyPr>
          <a:lstStyle/>
          <a:p>
            <a:pPr algn="r">
              <a:lnSpc>
                <a:spcPts val="1439"/>
              </a:lnSpc>
            </a:pPr>
            <a:r>
              <a:rPr sz="1200" b="0">
                <a:solidFill>
                  <a:srgbClr val="A9A59C"/>
                </a:solidFill>
                <a:latin typeface="IBM Plex Mono"/>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