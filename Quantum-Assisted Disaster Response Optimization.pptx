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map: the Krishna river at Vijayawada, which flooded in September 2024. Coloured cells are the flood-risk layer; orange circles are the six sites chosen by our QAOA pipeline in the benchmark. One-sentence pitch: classical ML says where the risk is, a hybrid quantum-classical optimiser decides where help goes, and the loop re-runs when conditions change. We address QAIC use case UC-067 (flood forecasting and disaster-response sensor placement) and extend to UC-077 (disaster resource and evacuation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events, fourteen months apart, same coast. Vijayawada, September 2024: 6.44 lakh people affected, 193 relief camps, more than 42,000 people moved to shelters, 26 NDRF and 22 SDRF teams deployed (state disaster-management figures as reported by National Herald). The Budameru rivulet carried an estimated 30,000 to 35,000 cusecs into a diversion canal built for about 7,500 (The South First, quoting irrigation experts). Cyclone Montha, October 2025: the state's revised loss estimate to the central team was 6,384 crore rupees across 24 districts (Deccan Herald); All India Radio reported 43,000 hectares of crops damaged initially and 12 NDRF teams positioned in Andhra. Every number here is a placement decision: where camps, teams, boats and sensors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is subset selection. With 60 candidate sites and 10 teams there are about 75 billion plans (exact binomial coefficient C(60,10)). Sites interact because coverage overlaps, so they cannot be scored independently, and the inputs change during the event. That is precisely the structure of a QUBO: one binary decision variable per site, pairwise terms for overlap, a penalty for the budget constraint. This is why we use quantum optimisation for placement, and classical ML for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gap. Forecasting is crowded and good: Google Flood Hub's model (Nearing et al., Nature 2024), CWC and IMD. Their output is a risk prediction. What happens next is manual in control rooms, or at best a classical MILP solved offline and periodically. The closest quantum prior art is the UK NQCC SparQ project with Mind Foundry on quantum optimisation for disaster sensor networks, which addresses placement but not a live loop from forecast to plan. Our contribution is the chain on the right: risk prediction feeds automatic QUBO construction, QAOA samples placements on IBM hardware, constraints are validated, and the whole loop re-runs when events trigger it. We are explicit: the novelty is the closed-loop integration, not a claim of quantum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architecture in four layers. Data sources: IMD rainfall grids, CWC river gauges, Sentinel-1 radar for past flood extents used as training labels, and SRTM terrain, OpenStreetMap roads and Census population. Classical services: an event trigger that fires on threshold crossings, the risk service, the QUBO builder that also decomposes the region, and a classical baseline solver. Quantum layer: Qiskit transpiles to ISA circuits for the heavy-hex lattice, Qiskit Runtime's Sampler V2 submits in batch mode, the IBM Heron QPU samples, and a decoder checks feasibility and repairs if needed. Delivery: a versioned plan store, the operator console, dispatch to field teams, and an audit log. Two engineering decisions researchers should note: the classical baseline is always computed and ships if the QPU cannot answer in time, and every plan is traceable to an IBM job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as one line. 01: gridded disaster map from IMD rainfall, SRTM elevation and OpenStreetMap. 02: gradient-boosted risk model. 03: the placement decision becomes a QUBO, converted to an Ising Hamiltonian. 04: Qiskit builds the QAOA circuit with one or two layers. 05: the circuit runs on an IBM Heron QPU through Qiskit Runtime. 06: the best feasible bitstring decodes into a placement. 07: when inputs cross a threshold, the loop re-runs from the risk model. Only the three boxed stages are quantum; that split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deliberately classical: gradient-boosted trees are strong on tabular geospatial data and fast to retrain. Features are IMD gridded rainfall, SRTM elevation, distance to river and land use; labels are flood extents mapped from Sentinel-1 radar for past events including September 2024; validation is spatial cross-validation so neighbouring cells do not leak. The only thing the optimiser needs from this stage is a weight per candidate site: risk times exposure within that site's coverage radius. The map shown is the prototype risk layer we used for the benchmark, built from river-distance and low-lying-terrain features; the trained model plugs into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Each candidate site is one binary decision variable, which in this formulation maps to one problem qubit. The objective rewards risk-weighted exposure covered, penalises overlap between two chosen sites, and a quadratic penalty with lambda equal to 0.6 times the largest site weight enforces exactly k units. Substituting x = (1 - z)/2 gives the Ising Hamiltonian that QAOA minimises; we verified numerically that the Ising form reproduces every QUBO energy up to a constant. The heat map is the actual 12 by 12 QUBO of the western subproblem in our benchmark. Note it is dense: the cardinality penalty couples every pair, which matters for hardware routing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the Quantum Approximate Optimization Algorithm on a parameterized quantum circuit. Start in equal superposition; the cost layer applies ZZ rotations for overlaps and Z rotations for site rewards; the mixer applies X rotations so amplitude can move between placements; repeat p times with p equal to 1 or 2 because deeper circuits are noise-limited on NISQ hardware. The loop is explicit: a classical outer loop proposes angles, the quantum device samples bitstrings, we evaluate the conditional value-at-risk of the sampled QUBO energies with alpha 0.2 (Barkoutsos et al., Quantum 2020), and COBYLA updates the angles. For adaptation we warm-start from the previous angles (Egger et al., Quantum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quantum stage runs. Qiskit converts the QUBO to an Ising operator and builds a QAOAAnsatz. We decompose the region into subproblems of at most about 20 logical problem qubits; in the benchmark they are 12 and 11. The reason: a July 2026 benchmark on IBM Heron found naive QAOA on larger instances transpiling to more than 20,000 two-qubit gates with results indistinguishable from random. Our own subproblem is dense, 66 ZZ terms per layer, because the cardinality penalty couples every pair, so routing on heavy-hex adds SWAPs; that is why size is set by fidelity, not by the 133 to 156 physical qubits on the chip. Circuits are transpiled at optimisation level 3, submitted through Qiskit Runtime Sampler V2 in batch mode, which the free Open Plan supports, with angles optimised on the simulator and transferred, 4,096 shots per subproblem, dynamical decoupling and gate twirling on. The same code targets the planned Amaravati IBM Quantum System Two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innovation: a closed-loop quantum optimisation system that re-solves only the affected region when disaster conditions change. At T0 the forecast gives a baseline and we place six units. Six hours later the Budameru catchment surges, the risk layer shifts north, and units move toward it. By T plus 12 hours the water is in the delta and the plan follows. Three mechanisms keep QPU time small: an event trigger so we re-run only when inputs change; local re-solving so only affected subregions return to the hardware; and warm-starting from the previous QAOA angles. The three maps are the same pipeline applied to three risk states of our prototype risk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slide. One synthetic instance on the Krishna-basin grid: 285 cells, 23 candidate sites, 6 units, 100,947 possible plans. Four methods on the same instance and the same objective, risk-weighted coverage. Uniform spacing, a static plan, covers 21.8%. Greedy covers 61.9%, which equals the exact optimum found by exhaustive search in 0.7 seconds. QAOA with p equal to 2, simulated ideally, decomposed into a 12-qubit and an 11-qubit subproblem, reaches 58.9%, an approximation ratio of 0.95. Inside each subproblem QAOA found the exact QUBO optimum, and it concentrated 41.8% and 45.8% of samples on feasible plans versus 5.4% and 8.1% for random sampling. So the remaining gap is from modelling choices, the second-order QUBO and the regional split, not from the quantum sampler. Greedy is already optimal here, so we claim no quantum advantage; the point is a validated, hardware-ready pipeline. The hardware step runs the same circuits on IBM Heron with run_ibm.py.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 the video walks through, filled with the benchmark run. Left: risk layer and the six sites QAOA chose. Right: the quantum job: two subproblems of 12 and 11 problem qubits, 4,096 shots each, 41.8 and 45.8 percent feasible samples, plan ready. The four steps at the bottom are the video script: load an event, score risk, solve, then inject a change and show the re-plan. When recording, show the IBM Quantum Platform job page next to the console so the job IDs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stated plainly: we demonstrate a quantum-compatible, hardware-executed optimisation pipeline, not practical quantum advantage on today's small instances. What is new: the closed loop from ML risk to QUBO to QAOA with no manual step; event-triggered, warm-started, local re-solving; and decomposition sized to measured hardware fidelity. Fit: UC-067 directly, extending to UC-077; it builds on DST-NQM proposals 03 (quantum optimisation for mobility and logistics, IIT Hyderabad and IISER Tirupati) and 04 (QUEST climate modelling, with Andhra University); and it is designed for compatibility with the planned Amaravati IBM Quantum System Two environment. Limits: no advantage claimed; subproblems capped near 20 qubits by noise; classical solvers remain baseline and fallback. The buyer is the state disaster authority, funded through the 15th Finance Commission's 2.29 lakh crore disaster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idea: forecasts tell you where the water goes; our system decides where help goes, on quantum hardware, and keeps deciding as the situation changes. Point to the demo video and the repository, which includes the benchmark (qadr_bench.py) and the hardware runner (run_ibm.py). References are grouped: methods first, then platform, then problem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1300480"/>
            <a:ext cx="5494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QAIC UC-067 · UC-077 · Hybrid quantum-classical</a:t>
            </a:r>
            <a:endParaRPr lang="en-US" sz="1200" dirty="0"/>
          </a:p>
        </p:txBody>
      </p:sp>
      <p:sp>
        <p:nvSpPr>
          <p:cNvPr id="3" name="Text 1"/>
          <p:cNvSpPr/>
          <p:nvPr/>
        </p:nvSpPr>
        <p:spPr>
          <a:xfrm>
            <a:off x="812800" y="1742440"/>
            <a:ext cx="5494020" cy="1625600"/>
          </a:xfrm>
          <a:prstGeom prst="rect">
            <a:avLst/>
          </a:prstGeom>
          <a:noFill/>
          <a:ln/>
        </p:spPr>
        <p:txBody>
          <a:bodyPr wrap="square" lIns="0" tIns="0" rIns="0" bIns="0" rtlCol="0" anchor="t">
            <a:normAutofit/>
          </a:bodyPr>
          <a:lstStyle/>
          <a:p>
            <a:pPr algn="l" indent="0" marL="0">
              <a:lnSpc>
                <a:spcPts val="4200"/>
              </a:lnSpc>
              <a:buNone/>
            </a:pPr>
            <a:r>
              <a:rPr lang="en-US" sz="4000" b="1" spc="-100" kern="0" dirty="0">
                <a:solidFill>
                  <a:srgbClr val="F5F2EA"/>
                </a:solidFill>
                <a:latin typeface="IBM Plex Sans" pitchFamily="34" charset="0"/>
                <a:ea typeface="IBM Plex Sans" pitchFamily="34" charset="-122"/>
                <a:cs typeface="IBM Plex Sans" pitchFamily="34" charset="-120"/>
              </a:rPr>
              <a:t>Quantum-Assisted Disaster Response Optimization</a:t>
            </a:r>
            <a:endParaRPr lang="en-US" sz="4000" dirty="0"/>
          </a:p>
        </p:txBody>
      </p:sp>
      <p:sp>
        <p:nvSpPr>
          <p:cNvPr id="4" name="Text 2"/>
          <p:cNvSpPr/>
          <p:nvPr/>
        </p:nvSpPr>
        <p:spPr>
          <a:xfrm>
            <a:off x="812800" y="3571240"/>
            <a:ext cx="54940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A59C"/>
                </a:solidFill>
                <a:latin typeface="IBM Plex Sans" pitchFamily="34" charset="0"/>
                <a:ea typeface="IBM Plex Sans" pitchFamily="34" charset="-122"/>
                <a:cs typeface="IBM Plex Sans" pitchFamily="34" charset="-120"/>
              </a:rPr>
              <a:t>Classical ML scores flood risk. QAOA on IBM Quantum decides where sensors and relief go, and re-decides when conditions change.</a:t>
            </a:r>
            <a:endParaRPr lang="en-US" sz="1600" dirty="0"/>
          </a:p>
        </p:txBody>
      </p:sp>
      <p:sp>
        <p:nvSpPr>
          <p:cNvPr id="5" name="Shape 3"/>
          <p:cNvSpPr/>
          <p:nvPr/>
        </p:nvSpPr>
        <p:spPr>
          <a:xfrm>
            <a:off x="812800" y="4659630"/>
            <a:ext cx="5334000" cy="0"/>
          </a:xfrm>
          <a:prstGeom prst="line">
            <a:avLst/>
          </a:prstGeom>
          <a:noFill/>
          <a:ln w="12700">
            <a:solidFill>
              <a:srgbClr val="3A3834"/>
            </a:solidFill>
            <a:prstDash val="solid"/>
          </a:ln>
        </p:spPr>
      </p:sp>
      <p:sp>
        <p:nvSpPr>
          <p:cNvPr id="6" name="Text 4"/>
          <p:cNvSpPr/>
          <p:nvPr/>
        </p:nvSpPr>
        <p:spPr>
          <a:xfrm>
            <a:off x="812800" y="4815840"/>
            <a:ext cx="5494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Team Kala Dhua</a:t>
            </a:r>
            <a:endParaRPr lang="en-US" sz="1200" dirty="0"/>
          </a:p>
        </p:txBody>
      </p:sp>
      <p:sp>
        <p:nvSpPr>
          <p:cNvPr id="7" name="Text 5"/>
          <p:cNvSpPr/>
          <p:nvPr/>
        </p:nvSpPr>
        <p:spPr>
          <a:xfrm>
            <a:off x="812800" y="5080000"/>
            <a:ext cx="5494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Ayush Pathak · Shreeviraj Matale · Tushar Singh</a:t>
            </a:r>
            <a:endParaRPr lang="en-US" sz="1200" dirty="0"/>
          </a:p>
        </p:txBody>
      </p:sp>
      <p:sp>
        <p:nvSpPr>
          <p:cNvPr id="8" name="Text 6"/>
          <p:cNvSpPr/>
          <p:nvPr/>
        </p:nvSpPr>
        <p:spPr>
          <a:xfrm>
            <a:off x="812800" y="5344160"/>
            <a:ext cx="5494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Quantique Hackathon · Amaravati Quantum Valley</a:t>
            </a:r>
            <a:endParaRPr lang="en-US" sz="1200" dirty="0"/>
          </a:p>
        </p:txBody>
      </p:sp>
      <p:pic>
        <p:nvPicPr>
          <p:cNvPr id="9" name="Image 0" descr="Krishna river at Vijayawada with flood-risk cells and six sites chosen by QAOA">    </p:cNvPr>
          <p:cNvPicPr>
            <a:picLocks noChangeAspect="1"/>
          </p:cNvPicPr>
          <p:nvPr/>
        </p:nvPicPr>
        <p:blipFill>
          <a:blip r:embed="rId1"/>
          <a:srcRect l="0" r="0" t="0" b="0"/>
          <a:stretch/>
        </p:blipFill>
        <p:spPr>
          <a:xfrm>
            <a:off x="6553200" y="812800"/>
            <a:ext cx="4826000" cy="3619500"/>
          </a:xfrm>
          <a:prstGeom prst="rect">
            <a:avLst/>
          </a:prstGeom>
        </p:spPr>
      </p:pic>
      <p:sp>
        <p:nvSpPr>
          <p:cNvPr id="10" name="Text 7"/>
          <p:cNvSpPr/>
          <p:nvPr/>
        </p:nvSpPr>
        <p:spPr>
          <a:xfrm>
            <a:off x="8724900" y="2184400"/>
            <a:ext cx="132080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71717"/>
                </a:solidFill>
                <a:latin typeface="IBM Plex Sans" pitchFamily="34" charset="0"/>
                <a:ea typeface="IBM Plex Sans" pitchFamily="34" charset="-122"/>
                <a:cs typeface="IBM Plex Sans" pitchFamily="34" charset="-120"/>
              </a:rPr>
              <a:t>Vijayawada</a:t>
            </a:r>
            <a:endParaRPr lang="en-US" sz="1200" dirty="0"/>
          </a:p>
        </p:txBody>
      </p:sp>
      <p:sp>
        <p:nvSpPr>
          <p:cNvPr id="11" name="Text 8"/>
          <p:cNvSpPr/>
          <p:nvPr/>
        </p:nvSpPr>
        <p:spPr>
          <a:xfrm>
            <a:off x="6731000" y="1657350"/>
            <a:ext cx="1066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A5A5A"/>
                </a:solidFill>
                <a:latin typeface="IBM Plex Sans" pitchFamily="34" charset="0"/>
                <a:ea typeface="IBM Plex Sans" pitchFamily="34" charset="-122"/>
                <a:cs typeface="IBM Plex Sans" pitchFamily="34" charset="-120"/>
              </a:rPr>
              <a:t>Krishna</a:t>
            </a:r>
            <a:endParaRPr lang="en-US" sz="1200" dirty="0"/>
          </a:p>
        </p:txBody>
      </p:sp>
      <p:sp>
        <p:nvSpPr>
          <p:cNvPr id="12" name="Text 9"/>
          <p:cNvSpPr/>
          <p:nvPr/>
        </p:nvSpPr>
        <p:spPr>
          <a:xfrm>
            <a:off x="7975600" y="920750"/>
            <a:ext cx="1066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A5A5A"/>
                </a:solidFill>
                <a:latin typeface="IBM Plex Sans" pitchFamily="34" charset="0"/>
                <a:ea typeface="IBM Plex Sans" pitchFamily="34" charset="-122"/>
                <a:cs typeface="IBM Plex Sans" pitchFamily="34" charset="-120"/>
              </a:rPr>
              <a:t>Budameru</a:t>
            </a:r>
            <a:endParaRPr lang="en-US" sz="1200" dirty="0"/>
          </a:p>
        </p:txBody>
      </p:sp>
      <p:sp>
        <p:nvSpPr>
          <p:cNvPr id="13" name="Text 10"/>
          <p:cNvSpPr/>
          <p:nvPr/>
        </p:nvSpPr>
        <p:spPr>
          <a:xfrm>
            <a:off x="10229850" y="4070350"/>
            <a:ext cx="1320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A5A5A"/>
                </a:solidFill>
                <a:latin typeface="IBM Plex Sans" pitchFamily="34" charset="0"/>
                <a:ea typeface="IBM Plex Sans" pitchFamily="34" charset="-122"/>
                <a:cs typeface="IBM Plex Sans" pitchFamily="34" charset="-120"/>
              </a:rPr>
              <a:t>Bay of Bengal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01 · Problem</a:t>
            </a:r>
            <a:endParaRPr lang="en-US" sz="1200" dirty="0"/>
          </a:p>
        </p:txBody>
      </p:sp>
      <p:sp>
        <p:nvSpPr>
          <p:cNvPr id="3" name="Text 1"/>
          <p:cNvSpPr/>
          <p:nvPr/>
        </p:nvSpPr>
        <p:spPr>
          <a:xfrm>
            <a:off x="812800" y="112776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Coastal Andhra faced two major disasters in 14 months</a:t>
            </a:r>
            <a:endParaRPr lang="en-US" sz="3000" dirty="0"/>
          </a:p>
        </p:txBody>
      </p:sp>
      <p:sp>
        <p:nvSpPr>
          <p:cNvPr id="4" name="Text 2"/>
          <p:cNvSpPr/>
          <p:nvPr/>
        </p:nvSpPr>
        <p:spPr>
          <a:xfrm>
            <a:off x="812800" y="185166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Vijayawada floods · Sept 2024</a:t>
            </a:r>
            <a:endParaRPr lang="en-US" sz="1200" dirty="0"/>
          </a:p>
        </p:txBody>
      </p:sp>
      <p:sp>
        <p:nvSpPr>
          <p:cNvPr id="5" name="Text 3"/>
          <p:cNvSpPr/>
          <p:nvPr/>
        </p:nvSpPr>
        <p:spPr>
          <a:xfrm>
            <a:off x="812800" y="2242820"/>
            <a:ext cx="229759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6.44 lakh</a:t>
            </a:r>
            <a:endParaRPr lang="en-US" sz="4000" dirty="0"/>
          </a:p>
        </p:txBody>
      </p:sp>
      <p:sp>
        <p:nvSpPr>
          <p:cNvPr id="6" name="Text 4"/>
          <p:cNvSpPr/>
          <p:nvPr/>
        </p:nvSpPr>
        <p:spPr>
          <a:xfrm>
            <a:off x="812800" y="2788920"/>
            <a:ext cx="2297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people affected</a:t>
            </a:r>
            <a:endParaRPr lang="en-US" sz="1200" dirty="0"/>
          </a:p>
        </p:txBody>
      </p:sp>
      <p:sp>
        <p:nvSpPr>
          <p:cNvPr id="7" name="Text 5"/>
          <p:cNvSpPr/>
          <p:nvPr/>
        </p:nvSpPr>
        <p:spPr>
          <a:xfrm>
            <a:off x="3449876" y="2242820"/>
            <a:ext cx="1443911"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193</a:t>
            </a:r>
            <a:endParaRPr lang="en-US" sz="4000" dirty="0"/>
          </a:p>
        </p:txBody>
      </p:sp>
      <p:sp>
        <p:nvSpPr>
          <p:cNvPr id="8" name="Text 6"/>
          <p:cNvSpPr/>
          <p:nvPr/>
        </p:nvSpPr>
        <p:spPr>
          <a:xfrm>
            <a:off x="3449876" y="2788920"/>
            <a:ext cx="14439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relief camps opened</a:t>
            </a:r>
            <a:endParaRPr lang="en-US" sz="1200" dirty="0"/>
          </a:p>
        </p:txBody>
      </p:sp>
      <p:sp>
        <p:nvSpPr>
          <p:cNvPr id="9" name="Text 7"/>
          <p:cNvSpPr/>
          <p:nvPr/>
        </p:nvSpPr>
        <p:spPr>
          <a:xfrm>
            <a:off x="812800" y="3180080"/>
            <a:ext cx="2045869"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E7715F"/>
                </a:solidFill>
                <a:latin typeface="IBM Plex Sans" pitchFamily="34" charset="0"/>
                <a:ea typeface="IBM Plex Sans" pitchFamily="34" charset="-122"/>
                <a:cs typeface="IBM Plex Sans" pitchFamily="34" charset="-120"/>
              </a:rPr>
              <a:t>42,000+</a:t>
            </a:r>
            <a:endParaRPr lang="en-US" sz="4000" dirty="0"/>
          </a:p>
        </p:txBody>
      </p:sp>
      <p:sp>
        <p:nvSpPr>
          <p:cNvPr id="10" name="Text 8"/>
          <p:cNvSpPr/>
          <p:nvPr/>
        </p:nvSpPr>
        <p:spPr>
          <a:xfrm>
            <a:off x="812800" y="3726180"/>
            <a:ext cx="20458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people moved to shelters</a:t>
            </a:r>
            <a:endParaRPr lang="en-US" sz="1200" dirty="0"/>
          </a:p>
        </p:txBody>
      </p:sp>
      <p:sp>
        <p:nvSpPr>
          <p:cNvPr id="11" name="Text 9"/>
          <p:cNvSpPr/>
          <p:nvPr/>
        </p:nvSpPr>
        <p:spPr>
          <a:xfrm>
            <a:off x="3205480" y="3180080"/>
            <a:ext cx="212247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48</a:t>
            </a:r>
            <a:endParaRPr lang="en-US" sz="4000" dirty="0"/>
          </a:p>
        </p:txBody>
      </p:sp>
      <p:sp>
        <p:nvSpPr>
          <p:cNvPr id="12" name="Text 10"/>
          <p:cNvSpPr/>
          <p:nvPr/>
        </p:nvSpPr>
        <p:spPr>
          <a:xfrm>
            <a:off x="3205480" y="3726180"/>
            <a:ext cx="2122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NDRF + SDRF teams deployed</a:t>
            </a:r>
            <a:endParaRPr lang="en-US" sz="1200" dirty="0"/>
          </a:p>
        </p:txBody>
      </p:sp>
      <p:sp>
        <p:nvSpPr>
          <p:cNvPr id="13" name="Shape 11"/>
          <p:cNvSpPr/>
          <p:nvPr/>
        </p:nvSpPr>
        <p:spPr>
          <a:xfrm>
            <a:off x="6254750" y="1851660"/>
            <a:ext cx="0" cy="2087880"/>
          </a:xfrm>
          <a:prstGeom prst="line">
            <a:avLst/>
          </a:prstGeom>
          <a:noFill/>
          <a:ln w="12700">
            <a:solidFill>
              <a:srgbClr val="3A3834"/>
            </a:solidFill>
            <a:prstDash val="solid"/>
          </a:ln>
        </p:spPr>
      </p:sp>
      <p:sp>
        <p:nvSpPr>
          <p:cNvPr id="14" name="Text 12"/>
          <p:cNvSpPr/>
          <p:nvPr/>
        </p:nvSpPr>
        <p:spPr>
          <a:xfrm>
            <a:off x="6664960" y="1851660"/>
            <a:ext cx="42801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Cyclone Montha · Oct 2025</a:t>
            </a:r>
            <a:endParaRPr lang="en-US" sz="1200" dirty="0"/>
          </a:p>
        </p:txBody>
      </p:sp>
      <p:sp>
        <p:nvSpPr>
          <p:cNvPr id="15" name="Text 13"/>
          <p:cNvSpPr/>
          <p:nvPr/>
        </p:nvSpPr>
        <p:spPr>
          <a:xfrm>
            <a:off x="6664960" y="2242820"/>
            <a:ext cx="4280103"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E56A1F"/>
                </a:solidFill>
                <a:latin typeface="IBM Plex Sans" pitchFamily="34" charset="0"/>
                <a:ea typeface="IBM Plex Sans" pitchFamily="34" charset="-122"/>
                <a:cs typeface="IBM Plex Sans" pitchFamily="34" charset="-120"/>
              </a:rPr>
              <a:t>₹6,384 cr</a:t>
            </a:r>
            <a:endParaRPr lang="en-US" sz="4000" dirty="0"/>
          </a:p>
        </p:txBody>
      </p:sp>
      <p:sp>
        <p:nvSpPr>
          <p:cNvPr id="16" name="Text 14"/>
          <p:cNvSpPr/>
          <p:nvPr/>
        </p:nvSpPr>
        <p:spPr>
          <a:xfrm>
            <a:off x="6664960" y="2788920"/>
            <a:ext cx="42801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revised state loss estimate, 24 districts</a:t>
            </a:r>
            <a:endParaRPr lang="en-US" sz="1200" dirty="0"/>
          </a:p>
        </p:txBody>
      </p:sp>
      <p:sp>
        <p:nvSpPr>
          <p:cNvPr id="17" name="Text 15"/>
          <p:cNvSpPr/>
          <p:nvPr/>
        </p:nvSpPr>
        <p:spPr>
          <a:xfrm>
            <a:off x="6664960" y="3180080"/>
            <a:ext cx="197204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5F2EA"/>
                </a:solidFill>
                <a:latin typeface="IBM Plex Sans" pitchFamily="34" charset="0"/>
                <a:ea typeface="IBM Plex Sans" pitchFamily="34" charset="-122"/>
                <a:cs typeface="IBM Plex Sans" pitchFamily="34" charset="-120"/>
              </a:rPr>
              <a:t>43,000 ha</a:t>
            </a:r>
            <a:endParaRPr lang="en-US" sz="3200" dirty="0"/>
          </a:p>
        </p:txBody>
      </p:sp>
      <p:sp>
        <p:nvSpPr>
          <p:cNvPr id="18" name="Text 16"/>
          <p:cNvSpPr/>
          <p:nvPr/>
        </p:nvSpPr>
        <p:spPr>
          <a:xfrm>
            <a:off x="6664960" y="3624580"/>
            <a:ext cx="19720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crops damaged (initial)</a:t>
            </a:r>
            <a:endParaRPr lang="en-US" sz="1200" dirty="0"/>
          </a:p>
        </p:txBody>
      </p:sp>
      <p:sp>
        <p:nvSpPr>
          <p:cNvPr id="19" name="Text 17"/>
          <p:cNvSpPr/>
          <p:nvPr/>
        </p:nvSpPr>
        <p:spPr>
          <a:xfrm>
            <a:off x="8985965" y="3180080"/>
            <a:ext cx="159726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5F2EA"/>
                </a:solidFill>
                <a:latin typeface="IBM Plex Sans" pitchFamily="34" charset="0"/>
                <a:ea typeface="IBM Plex Sans" pitchFamily="34" charset="-122"/>
                <a:cs typeface="IBM Plex Sans" pitchFamily="34" charset="-120"/>
              </a:rPr>
              <a:t>12</a:t>
            </a:r>
            <a:endParaRPr lang="en-US" sz="3200" dirty="0"/>
          </a:p>
        </p:txBody>
      </p:sp>
      <p:sp>
        <p:nvSpPr>
          <p:cNvPr id="20" name="Text 18"/>
          <p:cNvSpPr/>
          <p:nvPr/>
        </p:nvSpPr>
        <p:spPr>
          <a:xfrm>
            <a:off x="8985965" y="3624580"/>
            <a:ext cx="1597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NDRF teams in Andhra</a:t>
            </a:r>
            <a:endParaRPr lang="en-US" sz="1200" dirty="0"/>
          </a:p>
        </p:txBody>
      </p:sp>
      <p:sp>
        <p:nvSpPr>
          <p:cNvPr id="21" name="Text 19"/>
          <p:cNvSpPr/>
          <p:nvPr/>
        </p:nvSpPr>
        <p:spPr>
          <a:xfrm>
            <a:off x="812800" y="42443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Budameru inflow vs diversion canal capacity</a:t>
            </a:r>
            <a:r>
              <a:rPr lang="en-US" sz="1400" dirty="0">
                <a:solidFill>
                  <a:srgbClr val="F5F2EA"/>
                </a:solidFill>
                <a:latin typeface="IBM Plex Sans" pitchFamily="34" charset="0"/>
                <a:ea typeface="IBM Plex Sans" pitchFamily="34" charset="-122"/>
                <a:cs typeface="IBM Plex Sans" pitchFamily="34" charset="-120"/>
              </a:rPr>
              <a:t> </a:t>
            </a:r>
            <a:r>
              <a:rPr lang="en-US" sz="1400" dirty="0">
                <a:solidFill>
                  <a:srgbClr val="A9A59C"/>
                </a:solidFill>
                <a:latin typeface="IBM Plex Sans" pitchFamily="34" charset="0"/>
                <a:ea typeface="IBM Plex Sans" pitchFamily="34" charset="-122"/>
                <a:cs typeface="IBM Plex Sans" pitchFamily="34" charset="-120"/>
              </a:rPr>
              <a:t>(cusecs)</a:t>
            </a:r>
            <a:endParaRPr lang="en-US" sz="1400" dirty="0"/>
          </a:p>
        </p:txBody>
      </p:sp>
      <p:sp>
        <p:nvSpPr>
          <p:cNvPr id="22" name="Shape 20"/>
          <p:cNvSpPr/>
          <p:nvPr/>
        </p:nvSpPr>
        <p:spPr>
          <a:xfrm>
            <a:off x="812800" y="4583430"/>
            <a:ext cx="6350000" cy="228600"/>
          </a:xfrm>
          <a:prstGeom prst="rect">
            <a:avLst/>
          </a:prstGeom>
          <a:solidFill>
            <a:srgbClr val="C83A2A"/>
          </a:solidFill>
          <a:ln/>
        </p:spPr>
      </p:sp>
      <p:sp>
        <p:nvSpPr>
          <p:cNvPr id="23" name="Text 21"/>
          <p:cNvSpPr/>
          <p:nvPr/>
        </p:nvSpPr>
        <p:spPr>
          <a:xfrm>
            <a:off x="7315200" y="4582160"/>
            <a:ext cx="14376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~35,000 inflow</a:t>
            </a:r>
            <a:endParaRPr lang="en-US" sz="1300" dirty="0"/>
          </a:p>
        </p:txBody>
      </p:sp>
      <p:sp>
        <p:nvSpPr>
          <p:cNvPr id="24" name="Shape 22"/>
          <p:cNvSpPr/>
          <p:nvPr/>
        </p:nvSpPr>
        <p:spPr>
          <a:xfrm>
            <a:off x="812800" y="4903470"/>
            <a:ext cx="1358900" cy="228600"/>
          </a:xfrm>
          <a:prstGeom prst="rect">
            <a:avLst/>
          </a:prstGeom>
          <a:solidFill>
            <a:srgbClr val="A9A59C"/>
          </a:solidFill>
          <a:ln/>
        </p:spPr>
      </p:sp>
      <p:sp>
        <p:nvSpPr>
          <p:cNvPr id="25" name="Text 23"/>
          <p:cNvSpPr/>
          <p:nvPr/>
        </p:nvSpPr>
        <p:spPr>
          <a:xfrm>
            <a:off x="2324100" y="4902200"/>
            <a:ext cx="37751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7,500 canal capacity · ~4.7× exceeded</a:t>
            </a:r>
            <a:endParaRPr lang="en-US" sz="1300" dirty="0"/>
          </a:p>
        </p:txBody>
      </p:sp>
      <p:sp>
        <p:nvSpPr>
          <p:cNvPr id="26" name="Text 24"/>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7" name="Text 25"/>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02 · Why it is hard</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Placing help is a combinatorial optimization problem</a:t>
            </a:r>
            <a:endParaRPr lang="en-US" sz="3000" dirty="0"/>
          </a:p>
        </p:txBody>
      </p:sp>
      <p:sp>
        <p:nvSpPr>
          <p:cNvPr id="4" name="Text 2"/>
          <p:cNvSpPr/>
          <p:nvPr/>
        </p:nvSpPr>
        <p:spPr>
          <a:xfrm>
            <a:off x="812800" y="185166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Ways to place 10 units among n candidate sites (log scale)</a:t>
            </a:r>
            <a:endParaRPr lang="en-US" sz="1200" dirty="0"/>
          </a:p>
        </p:txBody>
      </p:sp>
      <p:pic>
        <p:nvPicPr>
          <p:cNvPr id="5" name="Image 0" descr="Log-scale bar chart: ways to place 10 units among n candidate sites">    </p:cNvPr>
          <p:cNvPicPr>
            <a:picLocks noChangeAspect="1"/>
          </p:cNvPicPr>
          <p:nvPr/>
        </p:nvPicPr>
        <p:blipFill>
          <a:blip r:embed="rId1"/>
          <a:srcRect l="0" r="0" t="0" b="0"/>
          <a:stretch/>
        </p:blipFill>
        <p:spPr>
          <a:xfrm>
            <a:off x="812800" y="2166620"/>
            <a:ext cx="5715000" cy="3429000"/>
          </a:xfrm>
          <a:prstGeom prst="rect">
            <a:avLst/>
          </a:prstGeom>
        </p:spPr>
      </p:pic>
      <p:sp>
        <p:nvSpPr>
          <p:cNvPr id="6" name="Text 3"/>
          <p:cNvSpPr/>
          <p:nvPr/>
        </p:nvSpPr>
        <p:spPr>
          <a:xfrm>
            <a:off x="850900" y="391922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185 thousand</a:t>
            </a:r>
            <a:endParaRPr lang="en-US" sz="1200" dirty="0"/>
          </a:p>
        </p:txBody>
      </p:sp>
      <p:sp>
        <p:nvSpPr>
          <p:cNvPr id="7" name="Text 4"/>
          <p:cNvSpPr/>
          <p:nvPr/>
        </p:nvSpPr>
        <p:spPr>
          <a:xfrm>
            <a:off x="977900" y="534162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n = 20</a:t>
            </a:r>
            <a:endParaRPr lang="en-US" sz="1200" dirty="0"/>
          </a:p>
        </p:txBody>
      </p:sp>
      <p:sp>
        <p:nvSpPr>
          <p:cNvPr id="8" name="Text 5"/>
          <p:cNvSpPr/>
          <p:nvPr/>
        </p:nvSpPr>
        <p:spPr>
          <a:xfrm>
            <a:off x="1930400" y="317627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848 million</a:t>
            </a:r>
            <a:endParaRPr lang="en-US" sz="1200" dirty="0"/>
          </a:p>
        </p:txBody>
      </p:sp>
      <p:sp>
        <p:nvSpPr>
          <p:cNvPr id="9" name="Text 6"/>
          <p:cNvSpPr/>
          <p:nvPr/>
        </p:nvSpPr>
        <p:spPr>
          <a:xfrm>
            <a:off x="2057400" y="534162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n = 40</a:t>
            </a:r>
            <a:endParaRPr lang="en-US" sz="1200" dirty="0"/>
          </a:p>
        </p:txBody>
      </p:sp>
      <p:sp>
        <p:nvSpPr>
          <p:cNvPr id="10" name="Text 7"/>
          <p:cNvSpPr/>
          <p:nvPr/>
        </p:nvSpPr>
        <p:spPr>
          <a:xfrm>
            <a:off x="3009900" y="277622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75 billion</a:t>
            </a:r>
            <a:endParaRPr lang="en-US" sz="1200" dirty="0"/>
          </a:p>
        </p:txBody>
      </p:sp>
      <p:sp>
        <p:nvSpPr>
          <p:cNvPr id="11" name="Text 8"/>
          <p:cNvSpPr/>
          <p:nvPr/>
        </p:nvSpPr>
        <p:spPr>
          <a:xfrm>
            <a:off x="3136900" y="534162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n = 60</a:t>
            </a:r>
            <a:endParaRPr lang="en-US" sz="1200" dirty="0"/>
          </a:p>
        </p:txBody>
      </p:sp>
      <p:sp>
        <p:nvSpPr>
          <p:cNvPr id="12" name="Text 9"/>
          <p:cNvSpPr/>
          <p:nvPr/>
        </p:nvSpPr>
        <p:spPr>
          <a:xfrm>
            <a:off x="4089400" y="250317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1.6 trillion</a:t>
            </a:r>
            <a:endParaRPr lang="en-US" sz="1200" dirty="0"/>
          </a:p>
        </p:txBody>
      </p:sp>
      <p:sp>
        <p:nvSpPr>
          <p:cNvPr id="13" name="Text 10"/>
          <p:cNvSpPr/>
          <p:nvPr/>
        </p:nvSpPr>
        <p:spPr>
          <a:xfrm>
            <a:off x="4216400" y="534162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n = 80</a:t>
            </a:r>
            <a:endParaRPr lang="en-US" sz="1200" dirty="0"/>
          </a:p>
        </p:txBody>
      </p:sp>
      <p:sp>
        <p:nvSpPr>
          <p:cNvPr id="14" name="Text 11"/>
          <p:cNvSpPr/>
          <p:nvPr/>
        </p:nvSpPr>
        <p:spPr>
          <a:xfrm>
            <a:off x="5168900" y="229362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17 trillion</a:t>
            </a:r>
            <a:endParaRPr lang="en-US" sz="1200" dirty="0"/>
          </a:p>
        </p:txBody>
      </p:sp>
      <p:sp>
        <p:nvSpPr>
          <p:cNvPr id="15" name="Text 12"/>
          <p:cNvSpPr/>
          <p:nvPr/>
        </p:nvSpPr>
        <p:spPr>
          <a:xfrm>
            <a:off x="5295900" y="5341620"/>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n = 100</a:t>
            </a:r>
            <a:endParaRPr lang="en-US" sz="1200" dirty="0"/>
          </a:p>
        </p:txBody>
      </p:sp>
      <p:sp>
        <p:nvSpPr>
          <p:cNvPr id="16" name="Text 13"/>
          <p:cNvSpPr/>
          <p:nvPr/>
        </p:nvSpPr>
        <p:spPr>
          <a:xfrm>
            <a:off x="7137400" y="3171825"/>
            <a:ext cx="431673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56A1F"/>
                </a:solidFill>
                <a:latin typeface="IBM Plex Sans" pitchFamily="34" charset="0"/>
                <a:ea typeface="IBM Plex Sans" pitchFamily="34" charset="-122"/>
                <a:cs typeface="IBM Plex Sans" pitchFamily="34" charset="-120"/>
              </a:rPr>
              <a:t>75 billion</a:t>
            </a:r>
            <a:endParaRPr lang="en-US" sz="4800" dirty="0"/>
          </a:p>
        </p:txBody>
      </p:sp>
      <p:sp>
        <p:nvSpPr>
          <p:cNvPr id="17" name="Text 14"/>
          <p:cNvSpPr/>
          <p:nvPr/>
        </p:nvSpPr>
        <p:spPr>
          <a:xfrm>
            <a:off x="7137400" y="3806825"/>
            <a:ext cx="43167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59C"/>
                </a:solidFill>
                <a:latin typeface="IBM Plex Sans" pitchFamily="34" charset="0"/>
                <a:ea typeface="IBM Plex Sans" pitchFamily="34" charset="-122"/>
                <a:cs typeface="IBM Plex Sans" pitchFamily="34" charset="-120"/>
              </a:rPr>
              <a:t>plans for 10 teams across 60 sites</a:t>
            </a:r>
            <a:endParaRPr lang="en-US" sz="1400" dirty="0"/>
          </a:p>
        </p:txBody>
      </p:sp>
      <p:sp>
        <p:nvSpPr>
          <p:cNvPr id="18" name="Text 15"/>
          <p:cNvSpPr/>
          <p:nvPr/>
        </p:nvSpPr>
        <p:spPr>
          <a:xfrm>
            <a:off x="7137400" y="4309745"/>
            <a:ext cx="4316730" cy="1311275"/>
          </a:xfrm>
          <a:prstGeom prst="rect">
            <a:avLst/>
          </a:prstGeom>
          <a:noFill/>
          <a:ln/>
        </p:spPr>
        <p:txBody>
          <a:bodyPr wrap="square" lIns="0" tIns="0" rIns="0" bIns="0" rtlCol="0" anchor="t">
            <a:normAutofit/>
          </a:bodyPr>
          <a:lstStyle/>
          <a:p>
            <a:pPr algn="l" marL="228600" indent="-182880">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Coverage overlaps make sites interdependent</a:t>
            </a:r>
            <a:endParaRPr lang="en-US" sz="1500" dirty="0"/>
          </a:p>
          <a:p>
            <a:pPr algn="l" marL="228600" indent="-182880">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Risk moves as rain and river levels change</a:t>
            </a:r>
            <a:endParaRPr lang="en-US" sz="1500" dirty="0"/>
          </a:p>
          <a:p>
            <a:pPr algn="l" marL="228600" indent="-182880">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A plan made at T0 is stale hours later</a:t>
            </a:r>
            <a:endParaRPr lang="en-US" sz="1500" dirty="0"/>
          </a:p>
          <a:p>
            <a:pPr algn="l" marL="228600" indent="-182880">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Constraint optimization: one binary decision per site → QUBO</a:t>
            </a:r>
            <a:endParaRPr lang="en-US" sz="1500" dirty="0"/>
          </a:p>
        </p:txBody>
      </p:sp>
      <p:sp>
        <p:nvSpPr>
          <p:cNvPr id="19" name="Text 16"/>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0" name="Text 17"/>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03 · Research gap</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Forecasting is well served; the loop to placement is open</a:t>
            </a:r>
            <a:endParaRPr lang="en-US" sz="3000" dirty="0"/>
          </a:p>
        </p:txBody>
      </p:sp>
      <p:sp>
        <p:nvSpPr>
          <p:cNvPr id="4" name="Text 2"/>
          <p:cNvSpPr/>
          <p:nvPr/>
        </p:nvSpPr>
        <p:spPr>
          <a:xfrm>
            <a:off x="812800" y="185166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Existing</a:t>
            </a:r>
            <a:endParaRPr lang="en-US" sz="1200" dirty="0"/>
          </a:p>
        </p:txBody>
      </p:sp>
      <p:sp>
        <p:nvSpPr>
          <p:cNvPr id="5" name="Shape 3"/>
          <p:cNvSpPr/>
          <p:nvPr/>
        </p:nvSpPr>
        <p:spPr>
          <a:xfrm>
            <a:off x="819150" y="2249170"/>
            <a:ext cx="2082800" cy="617220"/>
          </a:xfrm>
          <a:prstGeom prst="rect">
            <a:avLst/>
          </a:prstGeom>
          <a:solidFill>
            <a:srgbClr val="262522"/>
          </a:solidFill>
          <a:ln w="12700">
            <a:solidFill>
              <a:srgbClr val="3A3834"/>
            </a:solidFill>
            <a:prstDash val="solid"/>
          </a:ln>
        </p:spPr>
      </p:sp>
      <p:sp>
        <p:nvSpPr>
          <p:cNvPr id="6" name="Text 4"/>
          <p:cNvSpPr/>
          <p:nvPr/>
        </p:nvSpPr>
        <p:spPr>
          <a:xfrm>
            <a:off x="937260" y="2329180"/>
            <a:ext cx="190197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Flood forecasting</a:t>
            </a:r>
            <a:endParaRPr lang="en-US" sz="1300" dirty="0"/>
          </a:p>
        </p:txBody>
      </p:sp>
      <p:sp>
        <p:nvSpPr>
          <p:cNvPr id="7" name="Text 5"/>
          <p:cNvSpPr/>
          <p:nvPr/>
        </p:nvSpPr>
        <p:spPr>
          <a:xfrm>
            <a:off x="937260" y="2573020"/>
            <a:ext cx="1901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Flood Hub · CWC · IMD</a:t>
            </a:r>
            <a:endParaRPr lang="en-US" sz="1200" dirty="0"/>
          </a:p>
        </p:txBody>
      </p:sp>
      <p:pic>
        <p:nvPicPr>
          <p:cNvPr id="8" name="Image 0" descr="arrow">    </p:cNvPr>
          <p:cNvPicPr>
            <a:picLocks noChangeAspect="1"/>
          </p:cNvPicPr>
          <p:nvPr/>
        </p:nvPicPr>
        <p:blipFill>
          <a:blip r:embed="rId1"/>
          <a:srcRect l="0" r="0" t="0" b="0"/>
          <a:stretch/>
        </p:blipFill>
        <p:spPr>
          <a:xfrm>
            <a:off x="3009900" y="2481580"/>
            <a:ext cx="304800" cy="152400"/>
          </a:xfrm>
          <a:prstGeom prst="rect">
            <a:avLst/>
          </a:prstGeom>
        </p:spPr>
      </p:pic>
      <p:sp>
        <p:nvSpPr>
          <p:cNvPr id="9" name="Shape 6"/>
          <p:cNvSpPr/>
          <p:nvPr/>
        </p:nvSpPr>
        <p:spPr>
          <a:xfrm>
            <a:off x="3422650" y="2361882"/>
            <a:ext cx="1638300" cy="391795"/>
          </a:xfrm>
          <a:prstGeom prst="rect">
            <a:avLst/>
          </a:prstGeom>
          <a:solidFill>
            <a:srgbClr val="262522"/>
          </a:solidFill>
          <a:ln w="12700">
            <a:solidFill>
              <a:srgbClr val="3A3834"/>
            </a:solidFill>
            <a:prstDash val="solid"/>
          </a:ln>
        </p:spPr>
      </p:sp>
      <p:sp>
        <p:nvSpPr>
          <p:cNvPr id="10" name="Text 7"/>
          <p:cNvSpPr/>
          <p:nvPr/>
        </p:nvSpPr>
        <p:spPr>
          <a:xfrm>
            <a:off x="3540760" y="2454593"/>
            <a:ext cx="145288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5F2EA"/>
                </a:solidFill>
                <a:latin typeface="IBM Plex Sans" pitchFamily="34" charset="0"/>
                <a:ea typeface="IBM Plex Sans" pitchFamily="34" charset="-122"/>
                <a:cs typeface="IBM Plex Sans" pitchFamily="34" charset="-120"/>
              </a:rPr>
              <a:t>Risk prediction</a:t>
            </a:r>
            <a:endParaRPr lang="en-US" sz="1300" dirty="0"/>
          </a:p>
        </p:txBody>
      </p:sp>
      <p:sp>
        <p:nvSpPr>
          <p:cNvPr id="11" name="Text 8"/>
          <p:cNvSpPr/>
          <p:nvPr/>
        </p:nvSpPr>
        <p:spPr>
          <a:xfrm>
            <a:off x="5168900" y="2458720"/>
            <a:ext cx="1511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7715F"/>
                </a:solidFill>
                <a:latin typeface="IBM Plex Sans" pitchFamily="34" charset="0"/>
                <a:ea typeface="IBM Plex Sans" pitchFamily="34" charset="-122"/>
                <a:cs typeface="IBM Plex Sans" pitchFamily="34" charset="-120"/>
              </a:rPr>
              <a:t>Stops at the forecast</a:t>
            </a:r>
            <a:endParaRPr lang="en-US" sz="1200" dirty="0"/>
          </a:p>
        </p:txBody>
      </p:sp>
      <p:sp>
        <p:nvSpPr>
          <p:cNvPr id="12" name="Shape 9"/>
          <p:cNvSpPr/>
          <p:nvPr/>
        </p:nvSpPr>
        <p:spPr>
          <a:xfrm>
            <a:off x="819150" y="3056891"/>
            <a:ext cx="2082800" cy="617220"/>
          </a:xfrm>
          <a:prstGeom prst="rect">
            <a:avLst/>
          </a:prstGeom>
          <a:solidFill>
            <a:srgbClr val="262522"/>
          </a:solidFill>
          <a:ln w="12700">
            <a:solidFill>
              <a:srgbClr val="3A3834"/>
            </a:solidFill>
            <a:prstDash val="solid"/>
          </a:ln>
        </p:spPr>
      </p:sp>
      <p:sp>
        <p:nvSpPr>
          <p:cNvPr id="13" name="Text 10"/>
          <p:cNvSpPr/>
          <p:nvPr/>
        </p:nvSpPr>
        <p:spPr>
          <a:xfrm>
            <a:off x="937260" y="3136900"/>
            <a:ext cx="190197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Control rooms</a:t>
            </a:r>
            <a:endParaRPr lang="en-US" sz="1300" dirty="0"/>
          </a:p>
        </p:txBody>
      </p:sp>
      <p:sp>
        <p:nvSpPr>
          <p:cNvPr id="14" name="Text 11"/>
          <p:cNvSpPr/>
          <p:nvPr/>
        </p:nvSpPr>
        <p:spPr>
          <a:xfrm>
            <a:off x="937260" y="3380741"/>
            <a:ext cx="1901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District EOCs</a:t>
            </a:r>
            <a:endParaRPr lang="en-US" sz="1200" dirty="0"/>
          </a:p>
        </p:txBody>
      </p:sp>
      <p:pic>
        <p:nvPicPr>
          <p:cNvPr id="15" name="Image 1" descr="arrow">    </p:cNvPr>
          <p:cNvPicPr>
            <a:picLocks noChangeAspect="1"/>
          </p:cNvPicPr>
          <p:nvPr/>
        </p:nvPicPr>
        <p:blipFill>
          <a:blip r:embed="rId2"/>
          <a:srcRect l="0" r="0" t="0" b="0"/>
          <a:stretch/>
        </p:blipFill>
        <p:spPr>
          <a:xfrm>
            <a:off x="3009900" y="3289300"/>
            <a:ext cx="304800" cy="152400"/>
          </a:xfrm>
          <a:prstGeom prst="rect">
            <a:avLst/>
          </a:prstGeom>
        </p:spPr>
      </p:pic>
      <p:sp>
        <p:nvSpPr>
          <p:cNvPr id="16" name="Shape 12"/>
          <p:cNvSpPr/>
          <p:nvPr/>
        </p:nvSpPr>
        <p:spPr>
          <a:xfrm>
            <a:off x="3422650" y="3169603"/>
            <a:ext cx="1638300" cy="391795"/>
          </a:xfrm>
          <a:prstGeom prst="rect">
            <a:avLst/>
          </a:prstGeom>
          <a:solidFill>
            <a:srgbClr val="262522"/>
          </a:solidFill>
          <a:ln w="12700">
            <a:solidFill>
              <a:srgbClr val="3A3834"/>
            </a:solidFill>
            <a:prstDash val="solid"/>
          </a:ln>
        </p:spPr>
      </p:sp>
      <p:sp>
        <p:nvSpPr>
          <p:cNvPr id="17" name="Text 13"/>
          <p:cNvSpPr/>
          <p:nvPr/>
        </p:nvSpPr>
        <p:spPr>
          <a:xfrm>
            <a:off x="3540760" y="3262313"/>
            <a:ext cx="145288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5F2EA"/>
                </a:solidFill>
                <a:latin typeface="IBM Plex Sans" pitchFamily="34" charset="0"/>
                <a:ea typeface="IBM Plex Sans" pitchFamily="34" charset="-122"/>
                <a:cs typeface="IBM Plex Sans" pitchFamily="34" charset="-120"/>
              </a:rPr>
              <a:t>Manual placement</a:t>
            </a:r>
            <a:endParaRPr lang="en-US" sz="1300" dirty="0"/>
          </a:p>
        </p:txBody>
      </p:sp>
      <p:sp>
        <p:nvSpPr>
          <p:cNvPr id="18" name="Text 14"/>
          <p:cNvSpPr/>
          <p:nvPr/>
        </p:nvSpPr>
        <p:spPr>
          <a:xfrm>
            <a:off x="5168900" y="3266441"/>
            <a:ext cx="1511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7715F"/>
                </a:solidFill>
                <a:latin typeface="IBM Plex Sans" pitchFamily="34" charset="0"/>
                <a:ea typeface="IBM Plex Sans" pitchFamily="34" charset="-122"/>
                <a:cs typeface="IBM Plex Sans" pitchFamily="34" charset="-120"/>
              </a:rPr>
              <a:t>Slow; plan is static</a:t>
            </a:r>
            <a:endParaRPr lang="en-US" sz="1200" dirty="0"/>
          </a:p>
        </p:txBody>
      </p:sp>
      <p:sp>
        <p:nvSpPr>
          <p:cNvPr id="19" name="Shape 15"/>
          <p:cNvSpPr/>
          <p:nvPr/>
        </p:nvSpPr>
        <p:spPr>
          <a:xfrm>
            <a:off x="819150" y="3864611"/>
            <a:ext cx="2082800" cy="617220"/>
          </a:xfrm>
          <a:prstGeom prst="rect">
            <a:avLst/>
          </a:prstGeom>
          <a:solidFill>
            <a:srgbClr val="262522"/>
          </a:solidFill>
          <a:ln w="12700">
            <a:solidFill>
              <a:srgbClr val="3A3834"/>
            </a:solidFill>
            <a:prstDash val="solid"/>
          </a:ln>
        </p:spPr>
      </p:sp>
      <p:sp>
        <p:nvSpPr>
          <p:cNvPr id="20" name="Text 16"/>
          <p:cNvSpPr/>
          <p:nvPr/>
        </p:nvSpPr>
        <p:spPr>
          <a:xfrm>
            <a:off x="937260" y="3944620"/>
            <a:ext cx="190197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Classical optimization</a:t>
            </a:r>
            <a:endParaRPr lang="en-US" sz="1300" dirty="0"/>
          </a:p>
        </p:txBody>
      </p:sp>
      <p:sp>
        <p:nvSpPr>
          <p:cNvPr id="21" name="Text 17"/>
          <p:cNvSpPr/>
          <p:nvPr/>
        </p:nvSpPr>
        <p:spPr>
          <a:xfrm>
            <a:off x="937260" y="4188461"/>
            <a:ext cx="1901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MILP / heuristics</a:t>
            </a:r>
            <a:endParaRPr lang="en-US" sz="1200" dirty="0"/>
          </a:p>
        </p:txBody>
      </p:sp>
      <p:pic>
        <p:nvPicPr>
          <p:cNvPr id="22" name="Image 2" descr="arrow">    </p:cNvPr>
          <p:cNvPicPr>
            <a:picLocks noChangeAspect="1"/>
          </p:cNvPicPr>
          <p:nvPr/>
        </p:nvPicPr>
        <p:blipFill>
          <a:blip r:embed="rId3"/>
          <a:srcRect l="0" r="0" t="0" b="0"/>
          <a:stretch/>
        </p:blipFill>
        <p:spPr>
          <a:xfrm>
            <a:off x="3009900" y="4097020"/>
            <a:ext cx="304800" cy="152400"/>
          </a:xfrm>
          <a:prstGeom prst="rect">
            <a:avLst/>
          </a:prstGeom>
        </p:spPr>
      </p:pic>
      <p:sp>
        <p:nvSpPr>
          <p:cNvPr id="23" name="Shape 18"/>
          <p:cNvSpPr/>
          <p:nvPr/>
        </p:nvSpPr>
        <p:spPr>
          <a:xfrm>
            <a:off x="3422650" y="3874136"/>
            <a:ext cx="1638300" cy="598170"/>
          </a:xfrm>
          <a:prstGeom prst="rect">
            <a:avLst/>
          </a:prstGeom>
          <a:solidFill>
            <a:srgbClr val="262522"/>
          </a:solidFill>
          <a:ln w="12700">
            <a:solidFill>
              <a:srgbClr val="3A3834"/>
            </a:solidFill>
            <a:prstDash val="solid"/>
          </a:ln>
        </p:spPr>
      </p:sp>
      <p:sp>
        <p:nvSpPr>
          <p:cNvPr id="24" name="Text 19"/>
          <p:cNvSpPr/>
          <p:nvPr/>
        </p:nvSpPr>
        <p:spPr>
          <a:xfrm>
            <a:off x="3540760" y="3966845"/>
            <a:ext cx="1452880"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F5F2EA"/>
                </a:solidFill>
                <a:latin typeface="IBM Plex Sans" pitchFamily="34" charset="0"/>
                <a:ea typeface="IBM Plex Sans" pitchFamily="34" charset="-122"/>
                <a:cs typeface="IBM Plex Sans" pitchFamily="34" charset="-120"/>
              </a:rPr>
              <a:t>Offline, periodic solve</a:t>
            </a:r>
            <a:endParaRPr lang="en-US" sz="1300" dirty="0"/>
          </a:p>
        </p:txBody>
      </p:sp>
      <p:sp>
        <p:nvSpPr>
          <p:cNvPr id="25" name="Text 20"/>
          <p:cNvSpPr/>
          <p:nvPr/>
        </p:nvSpPr>
        <p:spPr>
          <a:xfrm>
            <a:off x="5168900" y="4074161"/>
            <a:ext cx="1511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7715F"/>
                </a:solidFill>
                <a:latin typeface="IBM Plex Sans" pitchFamily="34" charset="0"/>
                <a:ea typeface="IBM Plex Sans" pitchFamily="34" charset="-122"/>
                <a:cs typeface="IBM Plex Sans" pitchFamily="34" charset="-120"/>
              </a:rPr>
              <a:t>Not wired to live risk</a:t>
            </a:r>
            <a:endParaRPr lang="en-US" sz="1200" dirty="0"/>
          </a:p>
        </p:txBody>
      </p:sp>
      <p:sp>
        <p:nvSpPr>
          <p:cNvPr id="26" name="Text 21"/>
          <p:cNvSpPr/>
          <p:nvPr/>
        </p:nvSpPr>
        <p:spPr>
          <a:xfrm>
            <a:off x="812800" y="4665980"/>
            <a:ext cx="62788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Closest prior art: NQCC × Mind Foundry quantum sensor-network PoC (UK, 2025), which covers placement only, with no live risk loop.</a:t>
            </a:r>
            <a:endParaRPr lang="en-US" sz="1200" dirty="0"/>
          </a:p>
        </p:txBody>
      </p:sp>
      <p:sp>
        <p:nvSpPr>
          <p:cNvPr id="27" name="Text 22"/>
          <p:cNvSpPr/>
          <p:nvPr/>
        </p:nvSpPr>
        <p:spPr>
          <a:xfrm>
            <a:off x="7772400" y="185166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Our contribution</a:t>
            </a:r>
            <a:endParaRPr lang="en-US" sz="1200" dirty="0"/>
          </a:p>
        </p:txBody>
      </p:sp>
      <p:sp>
        <p:nvSpPr>
          <p:cNvPr id="28" name="Shape 23"/>
          <p:cNvSpPr/>
          <p:nvPr/>
        </p:nvSpPr>
        <p:spPr>
          <a:xfrm>
            <a:off x="7778750" y="2109470"/>
            <a:ext cx="3543300" cy="391795"/>
          </a:xfrm>
          <a:prstGeom prst="rect">
            <a:avLst/>
          </a:prstGeom>
          <a:solidFill>
            <a:srgbClr val="22302A"/>
          </a:solidFill>
          <a:ln w="12700">
            <a:solidFill>
              <a:srgbClr val="4F7658"/>
            </a:solidFill>
            <a:prstDash val="solid"/>
          </a:ln>
        </p:spPr>
      </p:sp>
      <p:sp>
        <p:nvSpPr>
          <p:cNvPr id="29" name="Text 24"/>
          <p:cNvSpPr/>
          <p:nvPr/>
        </p:nvSpPr>
        <p:spPr>
          <a:xfrm>
            <a:off x="7896860" y="2202180"/>
            <a:ext cx="34062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2EA"/>
                </a:solidFill>
                <a:latin typeface="IBM Plex Sans" pitchFamily="34" charset="0"/>
                <a:ea typeface="IBM Plex Sans" pitchFamily="34" charset="-122"/>
                <a:cs typeface="IBM Plex Sans" pitchFamily="34" charset="-120"/>
              </a:rPr>
              <a:t>Risk prediction (ML)</a:t>
            </a:r>
            <a:endParaRPr lang="en-US" sz="1300" dirty="0"/>
          </a:p>
        </p:txBody>
      </p:sp>
      <p:pic>
        <p:nvPicPr>
          <p:cNvPr id="30" name="Image 3" descr="arrow">    </p:cNvPr>
          <p:cNvPicPr>
            <a:picLocks noChangeAspect="1"/>
          </p:cNvPicPr>
          <p:nvPr/>
        </p:nvPicPr>
        <p:blipFill>
          <a:blip r:embed="rId4"/>
          <a:srcRect l="0" r="0" t="0" b="0"/>
          <a:stretch/>
        </p:blipFill>
        <p:spPr>
          <a:xfrm>
            <a:off x="9461500" y="2545716"/>
            <a:ext cx="177800" cy="190500"/>
          </a:xfrm>
          <a:prstGeom prst="rect">
            <a:avLst/>
          </a:prstGeom>
        </p:spPr>
      </p:pic>
      <p:sp>
        <p:nvSpPr>
          <p:cNvPr id="31" name="Shape 25"/>
          <p:cNvSpPr/>
          <p:nvPr/>
        </p:nvSpPr>
        <p:spPr>
          <a:xfrm>
            <a:off x="7778750" y="2780666"/>
            <a:ext cx="3543300" cy="391795"/>
          </a:xfrm>
          <a:prstGeom prst="rect">
            <a:avLst/>
          </a:prstGeom>
          <a:solidFill>
            <a:srgbClr val="22302A"/>
          </a:solidFill>
          <a:ln w="12700">
            <a:solidFill>
              <a:srgbClr val="4F7658"/>
            </a:solidFill>
            <a:prstDash val="solid"/>
          </a:ln>
        </p:spPr>
      </p:sp>
      <p:sp>
        <p:nvSpPr>
          <p:cNvPr id="32" name="Text 26"/>
          <p:cNvSpPr/>
          <p:nvPr/>
        </p:nvSpPr>
        <p:spPr>
          <a:xfrm>
            <a:off x="7896860" y="2873375"/>
            <a:ext cx="34062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2EA"/>
                </a:solidFill>
                <a:latin typeface="IBM Plex Sans" pitchFamily="34" charset="0"/>
                <a:ea typeface="IBM Plex Sans" pitchFamily="34" charset="-122"/>
                <a:cs typeface="IBM Plex Sans" pitchFamily="34" charset="-120"/>
              </a:rPr>
              <a:t>Automatic QUBO construction</a:t>
            </a:r>
            <a:endParaRPr lang="en-US" sz="1300" dirty="0"/>
          </a:p>
        </p:txBody>
      </p:sp>
      <p:pic>
        <p:nvPicPr>
          <p:cNvPr id="33" name="Image 4" descr="arrow">    </p:cNvPr>
          <p:cNvPicPr>
            <a:picLocks noChangeAspect="1"/>
          </p:cNvPicPr>
          <p:nvPr/>
        </p:nvPicPr>
        <p:blipFill>
          <a:blip r:embed="rId5"/>
          <a:srcRect l="0" r="0" t="0" b="0"/>
          <a:stretch/>
        </p:blipFill>
        <p:spPr>
          <a:xfrm>
            <a:off x="9461500" y="3216911"/>
            <a:ext cx="177800" cy="190500"/>
          </a:xfrm>
          <a:prstGeom prst="rect">
            <a:avLst/>
          </a:prstGeom>
        </p:spPr>
      </p:pic>
      <p:sp>
        <p:nvSpPr>
          <p:cNvPr id="34" name="Shape 27"/>
          <p:cNvSpPr/>
          <p:nvPr/>
        </p:nvSpPr>
        <p:spPr>
          <a:xfrm>
            <a:off x="7778750" y="3451861"/>
            <a:ext cx="3543300" cy="391795"/>
          </a:xfrm>
          <a:prstGeom prst="rect">
            <a:avLst/>
          </a:prstGeom>
          <a:solidFill>
            <a:srgbClr val="3A2616"/>
          </a:solidFill>
          <a:ln w="12700">
            <a:solidFill>
              <a:srgbClr val="E56A1F"/>
            </a:solidFill>
            <a:prstDash val="solid"/>
          </a:ln>
        </p:spPr>
      </p:sp>
      <p:sp>
        <p:nvSpPr>
          <p:cNvPr id="35" name="Text 28"/>
          <p:cNvSpPr/>
          <p:nvPr/>
        </p:nvSpPr>
        <p:spPr>
          <a:xfrm>
            <a:off x="7896860" y="3544570"/>
            <a:ext cx="34062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2EA"/>
                </a:solidFill>
                <a:latin typeface="IBM Plex Sans" pitchFamily="34" charset="0"/>
                <a:ea typeface="IBM Plex Sans" pitchFamily="34" charset="-122"/>
                <a:cs typeface="IBM Plex Sans" pitchFamily="34" charset="-120"/>
              </a:rPr>
              <a:t>QAOA on IBM QPU</a:t>
            </a:r>
            <a:endParaRPr lang="en-US" sz="1300" dirty="0"/>
          </a:p>
        </p:txBody>
      </p:sp>
      <p:pic>
        <p:nvPicPr>
          <p:cNvPr id="36" name="Image 5" descr="arrow">    </p:cNvPr>
          <p:cNvPicPr>
            <a:picLocks noChangeAspect="1"/>
          </p:cNvPicPr>
          <p:nvPr/>
        </p:nvPicPr>
        <p:blipFill>
          <a:blip r:embed="rId6"/>
          <a:srcRect l="0" r="0" t="0" b="0"/>
          <a:stretch/>
        </p:blipFill>
        <p:spPr>
          <a:xfrm>
            <a:off x="9461500" y="3888105"/>
            <a:ext cx="177800" cy="190500"/>
          </a:xfrm>
          <a:prstGeom prst="rect">
            <a:avLst/>
          </a:prstGeom>
        </p:spPr>
      </p:pic>
      <p:sp>
        <p:nvSpPr>
          <p:cNvPr id="37" name="Shape 29"/>
          <p:cNvSpPr/>
          <p:nvPr/>
        </p:nvSpPr>
        <p:spPr>
          <a:xfrm>
            <a:off x="7778750" y="4123055"/>
            <a:ext cx="3543300" cy="391795"/>
          </a:xfrm>
          <a:prstGeom prst="rect">
            <a:avLst/>
          </a:prstGeom>
          <a:solidFill>
            <a:srgbClr val="22302A"/>
          </a:solidFill>
          <a:ln w="12700">
            <a:solidFill>
              <a:srgbClr val="4F7658"/>
            </a:solidFill>
            <a:prstDash val="solid"/>
          </a:ln>
        </p:spPr>
      </p:sp>
      <p:sp>
        <p:nvSpPr>
          <p:cNvPr id="38" name="Text 30"/>
          <p:cNvSpPr/>
          <p:nvPr/>
        </p:nvSpPr>
        <p:spPr>
          <a:xfrm>
            <a:off x="7896860" y="4215766"/>
            <a:ext cx="34062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2EA"/>
                </a:solidFill>
                <a:latin typeface="IBM Plex Sans" pitchFamily="34" charset="0"/>
                <a:ea typeface="IBM Plex Sans" pitchFamily="34" charset="-122"/>
                <a:cs typeface="IBM Plex Sans" pitchFamily="34" charset="-120"/>
              </a:rPr>
              <a:t>Constraint validation</a:t>
            </a:r>
            <a:endParaRPr lang="en-US" sz="1300" dirty="0"/>
          </a:p>
        </p:txBody>
      </p:sp>
      <p:pic>
        <p:nvPicPr>
          <p:cNvPr id="39" name="Image 6" descr="arrow">    </p:cNvPr>
          <p:cNvPicPr>
            <a:picLocks noChangeAspect="1"/>
          </p:cNvPicPr>
          <p:nvPr/>
        </p:nvPicPr>
        <p:blipFill>
          <a:blip r:embed="rId7"/>
          <a:srcRect l="0" r="0" t="0" b="0"/>
          <a:stretch/>
        </p:blipFill>
        <p:spPr>
          <a:xfrm>
            <a:off x="9461500" y="4559300"/>
            <a:ext cx="177800" cy="190500"/>
          </a:xfrm>
          <a:prstGeom prst="rect">
            <a:avLst/>
          </a:prstGeom>
        </p:spPr>
      </p:pic>
      <p:sp>
        <p:nvSpPr>
          <p:cNvPr id="40" name="Shape 31"/>
          <p:cNvSpPr/>
          <p:nvPr/>
        </p:nvSpPr>
        <p:spPr>
          <a:xfrm>
            <a:off x="7778750" y="4794250"/>
            <a:ext cx="3543300" cy="391795"/>
          </a:xfrm>
          <a:prstGeom prst="rect">
            <a:avLst/>
          </a:prstGeom>
          <a:solidFill>
            <a:srgbClr val="22302A"/>
          </a:solidFill>
          <a:ln w="12700">
            <a:solidFill>
              <a:srgbClr val="4F7658"/>
            </a:solidFill>
            <a:prstDash val="solid"/>
          </a:ln>
        </p:spPr>
      </p:sp>
      <p:sp>
        <p:nvSpPr>
          <p:cNvPr id="41" name="Text 32"/>
          <p:cNvSpPr/>
          <p:nvPr/>
        </p:nvSpPr>
        <p:spPr>
          <a:xfrm>
            <a:off x="7896860" y="4886961"/>
            <a:ext cx="34062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5F2EA"/>
                </a:solidFill>
                <a:latin typeface="IBM Plex Sans" pitchFamily="34" charset="0"/>
                <a:ea typeface="IBM Plex Sans" pitchFamily="34" charset="-122"/>
                <a:cs typeface="IBM Plex Sans" pitchFamily="34" charset="-120"/>
              </a:rPr>
              <a:t>Event-triggered re-optimization</a:t>
            </a:r>
            <a:endParaRPr lang="en-US" sz="1300" dirty="0"/>
          </a:p>
        </p:txBody>
      </p:sp>
      <p:sp>
        <p:nvSpPr>
          <p:cNvPr id="42" name="Text 33"/>
          <p:cNvSpPr/>
          <p:nvPr/>
        </p:nvSpPr>
        <p:spPr>
          <a:xfrm>
            <a:off x="812800" y="5497196"/>
            <a:ext cx="10883392"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5F2EA"/>
                </a:solidFill>
                <a:latin typeface="IBM Plex Sans" pitchFamily="34" charset="0"/>
                <a:ea typeface="IBM Plex Sans" pitchFamily="34" charset="-122"/>
                <a:cs typeface="IBM Plex Sans" pitchFamily="34" charset="-120"/>
              </a:rPr>
              <a:t>The novelty is the closed-loop integration, </a:t>
            </a:r>
            <a:r>
              <a:rPr lang="en-US" sz="1700" b="1" dirty="0">
                <a:solidFill>
                  <a:srgbClr val="E56A1F"/>
                </a:solidFill>
                <a:latin typeface="IBM Plex Sans" pitchFamily="34" charset="0"/>
                <a:ea typeface="IBM Plex Sans" pitchFamily="34" charset="-122"/>
                <a:cs typeface="IBM Plex Sans" pitchFamily="34" charset="-120"/>
              </a:rPr>
              <a:t>not a claim of quantum advantage.</a:t>
            </a:r>
            <a:endParaRPr lang="en-US" sz="1700" dirty="0"/>
          </a:p>
        </p:txBody>
      </p:sp>
      <p:sp>
        <p:nvSpPr>
          <p:cNvPr id="43" name="Text 3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44" name="Text 3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1696"/>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56A1F"/>
                </a:solidFill>
                <a:latin typeface="IBM Plex Mono" pitchFamily="34" charset="0"/>
                <a:ea typeface="IBM Plex Mono" pitchFamily="34" charset="-122"/>
                <a:cs typeface="IBM Plex Mono" pitchFamily="34" charset="-120"/>
              </a:rPr>
              <a:t>04 · System architecture</a:t>
            </a:r>
            <a:endParaRPr lang="en-US" sz="1159" dirty="0"/>
          </a:p>
        </p:txBody>
      </p:sp>
      <p:sp>
        <p:nvSpPr>
          <p:cNvPr id="3" name="Text 1"/>
          <p:cNvSpPr/>
          <p:nvPr/>
        </p:nvSpPr>
        <p:spPr>
          <a:xfrm>
            <a:off x="812800" y="1120697"/>
            <a:ext cx="10883392" cy="430689"/>
          </a:xfrm>
          <a:prstGeom prst="rect">
            <a:avLst/>
          </a:prstGeom>
          <a:noFill/>
          <a:ln/>
        </p:spPr>
        <p:txBody>
          <a:bodyPr wrap="square" lIns="0" tIns="0" rIns="0" bIns="0" rtlCol="0" anchor="t">
            <a:normAutofit/>
          </a:bodyPr>
          <a:lstStyle/>
          <a:p>
            <a:pPr algn="l" indent="0" marL="0">
              <a:lnSpc>
                <a:spcPts val="3218"/>
              </a:lnSpc>
              <a:buNone/>
            </a:pPr>
            <a:r>
              <a:rPr lang="en-US" sz="2925" b="1" spc="-50" kern="0" dirty="0">
                <a:solidFill>
                  <a:srgbClr val="F5F2EA"/>
                </a:solidFill>
                <a:latin typeface="IBM Plex Sans" pitchFamily="34" charset="0"/>
                <a:ea typeface="IBM Plex Sans" pitchFamily="34" charset="-122"/>
                <a:cs typeface="IBM Plex Sans" pitchFamily="34" charset="-120"/>
              </a:rPr>
              <a:t>Four layers from sensors to field teams</a:t>
            </a:r>
            <a:endParaRPr lang="en-US" sz="2925" dirty="0"/>
          </a:p>
        </p:txBody>
      </p:sp>
      <p:sp>
        <p:nvSpPr>
          <p:cNvPr id="4" name="Text 2"/>
          <p:cNvSpPr/>
          <p:nvPr/>
        </p:nvSpPr>
        <p:spPr>
          <a:xfrm>
            <a:off x="812800" y="1830784"/>
            <a:ext cx="23676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01 · Data sources</a:t>
            </a:r>
            <a:endParaRPr lang="en-US" sz="1200" dirty="0"/>
          </a:p>
        </p:txBody>
      </p:sp>
      <p:sp>
        <p:nvSpPr>
          <p:cNvPr id="5" name="Shape 3"/>
          <p:cNvSpPr/>
          <p:nvPr/>
        </p:nvSpPr>
        <p:spPr>
          <a:xfrm>
            <a:off x="819150" y="2126695"/>
            <a:ext cx="2286000" cy="642620"/>
          </a:xfrm>
          <a:prstGeom prst="rect">
            <a:avLst/>
          </a:prstGeom>
          <a:solidFill>
            <a:srgbClr val="262522"/>
          </a:solidFill>
          <a:ln w="12700">
            <a:solidFill>
              <a:srgbClr val="3A3834"/>
            </a:solidFill>
            <a:prstDash val="solid"/>
          </a:ln>
        </p:spPr>
      </p:sp>
      <p:sp>
        <p:nvSpPr>
          <p:cNvPr id="6" name="Text 4"/>
          <p:cNvSpPr/>
          <p:nvPr/>
        </p:nvSpPr>
        <p:spPr>
          <a:xfrm>
            <a:off x="937260" y="221940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IMD rainfall grids</a:t>
            </a:r>
            <a:endParaRPr lang="en-US" sz="1300" dirty="0"/>
          </a:p>
        </p:txBody>
      </p:sp>
      <p:sp>
        <p:nvSpPr>
          <p:cNvPr id="7" name="Text 5"/>
          <p:cNvSpPr/>
          <p:nvPr/>
        </p:nvSpPr>
        <p:spPr>
          <a:xfrm>
            <a:off x="937260" y="2463245"/>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gridded forecasts, nowcasts</a:t>
            </a:r>
            <a:endParaRPr lang="en-US" sz="1200" dirty="0"/>
          </a:p>
        </p:txBody>
      </p:sp>
      <p:sp>
        <p:nvSpPr>
          <p:cNvPr id="8" name="Shape 6"/>
          <p:cNvSpPr/>
          <p:nvPr/>
        </p:nvSpPr>
        <p:spPr>
          <a:xfrm>
            <a:off x="819150" y="2858216"/>
            <a:ext cx="2286000" cy="642620"/>
          </a:xfrm>
          <a:prstGeom prst="rect">
            <a:avLst/>
          </a:prstGeom>
          <a:solidFill>
            <a:srgbClr val="262522"/>
          </a:solidFill>
          <a:ln w="12700">
            <a:solidFill>
              <a:srgbClr val="3A3834"/>
            </a:solidFill>
            <a:prstDash val="solid"/>
          </a:ln>
        </p:spPr>
      </p:sp>
      <p:sp>
        <p:nvSpPr>
          <p:cNvPr id="9" name="Text 7"/>
          <p:cNvSpPr/>
          <p:nvPr/>
        </p:nvSpPr>
        <p:spPr>
          <a:xfrm>
            <a:off x="937260" y="2950924"/>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CWC river gauges</a:t>
            </a:r>
            <a:endParaRPr lang="en-US" sz="1300" dirty="0"/>
          </a:p>
        </p:txBody>
      </p:sp>
      <p:sp>
        <p:nvSpPr>
          <p:cNvPr id="10" name="Text 8"/>
          <p:cNvSpPr/>
          <p:nvPr/>
        </p:nvSpPr>
        <p:spPr>
          <a:xfrm>
            <a:off x="937260" y="319476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stage and discharge</a:t>
            </a:r>
            <a:endParaRPr lang="en-US" sz="1200" dirty="0"/>
          </a:p>
        </p:txBody>
      </p:sp>
      <p:sp>
        <p:nvSpPr>
          <p:cNvPr id="11" name="Shape 9"/>
          <p:cNvSpPr/>
          <p:nvPr/>
        </p:nvSpPr>
        <p:spPr>
          <a:xfrm>
            <a:off x="819150" y="3589734"/>
            <a:ext cx="2286000" cy="642620"/>
          </a:xfrm>
          <a:prstGeom prst="rect">
            <a:avLst/>
          </a:prstGeom>
          <a:solidFill>
            <a:srgbClr val="262522"/>
          </a:solidFill>
          <a:ln w="12700">
            <a:solidFill>
              <a:srgbClr val="3A3834"/>
            </a:solidFill>
            <a:prstDash val="solid"/>
          </a:ln>
        </p:spPr>
      </p:sp>
      <p:sp>
        <p:nvSpPr>
          <p:cNvPr id="12" name="Text 10"/>
          <p:cNvSpPr/>
          <p:nvPr/>
        </p:nvSpPr>
        <p:spPr>
          <a:xfrm>
            <a:off x="937260" y="3682445"/>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Sentinel-1 SAR</a:t>
            </a:r>
            <a:endParaRPr lang="en-US" sz="1300" dirty="0"/>
          </a:p>
        </p:txBody>
      </p:sp>
      <p:sp>
        <p:nvSpPr>
          <p:cNvPr id="13" name="Text 11"/>
          <p:cNvSpPr/>
          <p:nvPr/>
        </p:nvSpPr>
        <p:spPr>
          <a:xfrm>
            <a:off x="937260" y="3926284"/>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past flood extents (labels)</a:t>
            </a:r>
            <a:endParaRPr lang="en-US" sz="1200" dirty="0"/>
          </a:p>
        </p:txBody>
      </p:sp>
      <p:sp>
        <p:nvSpPr>
          <p:cNvPr id="14" name="Shape 12"/>
          <p:cNvSpPr/>
          <p:nvPr/>
        </p:nvSpPr>
        <p:spPr>
          <a:xfrm>
            <a:off x="819150" y="4321256"/>
            <a:ext cx="2286000" cy="642620"/>
          </a:xfrm>
          <a:prstGeom prst="rect">
            <a:avLst/>
          </a:prstGeom>
          <a:solidFill>
            <a:srgbClr val="262522"/>
          </a:solidFill>
          <a:ln w="12700">
            <a:solidFill>
              <a:srgbClr val="3A3834"/>
            </a:solidFill>
            <a:prstDash val="solid"/>
          </a:ln>
        </p:spPr>
      </p:sp>
      <p:sp>
        <p:nvSpPr>
          <p:cNvPr id="15" name="Text 13"/>
          <p:cNvSpPr/>
          <p:nvPr/>
        </p:nvSpPr>
        <p:spPr>
          <a:xfrm>
            <a:off x="937260" y="441396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SRTM · OSM · Census</a:t>
            </a:r>
            <a:endParaRPr lang="en-US" sz="1300" dirty="0"/>
          </a:p>
        </p:txBody>
      </p:sp>
      <p:sp>
        <p:nvSpPr>
          <p:cNvPr id="16" name="Text 14"/>
          <p:cNvSpPr/>
          <p:nvPr/>
        </p:nvSpPr>
        <p:spPr>
          <a:xfrm>
            <a:off x="937260" y="465780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terrain, roads, population</a:t>
            </a:r>
            <a:endParaRPr lang="en-US" sz="1200" dirty="0"/>
          </a:p>
        </p:txBody>
      </p:sp>
      <p:pic>
        <p:nvPicPr>
          <p:cNvPr id="17" name="Image 0" descr="arrow">    </p:cNvPr>
          <p:cNvPicPr>
            <a:picLocks noChangeAspect="1"/>
          </p:cNvPicPr>
          <p:nvPr/>
        </p:nvPicPr>
        <p:blipFill>
          <a:blip r:embed="rId1"/>
          <a:srcRect l="0" r="0" t="-8333" b="-8333"/>
          <a:stretch/>
        </p:blipFill>
        <p:spPr>
          <a:xfrm>
            <a:off x="3187700" y="3522901"/>
            <a:ext cx="304800" cy="177800"/>
          </a:xfrm>
          <a:prstGeom prst="rect">
            <a:avLst/>
          </a:prstGeom>
        </p:spPr>
      </p:pic>
      <p:sp>
        <p:nvSpPr>
          <p:cNvPr id="18" name="Text 15"/>
          <p:cNvSpPr/>
          <p:nvPr/>
        </p:nvSpPr>
        <p:spPr>
          <a:xfrm>
            <a:off x="3568700" y="1830784"/>
            <a:ext cx="2367661" cy="22971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A9A59C"/>
                </a:solidFill>
                <a:latin typeface="IBM Plex Mono" pitchFamily="34" charset="0"/>
                <a:ea typeface="IBM Plex Mono" pitchFamily="34" charset="-122"/>
                <a:cs typeface="IBM Plex Mono" pitchFamily="34" charset="-120"/>
              </a:rPr>
              <a:t>02 · Classical services</a:t>
            </a:r>
            <a:endParaRPr lang="en-US" sz="1159" dirty="0"/>
          </a:p>
        </p:txBody>
      </p:sp>
      <p:sp>
        <p:nvSpPr>
          <p:cNvPr id="19" name="Shape 16"/>
          <p:cNvSpPr/>
          <p:nvPr/>
        </p:nvSpPr>
        <p:spPr>
          <a:xfrm>
            <a:off x="3575050" y="2117647"/>
            <a:ext cx="2286000" cy="623332"/>
          </a:xfrm>
          <a:prstGeom prst="rect">
            <a:avLst/>
          </a:prstGeom>
          <a:solidFill>
            <a:srgbClr val="262522"/>
          </a:solidFill>
          <a:ln w="12700">
            <a:solidFill>
              <a:srgbClr val="3A3834"/>
            </a:solidFill>
            <a:prstDash val="solid"/>
          </a:ln>
        </p:spPr>
      </p:sp>
      <p:sp>
        <p:nvSpPr>
          <p:cNvPr id="20" name="Text 17"/>
          <p:cNvSpPr/>
          <p:nvPr/>
        </p:nvSpPr>
        <p:spPr>
          <a:xfrm>
            <a:off x="3693160" y="2210355"/>
            <a:ext cx="2111274" cy="24653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F5F2EA"/>
                </a:solidFill>
                <a:latin typeface="IBM Plex Sans" pitchFamily="34" charset="0"/>
                <a:ea typeface="IBM Plex Sans" pitchFamily="34" charset="-122"/>
                <a:cs typeface="IBM Plex Sans" pitchFamily="34" charset="-120"/>
              </a:rPr>
              <a:t>Event trigger</a:t>
            </a:r>
            <a:endParaRPr lang="en-US" sz="1268" dirty="0"/>
          </a:p>
        </p:txBody>
      </p:sp>
      <p:sp>
        <p:nvSpPr>
          <p:cNvPr id="21" name="Text 18"/>
          <p:cNvSpPr/>
          <p:nvPr/>
        </p:nvSpPr>
        <p:spPr>
          <a:xfrm>
            <a:off x="3693160" y="2444195"/>
            <a:ext cx="2111274" cy="22947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A9A59C"/>
                </a:solidFill>
                <a:latin typeface="IBM Plex Sans" pitchFamily="34" charset="0"/>
                <a:ea typeface="IBM Plex Sans" pitchFamily="34" charset="-122"/>
                <a:cs typeface="IBM Plex Sans" pitchFamily="34" charset="-120"/>
              </a:rPr>
              <a:t>threshold rules on new data</a:t>
            </a:r>
            <a:endParaRPr lang="en-US" sz="1159" dirty="0"/>
          </a:p>
        </p:txBody>
      </p:sp>
      <p:sp>
        <p:nvSpPr>
          <p:cNvPr id="22" name="Shape 19"/>
          <p:cNvSpPr/>
          <p:nvPr/>
        </p:nvSpPr>
        <p:spPr>
          <a:xfrm>
            <a:off x="3575050" y="2829877"/>
            <a:ext cx="2286000" cy="623253"/>
          </a:xfrm>
          <a:prstGeom prst="rect">
            <a:avLst/>
          </a:prstGeom>
          <a:solidFill>
            <a:srgbClr val="262522"/>
          </a:solidFill>
          <a:ln w="12700">
            <a:solidFill>
              <a:srgbClr val="3A3834"/>
            </a:solidFill>
            <a:prstDash val="solid"/>
          </a:ln>
        </p:spPr>
      </p:sp>
      <p:sp>
        <p:nvSpPr>
          <p:cNvPr id="23" name="Text 20"/>
          <p:cNvSpPr/>
          <p:nvPr/>
        </p:nvSpPr>
        <p:spPr>
          <a:xfrm>
            <a:off x="3693160" y="2922588"/>
            <a:ext cx="2111274" cy="24645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F5F2EA"/>
                </a:solidFill>
                <a:latin typeface="IBM Plex Sans" pitchFamily="34" charset="0"/>
                <a:ea typeface="IBM Plex Sans" pitchFamily="34" charset="-122"/>
                <a:cs typeface="IBM Plex Sans" pitchFamily="34" charset="-120"/>
              </a:rPr>
              <a:t>Risk service</a:t>
            </a:r>
            <a:endParaRPr lang="en-US" sz="1268" dirty="0"/>
          </a:p>
        </p:txBody>
      </p:sp>
      <p:sp>
        <p:nvSpPr>
          <p:cNvPr id="24" name="Text 21"/>
          <p:cNvSpPr/>
          <p:nvPr/>
        </p:nvSpPr>
        <p:spPr>
          <a:xfrm>
            <a:off x="3693160" y="3156347"/>
            <a:ext cx="2111274" cy="22947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A9A59C"/>
                </a:solidFill>
                <a:latin typeface="IBM Plex Sans" pitchFamily="34" charset="0"/>
                <a:ea typeface="IBM Plex Sans" pitchFamily="34" charset="-122"/>
                <a:cs typeface="IBM Plex Sans" pitchFamily="34" charset="-120"/>
              </a:rPr>
              <a:t>XGBoost, 1 km grid</a:t>
            </a:r>
            <a:endParaRPr lang="en-US" sz="1159" dirty="0"/>
          </a:p>
        </p:txBody>
      </p:sp>
      <p:sp>
        <p:nvSpPr>
          <p:cNvPr id="25" name="Shape 22"/>
          <p:cNvSpPr/>
          <p:nvPr/>
        </p:nvSpPr>
        <p:spPr>
          <a:xfrm>
            <a:off x="3575050" y="3542032"/>
            <a:ext cx="2286000" cy="827564"/>
          </a:xfrm>
          <a:prstGeom prst="rect">
            <a:avLst/>
          </a:prstGeom>
          <a:solidFill>
            <a:srgbClr val="262522"/>
          </a:solidFill>
          <a:ln w="12700">
            <a:solidFill>
              <a:srgbClr val="3A3834"/>
            </a:solidFill>
            <a:prstDash val="solid"/>
          </a:ln>
        </p:spPr>
      </p:sp>
      <p:sp>
        <p:nvSpPr>
          <p:cNvPr id="26" name="Text 23"/>
          <p:cNvSpPr/>
          <p:nvPr/>
        </p:nvSpPr>
        <p:spPr>
          <a:xfrm>
            <a:off x="3693160" y="3634739"/>
            <a:ext cx="2111274" cy="24653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F5F2EA"/>
                </a:solidFill>
                <a:latin typeface="IBM Plex Sans" pitchFamily="34" charset="0"/>
                <a:ea typeface="IBM Plex Sans" pitchFamily="34" charset="-122"/>
                <a:cs typeface="IBM Plex Sans" pitchFamily="34" charset="-120"/>
              </a:rPr>
              <a:t>QUBO builder</a:t>
            </a:r>
            <a:endParaRPr lang="en-US" sz="1268" dirty="0"/>
          </a:p>
        </p:txBody>
      </p:sp>
      <p:sp>
        <p:nvSpPr>
          <p:cNvPr id="27" name="Text 24"/>
          <p:cNvSpPr/>
          <p:nvPr/>
        </p:nvSpPr>
        <p:spPr>
          <a:xfrm>
            <a:off x="3693160" y="3868579"/>
            <a:ext cx="2111274" cy="433705"/>
          </a:xfrm>
          <a:prstGeom prst="rect">
            <a:avLst/>
          </a:prstGeom>
          <a:noFill/>
          <a:ln/>
        </p:spPr>
        <p:txBody>
          <a:bodyPr wrap="square" lIns="0" tIns="0" rIns="0" bIns="0" rtlCol="0" anchor="t">
            <a:normAutofit/>
          </a:bodyPr>
          <a:lstStyle/>
          <a:p>
            <a:pPr algn="l" indent="0" marL="0">
              <a:lnSpc>
                <a:spcPts val="1612"/>
              </a:lnSpc>
              <a:buNone/>
            </a:pPr>
            <a:r>
              <a:rPr lang="en-US" sz="1151" dirty="0">
                <a:solidFill>
                  <a:srgbClr val="A9A59C"/>
                </a:solidFill>
                <a:latin typeface="IBM Plex Sans" pitchFamily="34" charset="0"/>
                <a:ea typeface="IBM Plex Sans" pitchFamily="34" charset="-122"/>
                <a:cs typeface="IBM Plex Sans" pitchFamily="34" charset="-120"/>
              </a:rPr>
              <a:t>weights, overlaps, k; decompose</a:t>
            </a:r>
            <a:endParaRPr lang="en-US" sz="1151" dirty="0"/>
          </a:p>
        </p:txBody>
      </p:sp>
      <p:sp>
        <p:nvSpPr>
          <p:cNvPr id="28" name="Shape 25"/>
          <p:cNvSpPr/>
          <p:nvPr/>
        </p:nvSpPr>
        <p:spPr>
          <a:xfrm>
            <a:off x="3575050" y="4458494"/>
            <a:ext cx="2286000" cy="623253"/>
          </a:xfrm>
          <a:prstGeom prst="rect">
            <a:avLst/>
          </a:prstGeom>
          <a:solidFill>
            <a:srgbClr val="262522"/>
          </a:solidFill>
          <a:ln w="12700">
            <a:solidFill>
              <a:srgbClr val="3A3834"/>
            </a:solidFill>
            <a:prstDash val="solid"/>
          </a:ln>
        </p:spPr>
      </p:sp>
      <p:sp>
        <p:nvSpPr>
          <p:cNvPr id="29" name="Text 26"/>
          <p:cNvSpPr/>
          <p:nvPr/>
        </p:nvSpPr>
        <p:spPr>
          <a:xfrm>
            <a:off x="3693160" y="4551204"/>
            <a:ext cx="2111274" cy="24645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F5F2EA"/>
                </a:solidFill>
                <a:latin typeface="IBM Plex Sans" pitchFamily="34" charset="0"/>
                <a:ea typeface="IBM Plex Sans" pitchFamily="34" charset="-122"/>
                <a:cs typeface="IBM Plex Sans" pitchFamily="34" charset="-120"/>
              </a:rPr>
              <a:t>Baseline solver</a:t>
            </a:r>
            <a:endParaRPr lang="en-US" sz="1268" dirty="0"/>
          </a:p>
        </p:txBody>
      </p:sp>
      <p:sp>
        <p:nvSpPr>
          <p:cNvPr id="30" name="Text 27"/>
          <p:cNvSpPr/>
          <p:nvPr/>
        </p:nvSpPr>
        <p:spPr>
          <a:xfrm>
            <a:off x="3693160" y="4784964"/>
            <a:ext cx="2111274" cy="22947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A9A59C"/>
                </a:solidFill>
                <a:latin typeface="IBM Plex Sans" pitchFamily="34" charset="0"/>
                <a:ea typeface="IBM Plex Sans" pitchFamily="34" charset="-122"/>
                <a:cs typeface="IBM Plex Sans" pitchFamily="34" charset="-120"/>
              </a:rPr>
              <a:t>greedy + exact, fallback</a:t>
            </a:r>
            <a:endParaRPr lang="en-US" sz="1159" dirty="0"/>
          </a:p>
        </p:txBody>
      </p:sp>
      <p:pic>
        <p:nvPicPr>
          <p:cNvPr id="31" name="Image 1" descr="arrow">    </p:cNvPr>
          <p:cNvPicPr>
            <a:picLocks noChangeAspect="1"/>
          </p:cNvPicPr>
          <p:nvPr/>
        </p:nvPicPr>
        <p:blipFill>
          <a:blip r:embed="rId2"/>
          <a:srcRect l="0" r="0" t="-8333" b="-8333"/>
          <a:stretch/>
        </p:blipFill>
        <p:spPr>
          <a:xfrm>
            <a:off x="5943600" y="3522901"/>
            <a:ext cx="304800" cy="177800"/>
          </a:xfrm>
          <a:prstGeom prst="rect">
            <a:avLst/>
          </a:prstGeom>
        </p:spPr>
      </p:pic>
      <p:sp>
        <p:nvSpPr>
          <p:cNvPr id="32" name="Text 28"/>
          <p:cNvSpPr/>
          <p:nvPr/>
        </p:nvSpPr>
        <p:spPr>
          <a:xfrm>
            <a:off x="6324600" y="1830784"/>
            <a:ext cx="23676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03 · Quantum layer</a:t>
            </a:r>
            <a:endParaRPr lang="en-US" sz="1200" dirty="0"/>
          </a:p>
        </p:txBody>
      </p:sp>
      <p:sp>
        <p:nvSpPr>
          <p:cNvPr id="33" name="Shape 29"/>
          <p:cNvSpPr/>
          <p:nvPr/>
        </p:nvSpPr>
        <p:spPr>
          <a:xfrm>
            <a:off x="6330950" y="2126695"/>
            <a:ext cx="2286000" cy="642620"/>
          </a:xfrm>
          <a:prstGeom prst="rect">
            <a:avLst/>
          </a:prstGeom>
          <a:solidFill>
            <a:srgbClr val="262522"/>
          </a:solidFill>
          <a:ln w="12700">
            <a:solidFill>
              <a:srgbClr val="E56A1F"/>
            </a:solidFill>
            <a:prstDash val="solid"/>
          </a:ln>
        </p:spPr>
      </p:sp>
      <p:sp>
        <p:nvSpPr>
          <p:cNvPr id="34" name="Text 30"/>
          <p:cNvSpPr/>
          <p:nvPr/>
        </p:nvSpPr>
        <p:spPr>
          <a:xfrm>
            <a:off x="6449060" y="221940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Transpiler</a:t>
            </a:r>
            <a:endParaRPr lang="en-US" sz="1300" dirty="0"/>
          </a:p>
        </p:txBody>
      </p:sp>
      <p:sp>
        <p:nvSpPr>
          <p:cNvPr id="35" name="Text 31"/>
          <p:cNvSpPr/>
          <p:nvPr/>
        </p:nvSpPr>
        <p:spPr>
          <a:xfrm>
            <a:off x="6449060" y="2463245"/>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ISA circuit, heavy-hex layout</a:t>
            </a:r>
            <a:endParaRPr lang="en-US" sz="1200" dirty="0"/>
          </a:p>
        </p:txBody>
      </p:sp>
      <p:sp>
        <p:nvSpPr>
          <p:cNvPr id="36" name="Shape 32"/>
          <p:cNvSpPr/>
          <p:nvPr/>
        </p:nvSpPr>
        <p:spPr>
          <a:xfrm>
            <a:off x="6330950" y="2858216"/>
            <a:ext cx="2286000" cy="642620"/>
          </a:xfrm>
          <a:prstGeom prst="rect">
            <a:avLst/>
          </a:prstGeom>
          <a:solidFill>
            <a:srgbClr val="262522"/>
          </a:solidFill>
          <a:ln w="12700">
            <a:solidFill>
              <a:srgbClr val="E56A1F"/>
            </a:solidFill>
            <a:prstDash val="solid"/>
          </a:ln>
        </p:spPr>
      </p:sp>
      <p:sp>
        <p:nvSpPr>
          <p:cNvPr id="37" name="Text 33"/>
          <p:cNvSpPr/>
          <p:nvPr/>
        </p:nvSpPr>
        <p:spPr>
          <a:xfrm>
            <a:off x="6449060" y="2950924"/>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Qiskit Runtime</a:t>
            </a:r>
            <a:endParaRPr lang="en-US" sz="1300" dirty="0"/>
          </a:p>
        </p:txBody>
      </p:sp>
      <p:sp>
        <p:nvSpPr>
          <p:cNvPr id="38" name="Text 34"/>
          <p:cNvSpPr/>
          <p:nvPr/>
        </p:nvSpPr>
        <p:spPr>
          <a:xfrm>
            <a:off x="6449060" y="319476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Sampler V2, batch mode</a:t>
            </a:r>
            <a:endParaRPr lang="en-US" sz="1200" dirty="0"/>
          </a:p>
        </p:txBody>
      </p:sp>
      <p:sp>
        <p:nvSpPr>
          <p:cNvPr id="39" name="Shape 35"/>
          <p:cNvSpPr/>
          <p:nvPr/>
        </p:nvSpPr>
        <p:spPr>
          <a:xfrm>
            <a:off x="6330950" y="3589734"/>
            <a:ext cx="2286000" cy="642620"/>
          </a:xfrm>
          <a:prstGeom prst="rect">
            <a:avLst/>
          </a:prstGeom>
          <a:solidFill>
            <a:srgbClr val="3A2616"/>
          </a:solidFill>
          <a:ln w="12700">
            <a:solidFill>
              <a:srgbClr val="E56A1F"/>
            </a:solidFill>
            <a:prstDash val="solid"/>
          </a:ln>
        </p:spPr>
      </p:sp>
      <p:sp>
        <p:nvSpPr>
          <p:cNvPr id="40" name="Text 36"/>
          <p:cNvSpPr/>
          <p:nvPr/>
        </p:nvSpPr>
        <p:spPr>
          <a:xfrm>
            <a:off x="6449060" y="3682445"/>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IBM Heron QPU</a:t>
            </a:r>
            <a:endParaRPr lang="en-US" sz="1300" dirty="0"/>
          </a:p>
        </p:txBody>
      </p:sp>
      <p:sp>
        <p:nvSpPr>
          <p:cNvPr id="41" name="Text 37"/>
          <p:cNvSpPr/>
          <p:nvPr/>
        </p:nvSpPr>
        <p:spPr>
          <a:xfrm>
            <a:off x="6449060" y="3926284"/>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4,096 shots per subproblem</a:t>
            </a:r>
            <a:endParaRPr lang="en-US" sz="1200" dirty="0"/>
          </a:p>
        </p:txBody>
      </p:sp>
      <p:sp>
        <p:nvSpPr>
          <p:cNvPr id="42" name="Shape 38"/>
          <p:cNvSpPr/>
          <p:nvPr/>
        </p:nvSpPr>
        <p:spPr>
          <a:xfrm>
            <a:off x="6330950" y="4321256"/>
            <a:ext cx="2286000" cy="642620"/>
          </a:xfrm>
          <a:prstGeom prst="rect">
            <a:avLst/>
          </a:prstGeom>
          <a:solidFill>
            <a:srgbClr val="262522"/>
          </a:solidFill>
          <a:ln w="12700">
            <a:solidFill>
              <a:srgbClr val="E56A1F"/>
            </a:solidFill>
            <a:prstDash val="solid"/>
          </a:ln>
        </p:spPr>
      </p:sp>
      <p:sp>
        <p:nvSpPr>
          <p:cNvPr id="43" name="Text 39"/>
          <p:cNvSpPr/>
          <p:nvPr/>
        </p:nvSpPr>
        <p:spPr>
          <a:xfrm>
            <a:off x="6449060" y="441396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Decoder</a:t>
            </a:r>
            <a:endParaRPr lang="en-US" sz="1300" dirty="0"/>
          </a:p>
        </p:txBody>
      </p:sp>
      <p:sp>
        <p:nvSpPr>
          <p:cNvPr id="44" name="Text 40"/>
          <p:cNvSpPr/>
          <p:nvPr/>
        </p:nvSpPr>
        <p:spPr>
          <a:xfrm>
            <a:off x="6449060" y="465780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feasibility check, repair</a:t>
            </a:r>
            <a:endParaRPr lang="en-US" sz="1200" dirty="0"/>
          </a:p>
        </p:txBody>
      </p:sp>
      <p:pic>
        <p:nvPicPr>
          <p:cNvPr id="45" name="Image 2" descr="arrow">    </p:cNvPr>
          <p:cNvPicPr>
            <a:picLocks noChangeAspect="1"/>
          </p:cNvPicPr>
          <p:nvPr/>
        </p:nvPicPr>
        <p:blipFill>
          <a:blip r:embed="rId3"/>
          <a:srcRect l="0" r="0" t="-8333" b="-8333"/>
          <a:stretch/>
        </p:blipFill>
        <p:spPr>
          <a:xfrm>
            <a:off x="8699500" y="3522901"/>
            <a:ext cx="304800" cy="177800"/>
          </a:xfrm>
          <a:prstGeom prst="rect">
            <a:avLst/>
          </a:prstGeom>
        </p:spPr>
      </p:pic>
      <p:sp>
        <p:nvSpPr>
          <p:cNvPr id="46" name="Text 41"/>
          <p:cNvSpPr/>
          <p:nvPr/>
        </p:nvSpPr>
        <p:spPr>
          <a:xfrm>
            <a:off x="9080500" y="1830784"/>
            <a:ext cx="23676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04 · Delivery</a:t>
            </a:r>
            <a:endParaRPr lang="en-US" sz="1200" dirty="0"/>
          </a:p>
        </p:txBody>
      </p:sp>
      <p:sp>
        <p:nvSpPr>
          <p:cNvPr id="47" name="Shape 42"/>
          <p:cNvSpPr/>
          <p:nvPr/>
        </p:nvSpPr>
        <p:spPr>
          <a:xfrm>
            <a:off x="9086850" y="2126695"/>
            <a:ext cx="2286000" cy="642620"/>
          </a:xfrm>
          <a:prstGeom prst="rect">
            <a:avLst/>
          </a:prstGeom>
          <a:solidFill>
            <a:srgbClr val="262522"/>
          </a:solidFill>
          <a:ln w="12700">
            <a:solidFill>
              <a:srgbClr val="3A3834"/>
            </a:solidFill>
            <a:prstDash val="solid"/>
          </a:ln>
        </p:spPr>
      </p:sp>
      <p:sp>
        <p:nvSpPr>
          <p:cNvPr id="48" name="Text 43"/>
          <p:cNvSpPr/>
          <p:nvPr/>
        </p:nvSpPr>
        <p:spPr>
          <a:xfrm>
            <a:off x="9204960" y="221940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Plan store</a:t>
            </a:r>
            <a:endParaRPr lang="en-US" sz="1300" dirty="0"/>
          </a:p>
        </p:txBody>
      </p:sp>
      <p:sp>
        <p:nvSpPr>
          <p:cNvPr id="49" name="Text 44"/>
          <p:cNvSpPr/>
          <p:nvPr/>
        </p:nvSpPr>
        <p:spPr>
          <a:xfrm>
            <a:off x="9204960" y="2463245"/>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PostGIS, versioned plans</a:t>
            </a:r>
            <a:endParaRPr lang="en-US" sz="1200" dirty="0"/>
          </a:p>
        </p:txBody>
      </p:sp>
      <p:sp>
        <p:nvSpPr>
          <p:cNvPr id="50" name="Shape 45"/>
          <p:cNvSpPr/>
          <p:nvPr/>
        </p:nvSpPr>
        <p:spPr>
          <a:xfrm>
            <a:off x="9086850" y="2858216"/>
            <a:ext cx="2286000" cy="642620"/>
          </a:xfrm>
          <a:prstGeom prst="rect">
            <a:avLst/>
          </a:prstGeom>
          <a:solidFill>
            <a:srgbClr val="262522"/>
          </a:solidFill>
          <a:ln w="12700">
            <a:solidFill>
              <a:srgbClr val="3A3834"/>
            </a:solidFill>
            <a:prstDash val="solid"/>
          </a:ln>
        </p:spPr>
      </p:sp>
      <p:sp>
        <p:nvSpPr>
          <p:cNvPr id="51" name="Text 46"/>
          <p:cNvSpPr/>
          <p:nvPr/>
        </p:nvSpPr>
        <p:spPr>
          <a:xfrm>
            <a:off x="9204960" y="2950924"/>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Operator console</a:t>
            </a:r>
            <a:endParaRPr lang="en-US" sz="1300" dirty="0"/>
          </a:p>
        </p:txBody>
      </p:sp>
      <p:sp>
        <p:nvSpPr>
          <p:cNvPr id="52" name="Text 47"/>
          <p:cNvSpPr/>
          <p:nvPr/>
        </p:nvSpPr>
        <p:spPr>
          <a:xfrm>
            <a:off x="9204960" y="319476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map, diff vs last plan</a:t>
            </a:r>
            <a:endParaRPr lang="en-US" sz="1200" dirty="0"/>
          </a:p>
        </p:txBody>
      </p:sp>
      <p:sp>
        <p:nvSpPr>
          <p:cNvPr id="53" name="Shape 48"/>
          <p:cNvSpPr/>
          <p:nvPr/>
        </p:nvSpPr>
        <p:spPr>
          <a:xfrm>
            <a:off x="9086850" y="3589734"/>
            <a:ext cx="2286000" cy="642620"/>
          </a:xfrm>
          <a:prstGeom prst="rect">
            <a:avLst/>
          </a:prstGeom>
          <a:solidFill>
            <a:srgbClr val="262522"/>
          </a:solidFill>
          <a:ln w="12700">
            <a:solidFill>
              <a:srgbClr val="3A3834"/>
            </a:solidFill>
            <a:prstDash val="solid"/>
          </a:ln>
        </p:spPr>
      </p:sp>
      <p:sp>
        <p:nvSpPr>
          <p:cNvPr id="54" name="Text 49"/>
          <p:cNvSpPr/>
          <p:nvPr/>
        </p:nvSpPr>
        <p:spPr>
          <a:xfrm>
            <a:off x="9204960" y="3682445"/>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Field dispatch</a:t>
            </a:r>
            <a:endParaRPr lang="en-US" sz="1300" dirty="0"/>
          </a:p>
        </p:txBody>
      </p:sp>
      <p:sp>
        <p:nvSpPr>
          <p:cNvPr id="55" name="Text 50"/>
          <p:cNvSpPr/>
          <p:nvPr/>
        </p:nvSpPr>
        <p:spPr>
          <a:xfrm>
            <a:off x="9204960" y="3926284"/>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SMS / API to teams</a:t>
            </a:r>
            <a:endParaRPr lang="en-US" sz="1200" dirty="0"/>
          </a:p>
        </p:txBody>
      </p:sp>
      <p:sp>
        <p:nvSpPr>
          <p:cNvPr id="56" name="Shape 51"/>
          <p:cNvSpPr/>
          <p:nvPr/>
        </p:nvSpPr>
        <p:spPr>
          <a:xfrm>
            <a:off x="9086850" y="4321256"/>
            <a:ext cx="2286000" cy="642620"/>
          </a:xfrm>
          <a:prstGeom prst="rect">
            <a:avLst/>
          </a:prstGeom>
          <a:solidFill>
            <a:srgbClr val="262522"/>
          </a:solidFill>
          <a:ln w="12700">
            <a:solidFill>
              <a:srgbClr val="3A3834"/>
            </a:solidFill>
            <a:prstDash val="solid"/>
          </a:ln>
        </p:spPr>
      </p:sp>
      <p:sp>
        <p:nvSpPr>
          <p:cNvPr id="57" name="Text 52"/>
          <p:cNvSpPr/>
          <p:nvPr/>
        </p:nvSpPr>
        <p:spPr>
          <a:xfrm>
            <a:off x="9204960" y="4413966"/>
            <a:ext cx="211127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Audit log</a:t>
            </a:r>
            <a:endParaRPr lang="en-US" sz="1300" dirty="0"/>
          </a:p>
        </p:txBody>
      </p:sp>
      <p:sp>
        <p:nvSpPr>
          <p:cNvPr id="58" name="Text 53"/>
          <p:cNvSpPr/>
          <p:nvPr/>
        </p:nvSpPr>
        <p:spPr>
          <a:xfrm>
            <a:off x="9204960" y="4657806"/>
            <a:ext cx="21112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IBM job IDs, metrics</a:t>
            </a:r>
            <a:endParaRPr lang="en-US" sz="1200" dirty="0"/>
          </a:p>
        </p:txBody>
      </p:sp>
      <p:sp>
        <p:nvSpPr>
          <p:cNvPr id="59" name="Text 54"/>
          <p:cNvSpPr/>
          <p:nvPr/>
        </p:nvSpPr>
        <p:spPr>
          <a:xfrm>
            <a:off x="812800" y="5392896"/>
            <a:ext cx="5284724" cy="4745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9A59C"/>
                </a:solidFill>
                <a:latin typeface="IBM Plex Sans" pitchFamily="34" charset="0"/>
                <a:ea typeface="IBM Plex Sans" pitchFamily="34" charset="-122"/>
                <a:cs typeface="IBM Plex Sans" pitchFamily="34" charset="-120"/>
              </a:rPr>
              <a:t>Fallback:</a:t>
            </a:r>
            <a:r>
              <a:rPr lang="en-US" sz="1300" dirty="0">
                <a:solidFill>
                  <a:srgbClr val="A9A59C"/>
                </a:solidFill>
                <a:latin typeface="IBM Plex Sans" pitchFamily="34" charset="0"/>
                <a:ea typeface="IBM Plex Sans" pitchFamily="34" charset="-122"/>
                <a:cs typeface="IBM Plex Sans" pitchFamily="34" charset="-120"/>
              </a:rPr>
              <a:t> if the QPU queue exceeds the response window or no feasible sample returns, the baseline plan ships.</a:t>
            </a:r>
            <a:endParaRPr lang="en-US" sz="1300" dirty="0"/>
          </a:p>
        </p:txBody>
      </p:sp>
      <p:sp>
        <p:nvSpPr>
          <p:cNvPr id="60" name="Text 55"/>
          <p:cNvSpPr/>
          <p:nvPr/>
        </p:nvSpPr>
        <p:spPr>
          <a:xfrm>
            <a:off x="6248400" y="5392896"/>
            <a:ext cx="5284724" cy="4745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9A59C"/>
                </a:solidFill>
                <a:latin typeface="IBM Plex Sans" pitchFamily="34" charset="0"/>
                <a:ea typeface="IBM Plex Sans" pitchFamily="34" charset="-122"/>
                <a:cs typeface="IBM Plex Sans" pitchFamily="34" charset="-120"/>
              </a:rPr>
              <a:t>Audit:</a:t>
            </a:r>
            <a:r>
              <a:rPr lang="en-US" sz="1300" dirty="0">
                <a:solidFill>
                  <a:srgbClr val="A9A59C"/>
                </a:solidFill>
                <a:latin typeface="IBM Plex Sans" pitchFamily="34" charset="0"/>
                <a:ea typeface="IBM Plex Sans" pitchFamily="34" charset="-122"/>
                <a:cs typeface="IBM Plex Sans" pitchFamily="34" charset="-120"/>
              </a:rPr>
              <a:t> every plan is stored with its inputs, QUBO, IBM job ID and hardware metrics.</a:t>
            </a:r>
            <a:endParaRPr lang="en-US" sz="1300" dirty="0"/>
          </a:p>
        </p:txBody>
      </p:sp>
      <p:sp>
        <p:nvSpPr>
          <p:cNvPr id="61" name="Text 56"/>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62" name="Text 5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05 · Method</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One pipeline from risk map to deployed plan</a:t>
            </a:r>
            <a:endParaRPr lang="en-US" sz="3000" dirty="0"/>
          </a:p>
        </p:txBody>
      </p:sp>
      <p:sp>
        <p:nvSpPr>
          <p:cNvPr id="4" name="Shape 2"/>
          <p:cNvSpPr/>
          <p:nvPr/>
        </p:nvSpPr>
        <p:spPr>
          <a:xfrm>
            <a:off x="3787775" y="1854836"/>
            <a:ext cx="4591050" cy="2089150"/>
          </a:xfrm>
          <a:prstGeom prst="rect">
            <a:avLst/>
          </a:prstGeom>
          <a:noFill/>
          <a:ln w="6350">
            <a:solidFill>
              <a:srgbClr val="E56A1F"/>
            </a:solidFill>
            <a:prstDash val="dash"/>
          </a:ln>
        </p:spPr>
      </p:sp>
      <p:sp>
        <p:nvSpPr>
          <p:cNvPr id="5" name="Text 3"/>
          <p:cNvSpPr/>
          <p:nvPr/>
        </p:nvSpPr>
        <p:spPr>
          <a:xfrm>
            <a:off x="3886200" y="1902461"/>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Quantum stages</a:t>
            </a:r>
            <a:endParaRPr lang="en-US" sz="1200" dirty="0"/>
          </a:p>
        </p:txBody>
      </p:sp>
      <p:pic>
        <p:nvPicPr>
          <p:cNvPr id="6" name="Image 0" descr="Arrows between pipeline stages">    </p:cNvPr>
          <p:cNvPicPr>
            <a:picLocks noChangeAspect="1"/>
          </p:cNvPicPr>
          <p:nvPr/>
        </p:nvPicPr>
        <p:blipFill>
          <a:blip r:embed="rId1"/>
          <a:srcRect l="-50" r="-50" t="0" b="0"/>
          <a:stretch/>
        </p:blipFill>
        <p:spPr>
          <a:xfrm>
            <a:off x="812800" y="2232661"/>
            <a:ext cx="10566400" cy="1587500"/>
          </a:xfrm>
          <a:prstGeom prst="rect">
            <a:avLst/>
          </a:prstGeom>
        </p:spPr>
      </p:pic>
      <p:sp>
        <p:nvSpPr>
          <p:cNvPr id="7" name="Shape 4"/>
          <p:cNvSpPr/>
          <p:nvPr/>
        </p:nvSpPr>
        <p:spPr>
          <a:xfrm>
            <a:off x="819150" y="2239011"/>
            <a:ext cx="1308100" cy="1574800"/>
          </a:xfrm>
          <a:prstGeom prst="rect">
            <a:avLst/>
          </a:prstGeom>
          <a:solidFill>
            <a:srgbClr val="262522"/>
          </a:solidFill>
          <a:ln w="12700">
            <a:solidFill>
              <a:srgbClr val="3A3834"/>
            </a:solidFill>
            <a:prstDash val="solid"/>
          </a:ln>
        </p:spPr>
      </p:sp>
      <p:sp>
        <p:nvSpPr>
          <p:cNvPr id="8" name="Text 5"/>
          <p:cNvSpPr/>
          <p:nvPr/>
        </p:nvSpPr>
        <p:spPr>
          <a:xfrm>
            <a:off x="9245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01</a:t>
            </a:r>
            <a:endParaRPr lang="en-US" sz="1200" dirty="0"/>
          </a:p>
        </p:txBody>
      </p:sp>
      <p:sp>
        <p:nvSpPr>
          <p:cNvPr id="9" name="Text 6"/>
          <p:cNvSpPr/>
          <p:nvPr/>
        </p:nvSpPr>
        <p:spPr>
          <a:xfrm>
            <a:off x="9245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Disaster map</a:t>
            </a:r>
            <a:endParaRPr lang="en-US" sz="1300" dirty="0"/>
          </a:p>
        </p:txBody>
      </p:sp>
      <p:sp>
        <p:nvSpPr>
          <p:cNvPr id="10" name="Text 7"/>
          <p:cNvSpPr/>
          <p:nvPr/>
        </p:nvSpPr>
        <p:spPr>
          <a:xfrm>
            <a:off x="924560" y="2887346"/>
            <a:ext cx="11480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IMD · SRTM · OSM</a:t>
            </a:r>
            <a:endParaRPr lang="en-US" sz="1200" dirty="0"/>
          </a:p>
        </p:txBody>
      </p:sp>
      <p:sp>
        <p:nvSpPr>
          <p:cNvPr id="11" name="Shape 8"/>
          <p:cNvSpPr/>
          <p:nvPr/>
        </p:nvSpPr>
        <p:spPr>
          <a:xfrm>
            <a:off x="2355850" y="2239011"/>
            <a:ext cx="1308100" cy="1574800"/>
          </a:xfrm>
          <a:prstGeom prst="rect">
            <a:avLst/>
          </a:prstGeom>
          <a:solidFill>
            <a:srgbClr val="262522"/>
          </a:solidFill>
          <a:ln w="12700">
            <a:solidFill>
              <a:srgbClr val="3A3834"/>
            </a:solidFill>
            <a:prstDash val="solid"/>
          </a:ln>
        </p:spPr>
      </p:sp>
      <p:sp>
        <p:nvSpPr>
          <p:cNvPr id="12" name="Text 9"/>
          <p:cNvSpPr/>
          <p:nvPr/>
        </p:nvSpPr>
        <p:spPr>
          <a:xfrm>
            <a:off x="24612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02</a:t>
            </a:r>
            <a:endParaRPr lang="en-US" sz="1200" dirty="0"/>
          </a:p>
        </p:txBody>
      </p:sp>
      <p:sp>
        <p:nvSpPr>
          <p:cNvPr id="13" name="Text 10"/>
          <p:cNvSpPr/>
          <p:nvPr/>
        </p:nvSpPr>
        <p:spPr>
          <a:xfrm>
            <a:off x="24612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Risk model</a:t>
            </a:r>
            <a:endParaRPr lang="en-US" sz="1300" dirty="0"/>
          </a:p>
        </p:txBody>
      </p:sp>
      <p:sp>
        <p:nvSpPr>
          <p:cNvPr id="14" name="Text 11"/>
          <p:cNvSpPr/>
          <p:nvPr/>
        </p:nvSpPr>
        <p:spPr>
          <a:xfrm>
            <a:off x="2461260" y="2887346"/>
            <a:ext cx="11480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XGBoost classifier</a:t>
            </a:r>
            <a:endParaRPr lang="en-US" sz="1200" dirty="0"/>
          </a:p>
        </p:txBody>
      </p:sp>
      <p:sp>
        <p:nvSpPr>
          <p:cNvPr id="15" name="Shape 12"/>
          <p:cNvSpPr/>
          <p:nvPr/>
        </p:nvSpPr>
        <p:spPr>
          <a:xfrm>
            <a:off x="3892550" y="2239011"/>
            <a:ext cx="1308100" cy="1574800"/>
          </a:xfrm>
          <a:prstGeom prst="rect">
            <a:avLst/>
          </a:prstGeom>
          <a:solidFill>
            <a:srgbClr val="3A2616"/>
          </a:solidFill>
          <a:ln w="12700">
            <a:solidFill>
              <a:srgbClr val="E56A1F"/>
            </a:solidFill>
            <a:prstDash val="solid"/>
          </a:ln>
        </p:spPr>
      </p:sp>
      <p:sp>
        <p:nvSpPr>
          <p:cNvPr id="16" name="Text 13"/>
          <p:cNvSpPr/>
          <p:nvPr/>
        </p:nvSpPr>
        <p:spPr>
          <a:xfrm>
            <a:off x="39979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03</a:t>
            </a:r>
            <a:endParaRPr lang="en-US" sz="1200" dirty="0"/>
          </a:p>
        </p:txBody>
      </p:sp>
      <p:sp>
        <p:nvSpPr>
          <p:cNvPr id="17" name="Text 14"/>
          <p:cNvSpPr/>
          <p:nvPr/>
        </p:nvSpPr>
        <p:spPr>
          <a:xfrm>
            <a:off x="39979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QUBO</a:t>
            </a:r>
            <a:endParaRPr lang="en-US" sz="1300" dirty="0"/>
          </a:p>
        </p:txBody>
      </p:sp>
      <p:sp>
        <p:nvSpPr>
          <p:cNvPr id="18" name="Text 15"/>
          <p:cNvSpPr/>
          <p:nvPr/>
        </p:nvSpPr>
        <p:spPr>
          <a:xfrm>
            <a:off x="3997960" y="2887346"/>
            <a:ext cx="11480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Qiskit, Ising form</a:t>
            </a:r>
            <a:endParaRPr lang="en-US" sz="1200" dirty="0"/>
          </a:p>
        </p:txBody>
      </p:sp>
      <p:sp>
        <p:nvSpPr>
          <p:cNvPr id="19" name="Shape 16"/>
          <p:cNvSpPr/>
          <p:nvPr/>
        </p:nvSpPr>
        <p:spPr>
          <a:xfrm>
            <a:off x="5429250" y="2239011"/>
            <a:ext cx="1308100" cy="1574800"/>
          </a:xfrm>
          <a:prstGeom prst="rect">
            <a:avLst/>
          </a:prstGeom>
          <a:solidFill>
            <a:srgbClr val="3A2616"/>
          </a:solidFill>
          <a:ln w="12700">
            <a:solidFill>
              <a:srgbClr val="E56A1F"/>
            </a:solidFill>
            <a:prstDash val="solid"/>
          </a:ln>
        </p:spPr>
      </p:sp>
      <p:sp>
        <p:nvSpPr>
          <p:cNvPr id="20" name="Text 17"/>
          <p:cNvSpPr/>
          <p:nvPr/>
        </p:nvSpPr>
        <p:spPr>
          <a:xfrm>
            <a:off x="55346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04</a:t>
            </a:r>
            <a:endParaRPr lang="en-US" sz="1200" dirty="0"/>
          </a:p>
        </p:txBody>
      </p:sp>
      <p:sp>
        <p:nvSpPr>
          <p:cNvPr id="21" name="Text 18"/>
          <p:cNvSpPr/>
          <p:nvPr/>
        </p:nvSpPr>
        <p:spPr>
          <a:xfrm>
            <a:off x="55346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QAOA circuit</a:t>
            </a:r>
            <a:endParaRPr lang="en-US" sz="1300" dirty="0"/>
          </a:p>
        </p:txBody>
      </p:sp>
      <p:sp>
        <p:nvSpPr>
          <p:cNvPr id="22" name="Text 19"/>
          <p:cNvSpPr/>
          <p:nvPr/>
        </p:nvSpPr>
        <p:spPr>
          <a:xfrm>
            <a:off x="5534660" y="2887346"/>
            <a:ext cx="114808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Qiskit, p = 1–2</a:t>
            </a:r>
            <a:endParaRPr lang="en-US" sz="1200" dirty="0"/>
          </a:p>
        </p:txBody>
      </p:sp>
      <p:sp>
        <p:nvSpPr>
          <p:cNvPr id="23" name="Shape 20"/>
          <p:cNvSpPr/>
          <p:nvPr/>
        </p:nvSpPr>
        <p:spPr>
          <a:xfrm>
            <a:off x="6965950" y="2239011"/>
            <a:ext cx="1308100" cy="1574800"/>
          </a:xfrm>
          <a:prstGeom prst="rect">
            <a:avLst/>
          </a:prstGeom>
          <a:solidFill>
            <a:srgbClr val="3A2616"/>
          </a:solidFill>
          <a:ln w="12700">
            <a:solidFill>
              <a:srgbClr val="E56A1F"/>
            </a:solidFill>
            <a:prstDash val="solid"/>
          </a:ln>
        </p:spPr>
      </p:sp>
      <p:sp>
        <p:nvSpPr>
          <p:cNvPr id="24" name="Text 21"/>
          <p:cNvSpPr/>
          <p:nvPr/>
        </p:nvSpPr>
        <p:spPr>
          <a:xfrm>
            <a:off x="70713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05</a:t>
            </a:r>
            <a:endParaRPr lang="en-US" sz="1200" dirty="0"/>
          </a:p>
        </p:txBody>
      </p:sp>
      <p:sp>
        <p:nvSpPr>
          <p:cNvPr id="25" name="Text 22"/>
          <p:cNvSpPr/>
          <p:nvPr/>
        </p:nvSpPr>
        <p:spPr>
          <a:xfrm>
            <a:off x="70713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IBM QPU</a:t>
            </a:r>
            <a:endParaRPr lang="en-US" sz="1300" dirty="0"/>
          </a:p>
        </p:txBody>
      </p:sp>
      <p:sp>
        <p:nvSpPr>
          <p:cNvPr id="26" name="Text 23"/>
          <p:cNvSpPr/>
          <p:nvPr/>
        </p:nvSpPr>
        <p:spPr>
          <a:xfrm>
            <a:off x="7071360" y="2887346"/>
            <a:ext cx="11480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Heron · Runtime</a:t>
            </a:r>
            <a:endParaRPr lang="en-US" sz="1200" dirty="0"/>
          </a:p>
        </p:txBody>
      </p:sp>
      <p:sp>
        <p:nvSpPr>
          <p:cNvPr id="27" name="Shape 24"/>
          <p:cNvSpPr/>
          <p:nvPr/>
        </p:nvSpPr>
        <p:spPr>
          <a:xfrm>
            <a:off x="8502650" y="2239011"/>
            <a:ext cx="1308100" cy="1574800"/>
          </a:xfrm>
          <a:prstGeom prst="rect">
            <a:avLst/>
          </a:prstGeom>
          <a:solidFill>
            <a:srgbClr val="262522"/>
          </a:solidFill>
          <a:ln w="12700">
            <a:solidFill>
              <a:srgbClr val="3A3834"/>
            </a:solidFill>
            <a:prstDash val="solid"/>
          </a:ln>
        </p:spPr>
      </p:sp>
      <p:sp>
        <p:nvSpPr>
          <p:cNvPr id="28" name="Text 25"/>
          <p:cNvSpPr/>
          <p:nvPr/>
        </p:nvSpPr>
        <p:spPr>
          <a:xfrm>
            <a:off x="86080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06</a:t>
            </a:r>
            <a:endParaRPr lang="en-US" sz="1200" dirty="0"/>
          </a:p>
        </p:txBody>
      </p:sp>
      <p:sp>
        <p:nvSpPr>
          <p:cNvPr id="29" name="Text 26"/>
          <p:cNvSpPr/>
          <p:nvPr/>
        </p:nvSpPr>
        <p:spPr>
          <a:xfrm>
            <a:off x="86080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Placement</a:t>
            </a:r>
            <a:endParaRPr lang="en-US" sz="1300" dirty="0"/>
          </a:p>
        </p:txBody>
      </p:sp>
      <p:sp>
        <p:nvSpPr>
          <p:cNvPr id="30" name="Text 27"/>
          <p:cNvSpPr/>
          <p:nvPr/>
        </p:nvSpPr>
        <p:spPr>
          <a:xfrm>
            <a:off x="8608060" y="2887346"/>
            <a:ext cx="11480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Decoded bitstring</a:t>
            </a:r>
            <a:endParaRPr lang="en-US" sz="1200" dirty="0"/>
          </a:p>
        </p:txBody>
      </p:sp>
      <p:sp>
        <p:nvSpPr>
          <p:cNvPr id="31" name="Shape 28"/>
          <p:cNvSpPr/>
          <p:nvPr/>
        </p:nvSpPr>
        <p:spPr>
          <a:xfrm>
            <a:off x="10039350" y="2239011"/>
            <a:ext cx="1308100" cy="1574800"/>
          </a:xfrm>
          <a:prstGeom prst="rect">
            <a:avLst/>
          </a:prstGeom>
          <a:solidFill>
            <a:srgbClr val="262522"/>
          </a:solidFill>
          <a:ln w="12700">
            <a:solidFill>
              <a:srgbClr val="3A3834"/>
            </a:solidFill>
            <a:prstDash val="solid"/>
          </a:ln>
        </p:spPr>
      </p:sp>
      <p:sp>
        <p:nvSpPr>
          <p:cNvPr id="32" name="Text 29"/>
          <p:cNvSpPr/>
          <p:nvPr/>
        </p:nvSpPr>
        <p:spPr>
          <a:xfrm>
            <a:off x="10144760" y="2357121"/>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07</a:t>
            </a:r>
            <a:endParaRPr lang="en-US" sz="1200" dirty="0"/>
          </a:p>
        </p:txBody>
      </p:sp>
      <p:sp>
        <p:nvSpPr>
          <p:cNvPr id="33" name="Text 30"/>
          <p:cNvSpPr/>
          <p:nvPr/>
        </p:nvSpPr>
        <p:spPr>
          <a:xfrm>
            <a:off x="10144760" y="2633982"/>
            <a:ext cx="1148080" cy="215265"/>
          </a:xfrm>
          <a:prstGeom prst="rect">
            <a:avLst/>
          </a:prstGeom>
          <a:noFill/>
          <a:ln/>
        </p:spPr>
        <p:txBody>
          <a:bodyPr wrap="square" lIns="0" tIns="0" rIns="0" bIns="0" rtlCol="0" anchor="t">
            <a:normAutofit/>
          </a:bodyPr>
          <a:lstStyle/>
          <a:p>
            <a:pPr algn="l" indent="0" marL="0">
              <a:lnSpc>
                <a:spcPts val="1495"/>
              </a:lnSpc>
              <a:buNone/>
            </a:pPr>
            <a:r>
              <a:rPr lang="en-US" sz="1300" b="1" dirty="0">
                <a:solidFill>
                  <a:srgbClr val="F5F2EA"/>
                </a:solidFill>
                <a:latin typeface="IBM Plex Sans" pitchFamily="34" charset="0"/>
                <a:ea typeface="IBM Plex Sans" pitchFamily="34" charset="-122"/>
                <a:cs typeface="IBM Plex Sans" pitchFamily="34" charset="-120"/>
              </a:rPr>
              <a:t>Adaptation</a:t>
            </a:r>
            <a:endParaRPr lang="en-US" sz="1300" dirty="0"/>
          </a:p>
        </p:txBody>
      </p:sp>
      <p:sp>
        <p:nvSpPr>
          <p:cNvPr id="34" name="Text 31"/>
          <p:cNvSpPr/>
          <p:nvPr/>
        </p:nvSpPr>
        <p:spPr>
          <a:xfrm>
            <a:off x="10144760" y="2887346"/>
            <a:ext cx="114808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Event trigger</a:t>
            </a:r>
            <a:endParaRPr lang="en-US" sz="1200" dirty="0"/>
          </a:p>
        </p:txBody>
      </p:sp>
      <p:pic>
        <p:nvPicPr>
          <p:cNvPr id="35" name="Image 1" descr="Feedback loop from adaptation back to the risk model">    </p:cNvPr>
          <p:cNvPicPr>
            <a:picLocks noChangeAspect="1"/>
          </p:cNvPicPr>
          <p:nvPr/>
        </p:nvPicPr>
        <p:blipFill>
          <a:blip r:embed="rId2"/>
          <a:srcRect l="0" r="0" t="-235" b="-235"/>
          <a:stretch/>
        </p:blipFill>
        <p:spPr>
          <a:xfrm>
            <a:off x="812800" y="3820161"/>
            <a:ext cx="10566400" cy="508000"/>
          </a:xfrm>
          <a:prstGeom prst="rect">
            <a:avLst/>
          </a:prstGeom>
        </p:spPr>
      </p:pic>
      <p:sp>
        <p:nvSpPr>
          <p:cNvPr id="36" name="Text 32"/>
          <p:cNvSpPr/>
          <p:nvPr/>
        </p:nvSpPr>
        <p:spPr>
          <a:xfrm>
            <a:off x="3136900" y="422656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Re-run when rainfall, river level or road status crosses a threshold</a:t>
            </a:r>
            <a:endParaRPr lang="en-US" sz="1200" dirty="0"/>
          </a:p>
        </p:txBody>
      </p:sp>
      <p:sp>
        <p:nvSpPr>
          <p:cNvPr id="37" name="Text 33"/>
          <p:cNvSpPr/>
          <p:nvPr/>
        </p:nvSpPr>
        <p:spPr>
          <a:xfrm>
            <a:off x="812800" y="4886961"/>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2EA"/>
                </a:solidFill>
                <a:latin typeface="IBM Plex Sans" pitchFamily="34" charset="0"/>
                <a:ea typeface="IBM Plex Sans" pitchFamily="34" charset="-122"/>
                <a:cs typeface="IBM Plex Sans" pitchFamily="34" charset="-120"/>
              </a:rPr>
              <a:t>Classical where classical is strong: forecasting. Quantum where the problem is combinatorial: choosing sites.</a:t>
            </a:r>
            <a:endParaRPr lang="en-US" sz="1600" dirty="0"/>
          </a:p>
        </p:txBody>
      </p:sp>
      <p:sp>
        <p:nvSpPr>
          <p:cNvPr id="38" name="Text 3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39" name="Text 3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20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06 · Stage 1 — classical ML</a:t>
            </a:r>
            <a:endParaRPr lang="en-US" sz="1200" dirty="0"/>
          </a:p>
        </p:txBody>
      </p:sp>
      <p:sp>
        <p:nvSpPr>
          <p:cNvPr id="3" name="Text 1"/>
          <p:cNvSpPr/>
          <p:nvPr/>
        </p:nvSpPr>
        <p:spPr>
          <a:xfrm>
            <a:off x="812800" y="1127206"/>
            <a:ext cx="10883392" cy="443468"/>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A risk score for every grid cell</a:t>
            </a:r>
            <a:endParaRPr lang="en-US" sz="3000" dirty="0"/>
          </a:p>
        </p:txBody>
      </p:sp>
      <p:sp>
        <p:nvSpPr>
          <p:cNvPr id="4" name="Text 2"/>
          <p:cNvSpPr/>
          <p:nvPr/>
        </p:nvSpPr>
        <p:spPr>
          <a:xfrm>
            <a:off x="812800" y="1850073"/>
            <a:ext cx="4866132" cy="2082800"/>
          </a:xfrm>
          <a:prstGeom prst="rect">
            <a:avLst/>
          </a:prstGeom>
          <a:noFill/>
          <a:ln/>
        </p:spPr>
        <p:txBody>
          <a:bodyPr wrap="square" lIns="0" tIns="0" rIns="0" bIns="0" rtlCol="0" anchor="t">
            <a:normAutofit/>
          </a:bodyPr>
          <a:lstStyle/>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Features:</a:t>
            </a:r>
            <a:r>
              <a:rPr lang="en-US" sz="1500" dirty="0">
                <a:solidFill>
                  <a:srgbClr val="A9A59C"/>
                </a:solidFill>
                <a:latin typeface="IBM Plex Sans" pitchFamily="34" charset="0"/>
                <a:ea typeface="IBM Plex Sans" pitchFamily="34" charset="-122"/>
                <a:cs typeface="IBM Plex Sans" pitchFamily="34" charset="-120"/>
              </a:rPr>
              <a:t> IMD gridded rainfall, SRTM elevation, river distance, land use</a:t>
            </a:r>
            <a:endParaRPr lang="en-US" sz="1500" dirty="0"/>
          </a:p>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Labels:</a:t>
            </a:r>
            <a:r>
              <a:rPr lang="en-US" sz="1500" dirty="0">
                <a:solidFill>
                  <a:srgbClr val="A9A59C"/>
                </a:solidFill>
                <a:latin typeface="IBM Plex Sans" pitchFamily="34" charset="0"/>
                <a:ea typeface="IBM Plex Sans" pitchFamily="34" charset="-122"/>
                <a:cs typeface="IBM Plex Sans" pitchFamily="34" charset="-120"/>
              </a:rPr>
              <a:t> Sentinel-1 SAR flood extents from past events, incl. Sept 2024</a:t>
            </a:r>
            <a:endParaRPr lang="en-US" sz="1500" dirty="0"/>
          </a:p>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Model:</a:t>
            </a:r>
            <a:r>
              <a:rPr lang="en-US" sz="1500" dirty="0">
                <a:solidFill>
                  <a:srgbClr val="A9A59C"/>
                </a:solidFill>
                <a:latin typeface="IBM Plex Sans" pitchFamily="34" charset="0"/>
                <a:ea typeface="IBM Plex Sans" pitchFamily="34" charset="-122"/>
                <a:cs typeface="IBM Plex Sans" pitchFamily="34" charset="-120"/>
              </a:rPr>
              <a:t> gradient-boosted trees (XGBoost), 1 km cells, spatial cross-validation</a:t>
            </a:r>
            <a:endParaRPr lang="en-US" sz="1500" dirty="0"/>
          </a:p>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Output:</a:t>
            </a:r>
            <a:r>
              <a:rPr lang="en-US" sz="1500" dirty="0">
                <a:solidFill>
                  <a:srgbClr val="A9A59C"/>
                </a:solidFill>
                <a:latin typeface="IBM Plex Sans" pitchFamily="34" charset="0"/>
                <a:ea typeface="IBM Plex Sans" pitchFamily="34" charset="-122"/>
                <a:cs typeface="IBM Plex Sans" pitchFamily="34" charset="-120"/>
              </a:rPr>
              <a:t> risk × exposure = weight w_i for each candidate site</a:t>
            </a:r>
            <a:endParaRPr lang="en-US" sz="1500" dirty="0"/>
          </a:p>
        </p:txBody>
      </p:sp>
      <p:sp>
        <p:nvSpPr>
          <p:cNvPr id="5" name="Shape 3"/>
          <p:cNvSpPr/>
          <p:nvPr/>
        </p:nvSpPr>
        <p:spPr>
          <a:xfrm>
            <a:off x="812800" y="4153852"/>
            <a:ext cx="177800" cy="177800"/>
          </a:xfrm>
          <a:prstGeom prst="rect">
            <a:avLst/>
          </a:prstGeom>
          <a:solidFill>
            <a:srgbClr val="F1DDC6"/>
          </a:solidFill>
          <a:ln/>
        </p:spPr>
      </p:sp>
      <p:sp>
        <p:nvSpPr>
          <p:cNvPr id="6" name="Text 4"/>
          <p:cNvSpPr/>
          <p:nvPr/>
        </p:nvSpPr>
        <p:spPr>
          <a:xfrm>
            <a:off x="1066800" y="4136073"/>
            <a:ext cx="327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Low</a:t>
            </a:r>
            <a:endParaRPr lang="en-US" sz="1200" dirty="0"/>
          </a:p>
        </p:txBody>
      </p:sp>
      <p:sp>
        <p:nvSpPr>
          <p:cNvPr id="7" name="Shape 5"/>
          <p:cNvSpPr/>
          <p:nvPr/>
        </p:nvSpPr>
        <p:spPr>
          <a:xfrm>
            <a:off x="1521063" y="4153852"/>
            <a:ext cx="177800" cy="177800"/>
          </a:xfrm>
          <a:prstGeom prst="rect">
            <a:avLst/>
          </a:prstGeom>
          <a:solidFill>
            <a:srgbClr val="EDB185"/>
          </a:solidFill>
          <a:ln/>
        </p:spPr>
      </p:sp>
      <p:sp>
        <p:nvSpPr>
          <p:cNvPr id="8" name="Text 6"/>
          <p:cNvSpPr/>
          <p:nvPr/>
        </p:nvSpPr>
        <p:spPr>
          <a:xfrm>
            <a:off x="1775063" y="4136073"/>
            <a:ext cx="705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Moderate</a:t>
            </a:r>
            <a:endParaRPr lang="en-US" sz="1200" dirty="0"/>
          </a:p>
        </p:txBody>
      </p:sp>
      <p:sp>
        <p:nvSpPr>
          <p:cNvPr id="9" name="Shape 7"/>
          <p:cNvSpPr/>
          <p:nvPr/>
        </p:nvSpPr>
        <p:spPr>
          <a:xfrm>
            <a:off x="2607310" y="4153852"/>
            <a:ext cx="177800" cy="177800"/>
          </a:xfrm>
          <a:prstGeom prst="rect">
            <a:avLst/>
          </a:prstGeom>
          <a:solidFill>
            <a:srgbClr val="E56A1F"/>
          </a:solidFill>
          <a:ln/>
        </p:spPr>
      </p:sp>
      <p:sp>
        <p:nvSpPr>
          <p:cNvPr id="10" name="Text 8"/>
          <p:cNvSpPr/>
          <p:nvPr/>
        </p:nvSpPr>
        <p:spPr>
          <a:xfrm>
            <a:off x="2861310" y="4136073"/>
            <a:ext cx="3636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High</a:t>
            </a:r>
            <a:endParaRPr lang="en-US" sz="1200" dirty="0"/>
          </a:p>
        </p:txBody>
      </p:sp>
      <p:sp>
        <p:nvSpPr>
          <p:cNvPr id="11" name="Shape 9"/>
          <p:cNvSpPr/>
          <p:nvPr/>
        </p:nvSpPr>
        <p:spPr>
          <a:xfrm>
            <a:off x="3352006" y="4153852"/>
            <a:ext cx="177800" cy="177800"/>
          </a:xfrm>
          <a:prstGeom prst="rect">
            <a:avLst/>
          </a:prstGeom>
          <a:solidFill>
            <a:srgbClr val="C83A2A"/>
          </a:solidFill>
          <a:ln/>
        </p:spPr>
      </p:sp>
      <p:sp>
        <p:nvSpPr>
          <p:cNvPr id="12" name="Text 10"/>
          <p:cNvSpPr/>
          <p:nvPr/>
        </p:nvSpPr>
        <p:spPr>
          <a:xfrm>
            <a:off x="3606006" y="4136073"/>
            <a:ext cx="518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Severe</a:t>
            </a:r>
            <a:endParaRPr lang="en-US" sz="1200" dirty="0"/>
          </a:p>
        </p:txBody>
      </p:sp>
      <p:sp>
        <p:nvSpPr>
          <p:cNvPr id="13" name="Text 11"/>
          <p:cNvSpPr/>
          <p:nvPr/>
        </p:nvSpPr>
        <p:spPr>
          <a:xfrm>
            <a:off x="812800" y="4578034"/>
            <a:ext cx="486613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Shown: the prototype risk layer (river-distance and low-lying-terrain features) used in the benchmark.</a:t>
            </a:r>
            <a:endParaRPr lang="en-US" sz="1200" dirty="0"/>
          </a:p>
        </p:txBody>
      </p:sp>
      <p:pic>
        <p:nvPicPr>
          <p:cNvPr id="14" name="Image 0" descr="Prototype flood-risk layer by grid cell around Vijayawada and the Krishna delta">    </p:cNvPr>
          <p:cNvPicPr>
            <a:picLocks noChangeAspect="1"/>
          </p:cNvPicPr>
          <p:nvPr/>
        </p:nvPicPr>
        <p:blipFill>
          <a:blip r:embed="rId1"/>
          <a:srcRect l="0" r="0" t="0" b="0"/>
          <a:stretch/>
        </p:blipFill>
        <p:spPr>
          <a:xfrm>
            <a:off x="6045200" y="1850073"/>
            <a:ext cx="5334000" cy="4000500"/>
          </a:xfrm>
          <a:prstGeom prst="rect">
            <a:avLst/>
          </a:prstGeom>
        </p:spPr>
      </p:pic>
      <p:sp>
        <p:nvSpPr>
          <p:cNvPr id="15" name="Text 12"/>
          <p:cNvSpPr/>
          <p:nvPr/>
        </p:nvSpPr>
        <p:spPr>
          <a:xfrm>
            <a:off x="8432800" y="3367723"/>
            <a:ext cx="132080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71717"/>
                </a:solidFill>
                <a:latin typeface="IBM Plex Sans" pitchFamily="34" charset="0"/>
                <a:ea typeface="IBM Plex Sans" pitchFamily="34" charset="-122"/>
                <a:cs typeface="IBM Plex Sans" pitchFamily="34" charset="-120"/>
              </a:rPr>
              <a:t>Vijayawada</a:t>
            </a:r>
            <a:endParaRPr lang="en-US" sz="1200" dirty="0"/>
          </a:p>
        </p:txBody>
      </p:sp>
      <p:sp>
        <p:nvSpPr>
          <p:cNvPr id="16" name="Text 13"/>
          <p:cNvSpPr/>
          <p:nvPr/>
        </p:nvSpPr>
        <p:spPr>
          <a:xfrm>
            <a:off x="10109200" y="5450523"/>
            <a:ext cx="1320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A5A5A"/>
                </a:solidFill>
                <a:latin typeface="IBM Plex Sans" pitchFamily="34" charset="0"/>
                <a:ea typeface="IBM Plex Sans" pitchFamily="34" charset="-122"/>
                <a:cs typeface="IBM Plex Sans" pitchFamily="34" charset="-120"/>
              </a:rPr>
              <a:t>Bay of Bengal</a:t>
            </a:r>
            <a:endParaRPr lang="en-US" sz="1200" dirty="0"/>
          </a:p>
        </p:txBody>
      </p:sp>
      <p:sp>
        <p:nvSpPr>
          <p:cNvPr id="17" name="Text 1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8" name="Text 1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07 · Stage 2 — formulation</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Each site: one binary variable, one problem qubit</a:t>
            </a:r>
            <a:endParaRPr lang="en-US" sz="3000" dirty="0"/>
          </a:p>
        </p:txBody>
      </p:sp>
      <p:sp>
        <p:nvSpPr>
          <p:cNvPr id="4" name="Shape 2"/>
          <p:cNvSpPr/>
          <p:nvPr/>
        </p:nvSpPr>
        <p:spPr>
          <a:xfrm>
            <a:off x="815975" y="1854836"/>
            <a:ext cx="6089650" cy="1557020"/>
          </a:xfrm>
          <a:prstGeom prst="rect">
            <a:avLst/>
          </a:prstGeom>
          <a:solidFill>
            <a:srgbClr val="262522"/>
          </a:solidFill>
          <a:ln w="6350">
            <a:solidFill>
              <a:srgbClr val="3A3834"/>
            </a:solidFill>
            <a:prstDash val="solid"/>
          </a:ln>
        </p:spPr>
      </p:sp>
      <p:sp>
        <p:nvSpPr>
          <p:cNvPr id="5" name="Text 3"/>
          <p:cNvSpPr/>
          <p:nvPr/>
        </p:nvSpPr>
        <p:spPr>
          <a:xfrm>
            <a:off x="1046480" y="2059939"/>
            <a:ext cx="5797499"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2EA"/>
                </a:solidFill>
                <a:latin typeface="IBM Plex Mono" pitchFamily="34" charset="0"/>
                <a:ea typeface="IBM Plex Mono" pitchFamily="34" charset="-122"/>
                <a:cs typeface="IBM Plex Mono" pitchFamily="34" charset="-120"/>
              </a:rPr>
              <a:t>min f(x) = − Σ w_i·x_i</a:t>
            </a:r>
            <a:endParaRPr lang="en-US" sz="1500" dirty="0"/>
          </a:p>
          <a:p>
            <a:pPr algn="l" indent="0" marL="0">
              <a:lnSpc>
                <a:spcPts val="2250"/>
              </a:lnSpc>
              <a:buNone/>
            </a:pPr>
            <a:r>
              <a:rPr lang="en-US" sz="1500" dirty="0">
                <a:solidFill>
                  <a:srgbClr val="F5F2EA"/>
                </a:solidFill>
                <a:latin typeface="IBM Plex Mono" pitchFamily="34" charset="0"/>
                <a:ea typeface="IBM Plex Mono" pitchFamily="34" charset="-122"/>
                <a:cs typeface="IBM Plex Mono" pitchFamily="34" charset="-120"/>
              </a:rPr>
              <a:t>          + Σ o_ij·x_i·x_j</a:t>
            </a:r>
            <a:endParaRPr lang="en-US" sz="1500" dirty="0"/>
          </a:p>
          <a:p>
            <a:pPr algn="l" indent="0" marL="0">
              <a:lnSpc>
                <a:spcPts val="2250"/>
              </a:lnSpc>
              <a:buNone/>
            </a:pPr>
            <a:r>
              <a:rPr lang="en-US" sz="1500" dirty="0">
                <a:solidFill>
                  <a:srgbClr val="F5F2EA"/>
                </a:solidFill>
                <a:latin typeface="IBM Plex Mono" pitchFamily="34" charset="0"/>
                <a:ea typeface="IBM Plex Mono" pitchFamily="34" charset="-122"/>
                <a:cs typeface="IBM Plex Mono" pitchFamily="34" charset="-120"/>
              </a:rPr>
              <a:t>          + λ (Σ x_i − k)²</a:t>
            </a:r>
            <a:endParaRPr lang="en-US" sz="1500" dirty="0"/>
          </a:p>
        </p:txBody>
      </p:sp>
      <p:sp>
        <p:nvSpPr>
          <p:cNvPr id="6" name="Text 4"/>
          <p:cNvSpPr/>
          <p:nvPr/>
        </p:nvSpPr>
        <p:spPr>
          <a:xfrm>
            <a:off x="1046480" y="2993389"/>
            <a:ext cx="57974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x_i ∈ {0,1} · x_i = (1 − z_i)/2 → Ising Hamiltonian H_C</a:t>
            </a:r>
            <a:endParaRPr lang="en-US" sz="1200" dirty="0"/>
          </a:p>
        </p:txBody>
      </p:sp>
      <p:sp>
        <p:nvSpPr>
          <p:cNvPr id="7" name="Text 5"/>
          <p:cNvSpPr/>
          <p:nvPr/>
        </p:nvSpPr>
        <p:spPr>
          <a:xfrm>
            <a:off x="812800" y="3618232"/>
            <a:ext cx="6278880" cy="1054100"/>
          </a:xfrm>
          <a:prstGeom prst="rect">
            <a:avLst/>
          </a:prstGeom>
          <a:noFill/>
          <a:ln/>
        </p:spPr>
        <p:txBody>
          <a:bodyPr wrap="square" lIns="0" tIns="0" rIns="0" bIns="0" rtlCol="0" anchor="t">
            <a:normAutofit/>
          </a:bodyPr>
          <a:lstStyle/>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w_i</a:t>
            </a:r>
            <a:r>
              <a:rPr lang="en-US" sz="1500" dirty="0">
                <a:solidFill>
                  <a:srgbClr val="A9A59C"/>
                </a:solidFill>
                <a:latin typeface="IBM Plex Sans" pitchFamily="34" charset="0"/>
                <a:ea typeface="IBM Plex Sans" pitchFamily="34" charset="-122"/>
                <a:cs typeface="IBM Plex Sans" pitchFamily="34" charset="-120"/>
              </a:rPr>
              <a:t> risk-weighted exposure site i covers</a:t>
            </a:r>
            <a:endParaRPr lang="en-US" sz="1500" dirty="0"/>
          </a:p>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o_ij</a:t>
            </a:r>
            <a:r>
              <a:rPr lang="en-US" sz="1500" dirty="0">
                <a:solidFill>
                  <a:srgbClr val="A9A59C"/>
                </a:solidFill>
                <a:latin typeface="IBM Plex Sans" pitchFamily="34" charset="0"/>
                <a:ea typeface="IBM Plex Sans" pitchFamily="34" charset="-122"/>
                <a:cs typeface="IBM Plex Sans" pitchFamily="34" charset="-120"/>
              </a:rPr>
              <a:t> coverage overlap between sites i and j</a:t>
            </a:r>
            <a:endParaRPr lang="en-US" sz="1500" dirty="0"/>
          </a:p>
          <a:p>
            <a:pPr algn="l" marL="228600" indent="-182880">
              <a:lnSpc>
                <a:spcPts val="2025"/>
              </a:lnSpc>
              <a:buSzPct val="100000"/>
              <a:buChar char="•"/>
            </a:pPr>
            <a:r>
              <a:rPr lang="en-US" sz="1500" b="1" dirty="0">
                <a:solidFill>
                  <a:srgbClr val="A9A59C"/>
                </a:solidFill>
                <a:latin typeface="IBM Plex Sans" pitchFamily="34" charset="0"/>
                <a:ea typeface="IBM Plex Sans" pitchFamily="34" charset="-122"/>
                <a:cs typeface="IBM Plex Sans" pitchFamily="34" charset="-120"/>
              </a:rPr>
              <a:t>λ = 0.6 · max w_i</a:t>
            </a:r>
            <a:r>
              <a:rPr lang="en-US" sz="1500" dirty="0">
                <a:solidFill>
                  <a:srgbClr val="A9A59C"/>
                </a:solidFill>
                <a:latin typeface="IBM Plex Sans" pitchFamily="34" charset="0"/>
                <a:ea typeface="IBM Plex Sans" pitchFamily="34" charset="-122"/>
                <a:cs typeface="IBM Plex Sans" pitchFamily="34" charset="-120"/>
              </a:rPr>
              <a:t> enforces exactly k units</a:t>
            </a:r>
            <a:endParaRPr lang="en-US" sz="1500" dirty="0"/>
          </a:p>
          <a:p>
            <a:pPr algn="l" marL="228600" indent="-182880">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Every QUBO checked against exhaustive search</a:t>
            </a:r>
            <a:endParaRPr lang="en-US" sz="1500" dirty="0"/>
          </a:p>
        </p:txBody>
      </p:sp>
      <p:pic>
        <p:nvPicPr>
          <p:cNvPr id="8" name="Image 0" descr="12 by 12 QUBO matrix of the western subproblem: orange diagonal rewards, grey off-diagonal overlap plus cardinality penalties">    </p:cNvPr>
          <p:cNvPicPr>
            <a:picLocks noChangeAspect="1"/>
          </p:cNvPicPr>
          <p:nvPr/>
        </p:nvPicPr>
        <p:blipFill>
          <a:blip r:embed="rId1"/>
          <a:srcRect l="0" r="0" t="0" b="0"/>
          <a:stretch/>
        </p:blipFill>
        <p:spPr>
          <a:xfrm>
            <a:off x="7518400" y="1851661"/>
            <a:ext cx="3048000" cy="3048000"/>
          </a:xfrm>
          <a:prstGeom prst="rect">
            <a:avLst/>
          </a:prstGeom>
        </p:spPr>
      </p:pic>
      <p:sp>
        <p:nvSpPr>
          <p:cNvPr id="9" name="Text 6"/>
          <p:cNvSpPr/>
          <p:nvPr/>
        </p:nvSpPr>
        <p:spPr>
          <a:xfrm>
            <a:off x="7518400" y="5026664"/>
            <a:ext cx="31394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Actual QUBO of the 12-qubit western subproblem</a:t>
            </a:r>
            <a:endParaRPr lang="en-US" sz="1200" dirty="0"/>
          </a:p>
        </p:txBody>
      </p:sp>
      <p:sp>
        <p:nvSpPr>
          <p:cNvPr id="10" name="Shape 7"/>
          <p:cNvSpPr/>
          <p:nvPr/>
        </p:nvSpPr>
        <p:spPr>
          <a:xfrm>
            <a:off x="7518400" y="5598164"/>
            <a:ext cx="177800" cy="177800"/>
          </a:xfrm>
          <a:prstGeom prst="rect">
            <a:avLst/>
          </a:prstGeom>
          <a:solidFill>
            <a:srgbClr val="E56A1F"/>
          </a:solidFill>
          <a:ln/>
        </p:spPr>
      </p:sp>
      <p:sp>
        <p:nvSpPr>
          <p:cNvPr id="11" name="Text 8"/>
          <p:cNvSpPr/>
          <p:nvPr/>
        </p:nvSpPr>
        <p:spPr>
          <a:xfrm>
            <a:off x="7772400" y="5580379"/>
            <a:ext cx="5694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Reward</a:t>
            </a:r>
            <a:endParaRPr lang="en-US" sz="1200" dirty="0"/>
          </a:p>
        </p:txBody>
      </p:sp>
      <p:sp>
        <p:nvSpPr>
          <p:cNvPr id="12" name="Shape 9"/>
          <p:cNvSpPr/>
          <p:nvPr/>
        </p:nvSpPr>
        <p:spPr>
          <a:xfrm>
            <a:off x="8468837" y="5598164"/>
            <a:ext cx="177800" cy="177800"/>
          </a:xfrm>
          <a:prstGeom prst="rect">
            <a:avLst/>
          </a:prstGeom>
          <a:solidFill>
            <a:srgbClr val="CFC9BD"/>
          </a:solidFill>
          <a:ln/>
        </p:spPr>
      </p:sp>
      <p:sp>
        <p:nvSpPr>
          <p:cNvPr id="13" name="Text 10"/>
          <p:cNvSpPr/>
          <p:nvPr/>
        </p:nvSpPr>
        <p:spPr>
          <a:xfrm>
            <a:off x="8722837" y="5580379"/>
            <a:ext cx="5619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Penalty</a:t>
            </a:r>
            <a:endParaRPr lang="en-US" sz="1200" dirty="0"/>
          </a:p>
        </p:txBody>
      </p:sp>
      <p:sp>
        <p:nvSpPr>
          <p:cNvPr id="14" name="Text 11"/>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5" name="Text 1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1470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E56A1F"/>
                </a:solidFill>
                <a:latin typeface="IBM Plex Mono" pitchFamily="34" charset="0"/>
                <a:ea typeface="IBM Plex Mono" pitchFamily="34" charset="-122"/>
                <a:cs typeface="IBM Plex Mono" pitchFamily="34" charset="-120"/>
              </a:rPr>
              <a:t>08 · Stage 3 — Quantum Approximate Optimization Algorithm</a:t>
            </a:r>
            <a:endParaRPr lang="en-US" sz="1088" dirty="0"/>
          </a:p>
        </p:txBody>
      </p:sp>
      <p:sp>
        <p:nvSpPr>
          <p:cNvPr id="3" name="Text 1"/>
          <p:cNvSpPr/>
          <p:nvPr/>
        </p:nvSpPr>
        <p:spPr>
          <a:xfrm>
            <a:off x="812800" y="1103709"/>
            <a:ext cx="10883392" cy="397192"/>
          </a:xfrm>
          <a:prstGeom prst="rect">
            <a:avLst/>
          </a:prstGeom>
          <a:noFill/>
          <a:ln/>
        </p:spPr>
        <p:txBody>
          <a:bodyPr wrap="square" lIns="0" tIns="0" rIns="0" bIns="0" rtlCol="0" anchor="t">
            <a:normAutofit/>
          </a:bodyPr>
          <a:lstStyle/>
          <a:p>
            <a:pPr algn="l" indent="0" marL="0">
              <a:lnSpc>
                <a:spcPts val="2970"/>
              </a:lnSpc>
              <a:buNone/>
            </a:pPr>
            <a:r>
              <a:rPr lang="en-US" sz="2700" b="1" spc="-50" kern="0" dirty="0">
                <a:solidFill>
                  <a:srgbClr val="F5F2EA"/>
                </a:solidFill>
                <a:latin typeface="IBM Plex Sans" pitchFamily="34" charset="0"/>
                <a:ea typeface="IBM Plex Sans" pitchFamily="34" charset="-122"/>
                <a:cs typeface="IBM Plex Sans" pitchFamily="34" charset="-120"/>
              </a:rPr>
              <a:t>QAOA: quantum sampling, classical tuning</a:t>
            </a:r>
            <a:endParaRPr lang="en-US" sz="2700" dirty="0"/>
          </a:p>
        </p:txBody>
      </p:sp>
      <p:pic>
        <p:nvPicPr>
          <p:cNvPr id="4" name="Image 0" descr="QAOA parameterized circuit: Hadamards, cost layer of ZZ and Z rotations, mixer of X rotations, repeated p times, measurement feeding a classical optimiser">    </p:cNvPr>
          <p:cNvPicPr>
            <a:picLocks noChangeAspect="1"/>
          </p:cNvPicPr>
          <p:nvPr/>
        </p:nvPicPr>
        <p:blipFill>
          <a:blip r:embed="rId1"/>
          <a:srcRect l="-43" r="-43" t="0" b="0"/>
          <a:stretch/>
        </p:blipFill>
        <p:spPr>
          <a:xfrm>
            <a:off x="812800" y="1780301"/>
            <a:ext cx="10566400" cy="2794000"/>
          </a:xfrm>
          <a:prstGeom prst="rect">
            <a:avLst/>
          </a:prstGeom>
        </p:spPr>
      </p:pic>
      <p:sp>
        <p:nvSpPr>
          <p:cNvPr id="5" name="Text 2"/>
          <p:cNvSpPr/>
          <p:nvPr/>
        </p:nvSpPr>
        <p:spPr>
          <a:xfrm>
            <a:off x="812800" y="2123201"/>
            <a:ext cx="558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q0</a:t>
            </a:r>
            <a:endParaRPr lang="en-US" sz="1200" dirty="0"/>
          </a:p>
        </p:txBody>
      </p:sp>
      <p:sp>
        <p:nvSpPr>
          <p:cNvPr id="6" name="Text 3"/>
          <p:cNvSpPr/>
          <p:nvPr/>
        </p:nvSpPr>
        <p:spPr>
          <a:xfrm>
            <a:off x="812800" y="2580401"/>
            <a:ext cx="558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q1</a:t>
            </a:r>
            <a:endParaRPr lang="en-US" sz="1200" dirty="0"/>
          </a:p>
        </p:txBody>
      </p:sp>
      <p:sp>
        <p:nvSpPr>
          <p:cNvPr id="7" name="Text 4"/>
          <p:cNvSpPr/>
          <p:nvPr/>
        </p:nvSpPr>
        <p:spPr>
          <a:xfrm>
            <a:off x="812800" y="3037601"/>
            <a:ext cx="558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q2</a:t>
            </a:r>
            <a:endParaRPr lang="en-US" sz="1200" dirty="0"/>
          </a:p>
        </p:txBody>
      </p:sp>
      <p:sp>
        <p:nvSpPr>
          <p:cNvPr id="8" name="Text 5"/>
          <p:cNvSpPr/>
          <p:nvPr/>
        </p:nvSpPr>
        <p:spPr>
          <a:xfrm>
            <a:off x="812800" y="3494801"/>
            <a:ext cx="558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q3</a:t>
            </a:r>
            <a:endParaRPr lang="en-US" sz="1200" dirty="0"/>
          </a:p>
        </p:txBody>
      </p:sp>
      <p:sp>
        <p:nvSpPr>
          <p:cNvPr id="9" name="Text 6"/>
          <p:cNvSpPr/>
          <p:nvPr/>
        </p:nvSpPr>
        <p:spPr>
          <a:xfrm>
            <a:off x="812800" y="3952001"/>
            <a:ext cx="558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q4</a:t>
            </a:r>
            <a:endParaRPr lang="en-US" sz="1200" dirty="0"/>
          </a:p>
        </p:txBody>
      </p:sp>
      <p:sp>
        <p:nvSpPr>
          <p:cNvPr id="10" name="Text 7"/>
          <p:cNvSpPr/>
          <p:nvPr/>
        </p:nvSpPr>
        <p:spPr>
          <a:xfrm>
            <a:off x="1765300" y="4307601"/>
            <a:ext cx="876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Hadamard</a:t>
            </a:r>
            <a:endParaRPr lang="en-US" sz="1200" dirty="0"/>
          </a:p>
        </p:txBody>
      </p:sp>
      <p:sp>
        <p:nvSpPr>
          <p:cNvPr id="11" name="Text 8"/>
          <p:cNvSpPr/>
          <p:nvPr/>
        </p:nvSpPr>
        <p:spPr>
          <a:xfrm>
            <a:off x="2717800" y="4307601"/>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Cost e^(−iγH_C)</a:t>
            </a:r>
            <a:endParaRPr lang="en-US" sz="1200" dirty="0"/>
          </a:p>
        </p:txBody>
      </p:sp>
      <p:sp>
        <p:nvSpPr>
          <p:cNvPr id="12" name="Text 9"/>
          <p:cNvSpPr/>
          <p:nvPr/>
        </p:nvSpPr>
        <p:spPr>
          <a:xfrm>
            <a:off x="5257800" y="430760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Mixer e^(−iβH_B)</a:t>
            </a:r>
            <a:endParaRPr lang="en-US" sz="1200" dirty="0"/>
          </a:p>
        </p:txBody>
      </p:sp>
      <p:sp>
        <p:nvSpPr>
          <p:cNvPr id="13" name="Text 10"/>
          <p:cNvSpPr/>
          <p:nvPr/>
        </p:nvSpPr>
        <p:spPr>
          <a:xfrm>
            <a:off x="6845300" y="4307601"/>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Measure</a:t>
            </a:r>
            <a:endParaRPr lang="en-US" sz="1200" dirty="0"/>
          </a:p>
        </p:txBody>
      </p:sp>
      <p:sp>
        <p:nvSpPr>
          <p:cNvPr id="14" name="Text 11"/>
          <p:cNvSpPr/>
          <p:nvPr/>
        </p:nvSpPr>
        <p:spPr>
          <a:xfrm>
            <a:off x="8496300" y="2478801"/>
            <a:ext cx="255079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Classical optimiser</a:t>
            </a:r>
            <a:endParaRPr lang="en-US" sz="1400" dirty="0"/>
          </a:p>
        </p:txBody>
      </p:sp>
      <p:sp>
        <p:nvSpPr>
          <p:cNvPr id="15" name="Text 12"/>
          <p:cNvSpPr/>
          <p:nvPr/>
        </p:nvSpPr>
        <p:spPr>
          <a:xfrm>
            <a:off x="8496300" y="2764551"/>
            <a:ext cx="2550795"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COBYLA minimises CVaR(α = 0.2) of sampled QUBO energy; returns new γ, β</a:t>
            </a:r>
            <a:endParaRPr lang="en-US" sz="1200" dirty="0"/>
          </a:p>
        </p:txBody>
      </p:sp>
      <p:sp>
        <p:nvSpPr>
          <p:cNvPr id="16" name="Text 13"/>
          <p:cNvSpPr/>
          <p:nvPr/>
        </p:nvSpPr>
        <p:spPr>
          <a:xfrm>
            <a:off x="2755900" y="1932701"/>
            <a:ext cx="18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 p layers, p = 1–2</a:t>
            </a:r>
            <a:endParaRPr lang="en-US" sz="1200" dirty="0"/>
          </a:p>
        </p:txBody>
      </p:sp>
      <p:sp>
        <p:nvSpPr>
          <p:cNvPr id="17" name="Text 14"/>
          <p:cNvSpPr/>
          <p:nvPr/>
        </p:nvSpPr>
        <p:spPr>
          <a:xfrm>
            <a:off x="812800" y="4879101"/>
            <a:ext cx="10883392" cy="234077"/>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F5F2EA"/>
                </a:solidFill>
                <a:latin typeface="IBM Plex Mono" pitchFamily="34" charset="0"/>
                <a:ea typeface="IBM Plex Mono" pitchFamily="34" charset="-122"/>
                <a:cs typeface="IBM Plex Mono" pitchFamily="34" charset="-120"/>
              </a:rPr>
              <a:t>Classical outer loop → quantum sampling → CVaR energy evaluation → parameter update</a:t>
            </a:r>
            <a:endParaRPr lang="en-US" sz="1194" dirty="0"/>
          </a:p>
        </p:txBody>
      </p:sp>
      <p:sp>
        <p:nvSpPr>
          <p:cNvPr id="18" name="Text 15"/>
          <p:cNvSpPr/>
          <p:nvPr/>
        </p:nvSpPr>
        <p:spPr>
          <a:xfrm>
            <a:off x="812800" y="5392582"/>
            <a:ext cx="3348736" cy="4748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A59C"/>
                </a:solidFill>
                <a:latin typeface="IBM Plex Sans" pitchFamily="34" charset="0"/>
                <a:ea typeface="IBM Plex Sans" pitchFamily="34" charset="-122"/>
                <a:cs typeface="IBM Plex Sans" pitchFamily="34" charset="-120"/>
              </a:rPr>
              <a:t>Cost layer</a:t>
            </a:r>
            <a:r>
              <a:rPr lang="en-US" sz="1400" dirty="0">
                <a:solidFill>
                  <a:srgbClr val="A9A59C"/>
                </a:solidFill>
                <a:latin typeface="IBM Plex Sans" pitchFamily="34" charset="0"/>
                <a:ea typeface="IBM Plex Sans" pitchFamily="34" charset="-122"/>
                <a:cs typeface="IBM Plex Sans" pitchFamily="34" charset="-120"/>
              </a:rPr>
              <a:t> encodes the QUBO: ZZ for overlaps, Z for rewards</a:t>
            </a:r>
            <a:endParaRPr lang="en-US" sz="1400" dirty="0"/>
          </a:p>
        </p:txBody>
      </p:sp>
      <p:sp>
        <p:nvSpPr>
          <p:cNvPr id="19" name="Text 16"/>
          <p:cNvSpPr/>
          <p:nvPr/>
        </p:nvSpPr>
        <p:spPr>
          <a:xfrm>
            <a:off x="4470400" y="5392582"/>
            <a:ext cx="3348736" cy="4748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A59C"/>
                </a:solidFill>
                <a:latin typeface="IBM Plex Sans" pitchFamily="34" charset="0"/>
                <a:ea typeface="IBM Plex Sans" pitchFamily="34" charset="-122"/>
                <a:cs typeface="IBM Plex Sans" pitchFamily="34" charset="-120"/>
              </a:rPr>
              <a:t>Mixer</a:t>
            </a:r>
            <a:r>
              <a:rPr lang="en-US" sz="1400" dirty="0">
                <a:solidFill>
                  <a:srgbClr val="A9A59C"/>
                </a:solidFill>
                <a:latin typeface="IBM Plex Sans" pitchFamily="34" charset="0"/>
                <a:ea typeface="IBM Plex Sans" pitchFamily="34" charset="-122"/>
                <a:cs typeface="IBM Plex Sans" pitchFamily="34" charset="-120"/>
              </a:rPr>
              <a:t> moves amplitude between placements</a:t>
            </a:r>
            <a:endParaRPr lang="en-US" sz="1400" dirty="0"/>
          </a:p>
        </p:txBody>
      </p:sp>
      <p:sp>
        <p:nvSpPr>
          <p:cNvPr id="20" name="Text 17"/>
          <p:cNvSpPr/>
          <p:nvPr/>
        </p:nvSpPr>
        <p:spPr>
          <a:xfrm>
            <a:off x="8128000" y="5392582"/>
            <a:ext cx="3348736" cy="4748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A59C"/>
                </a:solidFill>
                <a:latin typeface="IBM Plex Sans" pitchFamily="34" charset="0"/>
                <a:ea typeface="IBM Plex Sans" pitchFamily="34" charset="-122"/>
                <a:cs typeface="IBM Plex Sans" pitchFamily="34" charset="-120"/>
              </a:rPr>
              <a:t>Warm start</a:t>
            </a:r>
            <a:r>
              <a:rPr lang="en-US" sz="1400" dirty="0">
                <a:solidFill>
                  <a:srgbClr val="A9A59C"/>
                </a:solidFill>
                <a:latin typeface="IBM Plex Sans" pitchFamily="34" charset="0"/>
                <a:ea typeface="IBM Plex Sans" pitchFamily="34" charset="-122"/>
                <a:cs typeface="IBM Plex Sans" pitchFamily="34" charset="-120"/>
              </a:rPr>
              <a:t> reuses γ, β from the last run when inputs change</a:t>
            </a:r>
            <a:endParaRPr lang="en-US" sz="1400" dirty="0"/>
          </a:p>
        </p:txBody>
      </p:sp>
      <p:sp>
        <p:nvSpPr>
          <p:cNvPr id="21" name="Text 18"/>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2" name="Text 19"/>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09 · Execution</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Hybrid execution on IBM Quantum under NISQ noise</a:t>
            </a:r>
            <a:endParaRPr lang="en-US" sz="3000" dirty="0"/>
          </a:p>
        </p:txBody>
      </p:sp>
      <p:sp>
        <p:nvSpPr>
          <p:cNvPr id="4" name="Shape 2"/>
          <p:cNvSpPr/>
          <p:nvPr/>
        </p:nvSpPr>
        <p:spPr>
          <a:xfrm>
            <a:off x="819150" y="1858014"/>
            <a:ext cx="5702300" cy="609600"/>
          </a:xfrm>
          <a:prstGeom prst="rect">
            <a:avLst/>
          </a:prstGeom>
          <a:solidFill>
            <a:srgbClr val="262522"/>
          </a:solidFill>
          <a:ln w="12700">
            <a:solidFill>
              <a:srgbClr val="3A3834"/>
            </a:solidFill>
            <a:prstDash val="solid"/>
          </a:ln>
        </p:spPr>
      </p:sp>
      <p:sp>
        <p:nvSpPr>
          <p:cNvPr id="5" name="Text 3"/>
          <p:cNvSpPr/>
          <p:nvPr/>
        </p:nvSpPr>
        <p:spPr>
          <a:xfrm>
            <a:off x="1000760" y="2056129"/>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1457960" y="1925321"/>
            <a:ext cx="26197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Qiskit</a:t>
            </a:r>
            <a:endParaRPr lang="en-US" sz="1400" dirty="0"/>
          </a:p>
        </p:txBody>
      </p:sp>
      <p:sp>
        <p:nvSpPr>
          <p:cNvPr id="7" name="Text 5"/>
          <p:cNvSpPr/>
          <p:nvPr/>
        </p:nvSpPr>
        <p:spPr>
          <a:xfrm>
            <a:off x="1457960" y="2186942"/>
            <a:ext cx="26197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QUBO → Ising operator, QAOAAnsatz</a:t>
            </a:r>
            <a:endParaRPr lang="en-US" sz="1200" dirty="0"/>
          </a:p>
        </p:txBody>
      </p:sp>
      <p:sp>
        <p:nvSpPr>
          <p:cNvPr id="8" name="Shape 6"/>
          <p:cNvSpPr/>
          <p:nvPr/>
        </p:nvSpPr>
        <p:spPr>
          <a:xfrm>
            <a:off x="812800" y="2473964"/>
            <a:ext cx="5715000" cy="612140"/>
          </a:xfrm>
          <a:prstGeom prst="rect">
            <a:avLst/>
          </a:prstGeom>
          <a:solidFill>
            <a:srgbClr val="262522"/>
          </a:solidFill>
          <a:ln/>
        </p:spPr>
      </p:sp>
      <p:sp>
        <p:nvSpPr>
          <p:cNvPr id="9" name="Shape 7"/>
          <p:cNvSpPr/>
          <p:nvPr/>
        </p:nvSpPr>
        <p:spPr>
          <a:xfrm>
            <a:off x="6521450" y="2473964"/>
            <a:ext cx="0" cy="612140"/>
          </a:xfrm>
          <a:prstGeom prst="line">
            <a:avLst/>
          </a:prstGeom>
          <a:noFill/>
          <a:ln w="12700">
            <a:solidFill>
              <a:srgbClr val="3A3834"/>
            </a:solidFill>
            <a:prstDash val="solid"/>
          </a:ln>
        </p:spPr>
      </p:sp>
      <p:sp>
        <p:nvSpPr>
          <p:cNvPr id="10" name="Shape 8"/>
          <p:cNvSpPr/>
          <p:nvPr/>
        </p:nvSpPr>
        <p:spPr>
          <a:xfrm>
            <a:off x="812800" y="3079754"/>
            <a:ext cx="5715000" cy="0"/>
          </a:xfrm>
          <a:prstGeom prst="line">
            <a:avLst/>
          </a:prstGeom>
          <a:noFill/>
          <a:ln w="12700">
            <a:solidFill>
              <a:srgbClr val="3A3834"/>
            </a:solidFill>
            <a:prstDash val="solid"/>
          </a:ln>
        </p:spPr>
      </p:sp>
      <p:sp>
        <p:nvSpPr>
          <p:cNvPr id="11" name="Shape 9"/>
          <p:cNvSpPr/>
          <p:nvPr/>
        </p:nvSpPr>
        <p:spPr>
          <a:xfrm>
            <a:off x="819150" y="2473964"/>
            <a:ext cx="0" cy="612140"/>
          </a:xfrm>
          <a:prstGeom prst="line">
            <a:avLst/>
          </a:prstGeom>
          <a:noFill/>
          <a:ln w="12700">
            <a:solidFill>
              <a:srgbClr val="3A3834"/>
            </a:solidFill>
            <a:prstDash val="solid"/>
          </a:ln>
        </p:spPr>
      </p:sp>
      <p:sp>
        <p:nvSpPr>
          <p:cNvPr id="12" name="Text 10"/>
          <p:cNvSpPr/>
          <p:nvPr/>
        </p:nvSpPr>
        <p:spPr>
          <a:xfrm>
            <a:off x="1000760" y="2668271"/>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02</a:t>
            </a:r>
            <a:endParaRPr lang="en-US" sz="1200" dirty="0"/>
          </a:p>
        </p:txBody>
      </p:sp>
      <p:sp>
        <p:nvSpPr>
          <p:cNvPr id="13" name="Text 11"/>
          <p:cNvSpPr/>
          <p:nvPr/>
        </p:nvSpPr>
        <p:spPr>
          <a:xfrm>
            <a:off x="1457960" y="2537464"/>
            <a:ext cx="34629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Decompose</a:t>
            </a:r>
            <a:endParaRPr lang="en-US" sz="1400" dirty="0"/>
          </a:p>
        </p:txBody>
      </p:sp>
      <p:sp>
        <p:nvSpPr>
          <p:cNvPr id="14" name="Text 12"/>
          <p:cNvSpPr/>
          <p:nvPr/>
        </p:nvSpPr>
        <p:spPr>
          <a:xfrm>
            <a:off x="1457960" y="2799079"/>
            <a:ext cx="34629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Region → ≤20-qubit subproblems (ours: 12 + 11)</a:t>
            </a:r>
            <a:endParaRPr lang="en-US" sz="1200" dirty="0"/>
          </a:p>
        </p:txBody>
      </p:sp>
      <p:sp>
        <p:nvSpPr>
          <p:cNvPr id="15" name="Shape 13"/>
          <p:cNvSpPr/>
          <p:nvPr/>
        </p:nvSpPr>
        <p:spPr>
          <a:xfrm>
            <a:off x="812800" y="3086100"/>
            <a:ext cx="5715000" cy="612140"/>
          </a:xfrm>
          <a:prstGeom prst="rect">
            <a:avLst/>
          </a:prstGeom>
          <a:solidFill>
            <a:srgbClr val="262522"/>
          </a:solidFill>
          <a:ln/>
        </p:spPr>
      </p:sp>
      <p:sp>
        <p:nvSpPr>
          <p:cNvPr id="16" name="Shape 14"/>
          <p:cNvSpPr/>
          <p:nvPr/>
        </p:nvSpPr>
        <p:spPr>
          <a:xfrm>
            <a:off x="6521450" y="3086100"/>
            <a:ext cx="0" cy="612140"/>
          </a:xfrm>
          <a:prstGeom prst="line">
            <a:avLst/>
          </a:prstGeom>
          <a:noFill/>
          <a:ln w="12700">
            <a:solidFill>
              <a:srgbClr val="3A3834"/>
            </a:solidFill>
            <a:prstDash val="solid"/>
          </a:ln>
        </p:spPr>
      </p:sp>
      <p:sp>
        <p:nvSpPr>
          <p:cNvPr id="17" name="Shape 15"/>
          <p:cNvSpPr/>
          <p:nvPr/>
        </p:nvSpPr>
        <p:spPr>
          <a:xfrm>
            <a:off x="812800" y="3691890"/>
            <a:ext cx="5715000" cy="0"/>
          </a:xfrm>
          <a:prstGeom prst="line">
            <a:avLst/>
          </a:prstGeom>
          <a:noFill/>
          <a:ln w="12700">
            <a:solidFill>
              <a:srgbClr val="3A3834"/>
            </a:solidFill>
            <a:prstDash val="solid"/>
          </a:ln>
        </p:spPr>
      </p:sp>
      <p:sp>
        <p:nvSpPr>
          <p:cNvPr id="18" name="Shape 16"/>
          <p:cNvSpPr/>
          <p:nvPr/>
        </p:nvSpPr>
        <p:spPr>
          <a:xfrm>
            <a:off x="819150" y="3086100"/>
            <a:ext cx="0" cy="612140"/>
          </a:xfrm>
          <a:prstGeom prst="line">
            <a:avLst/>
          </a:prstGeom>
          <a:noFill/>
          <a:ln w="12700">
            <a:solidFill>
              <a:srgbClr val="3A3834"/>
            </a:solidFill>
            <a:prstDash val="solid"/>
          </a:ln>
        </p:spPr>
      </p:sp>
      <p:sp>
        <p:nvSpPr>
          <p:cNvPr id="19" name="Text 17"/>
          <p:cNvSpPr/>
          <p:nvPr/>
        </p:nvSpPr>
        <p:spPr>
          <a:xfrm>
            <a:off x="1000760" y="3280414"/>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03</a:t>
            </a:r>
            <a:endParaRPr lang="en-US" sz="1200" dirty="0"/>
          </a:p>
        </p:txBody>
      </p:sp>
      <p:sp>
        <p:nvSpPr>
          <p:cNvPr id="20" name="Text 18"/>
          <p:cNvSpPr/>
          <p:nvPr/>
        </p:nvSpPr>
        <p:spPr>
          <a:xfrm>
            <a:off x="1457960" y="3149600"/>
            <a:ext cx="299366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Transpile</a:t>
            </a:r>
            <a:endParaRPr lang="en-US" sz="1400" dirty="0"/>
          </a:p>
        </p:txBody>
      </p:sp>
      <p:sp>
        <p:nvSpPr>
          <p:cNvPr id="21" name="Text 19"/>
          <p:cNvSpPr/>
          <p:nvPr/>
        </p:nvSpPr>
        <p:spPr>
          <a:xfrm>
            <a:off x="1457960" y="3411221"/>
            <a:ext cx="29936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ISA circuit, heavy-hex, optimization level 3</a:t>
            </a:r>
            <a:endParaRPr lang="en-US" sz="1200" dirty="0"/>
          </a:p>
        </p:txBody>
      </p:sp>
      <p:sp>
        <p:nvSpPr>
          <p:cNvPr id="22" name="Shape 20"/>
          <p:cNvSpPr/>
          <p:nvPr/>
        </p:nvSpPr>
        <p:spPr>
          <a:xfrm>
            <a:off x="812800" y="3698242"/>
            <a:ext cx="5715000" cy="612140"/>
          </a:xfrm>
          <a:prstGeom prst="rect">
            <a:avLst/>
          </a:prstGeom>
          <a:solidFill>
            <a:srgbClr val="262522"/>
          </a:solidFill>
          <a:ln/>
        </p:spPr>
      </p:sp>
      <p:sp>
        <p:nvSpPr>
          <p:cNvPr id="23" name="Shape 21"/>
          <p:cNvSpPr/>
          <p:nvPr/>
        </p:nvSpPr>
        <p:spPr>
          <a:xfrm>
            <a:off x="6521450" y="3698242"/>
            <a:ext cx="0" cy="612140"/>
          </a:xfrm>
          <a:prstGeom prst="line">
            <a:avLst/>
          </a:prstGeom>
          <a:noFill/>
          <a:ln w="12700">
            <a:solidFill>
              <a:srgbClr val="3A3834"/>
            </a:solidFill>
            <a:prstDash val="solid"/>
          </a:ln>
        </p:spPr>
      </p:sp>
      <p:sp>
        <p:nvSpPr>
          <p:cNvPr id="24" name="Shape 22"/>
          <p:cNvSpPr/>
          <p:nvPr/>
        </p:nvSpPr>
        <p:spPr>
          <a:xfrm>
            <a:off x="812800" y="4304032"/>
            <a:ext cx="5715000" cy="0"/>
          </a:xfrm>
          <a:prstGeom prst="line">
            <a:avLst/>
          </a:prstGeom>
          <a:noFill/>
          <a:ln w="12700">
            <a:solidFill>
              <a:srgbClr val="3A3834"/>
            </a:solidFill>
            <a:prstDash val="solid"/>
          </a:ln>
        </p:spPr>
      </p:sp>
      <p:sp>
        <p:nvSpPr>
          <p:cNvPr id="25" name="Shape 23"/>
          <p:cNvSpPr/>
          <p:nvPr/>
        </p:nvSpPr>
        <p:spPr>
          <a:xfrm>
            <a:off x="819150" y="3698242"/>
            <a:ext cx="0" cy="612140"/>
          </a:xfrm>
          <a:prstGeom prst="line">
            <a:avLst/>
          </a:prstGeom>
          <a:noFill/>
          <a:ln w="12700">
            <a:solidFill>
              <a:srgbClr val="3A3834"/>
            </a:solidFill>
            <a:prstDash val="solid"/>
          </a:ln>
        </p:spPr>
      </p:sp>
      <p:sp>
        <p:nvSpPr>
          <p:cNvPr id="26" name="Text 24"/>
          <p:cNvSpPr/>
          <p:nvPr/>
        </p:nvSpPr>
        <p:spPr>
          <a:xfrm>
            <a:off x="1000760" y="3892550"/>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04</a:t>
            </a:r>
            <a:endParaRPr lang="en-US" sz="1200" dirty="0"/>
          </a:p>
        </p:txBody>
      </p:sp>
      <p:sp>
        <p:nvSpPr>
          <p:cNvPr id="27" name="Text 25"/>
          <p:cNvSpPr/>
          <p:nvPr/>
        </p:nvSpPr>
        <p:spPr>
          <a:xfrm>
            <a:off x="1457960" y="3761742"/>
            <a:ext cx="260042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Qiskit Runtime</a:t>
            </a:r>
            <a:endParaRPr lang="en-US" sz="1400" dirty="0"/>
          </a:p>
        </p:txBody>
      </p:sp>
      <p:sp>
        <p:nvSpPr>
          <p:cNvPr id="28" name="Text 26"/>
          <p:cNvSpPr/>
          <p:nvPr/>
        </p:nvSpPr>
        <p:spPr>
          <a:xfrm>
            <a:off x="1457960" y="4023364"/>
            <a:ext cx="26004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Sampler V2, batch mode (Open Plan)</a:t>
            </a:r>
            <a:endParaRPr lang="en-US" sz="1200" dirty="0"/>
          </a:p>
        </p:txBody>
      </p:sp>
      <p:sp>
        <p:nvSpPr>
          <p:cNvPr id="29" name="Shape 27"/>
          <p:cNvSpPr/>
          <p:nvPr/>
        </p:nvSpPr>
        <p:spPr>
          <a:xfrm>
            <a:off x="812800" y="4310379"/>
            <a:ext cx="5715000" cy="612140"/>
          </a:xfrm>
          <a:prstGeom prst="rect">
            <a:avLst/>
          </a:prstGeom>
          <a:solidFill>
            <a:srgbClr val="E56A1F"/>
          </a:solidFill>
          <a:ln/>
        </p:spPr>
      </p:sp>
      <p:sp>
        <p:nvSpPr>
          <p:cNvPr id="30" name="Shape 28"/>
          <p:cNvSpPr/>
          <p:nvPr/>
        </p:nvSpPr>
        <p:spPr>
          <a:xfrm>
            <a:off x="6521450" y="4310379"/>
            <a:ext cx="0" cy="612140"/>
          </a:xfrm>
          <a:prstGeom prst="line">
            <a:avLst/>
          </a:prstGeom>
          <a:noFill/>
          <a:ln w="12700">
            <a:solidFill>
              <a:srgbClr val="E56A1F"/>
            </a:solidFill>
            <a:prstDash val="solid"/>
          </a:ln>
        </p:spPr>
      </p:sp>
      <p:sp>
        <p:nvSpPr>
          <p:cNvPr id="31" name="Shape 29"/>
          <p:cNvSpPr/>
          <p:nvPr/>
        </p:nvSpPr>
        <p:spPr>
          <a:xfrm>
            <a:off x="812800" y="4916169"/>
            <a:ext cx="5715000" cy="0"/>
          </a:xfrm>
          <a:prstGeom prst="line">
            <a:avLst/>
          </a:prstGeom>
          <a:noFill/>
          <a:ln w="12700">
            <a:solidFill>
              <a:srgbClr val="E56A1F"/>
            </a:solidFill>
            <a:prstDash val="solid"/>
          </a:ln>
        </p:spPr>
      </p:sp>
      <p:sp>
        <p:nvSpPr>
          <p:cNvPr id="32" name="Shape 30"/>
          <p:cNvSpPr/>
          <p:nvPr/>
        </p:nvSpPr>
        <p:spPr>
          <a:xfrm>
            <a:off x="819150" y="4310379"/>
            <a:ext cx="0" cy="612140"/>
          </a:xfrm>
          <a:prstGeom prst="line">
            <a:avLst/>
          </a:prstGeom>
          <a:noFill/>
          <a:ln w="12700">
            <a:solidFill>
              <a:srgbClr val="E56A1F"/>
            </a:solidFill>
            <a:prstDash val="solid"/>
          </a:ln>
        </p:spPr>
      </p:sp>
      <p:sp>
        <p:nvSpPr>
          <p:cNvPr id="33" name="Text 31"/>
          <p:cNvSpPr/>
          <p:nvPr/>
        </p:nvSpPr>
        <p:spPr>
          <a:xfrm>
            <a:off x="1000760" y="4504692"/>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Mono" pitchFamily="34" charset="0"/>
                <a:ea typeface="IBM Plex Mono" pitchFamily="34" charset="-122"/>
                <a:cs typeface="IBM Plex Mono" pitchFamily="34" charset="-120"/>
              </a:rPr>
              <a:t>05</a:t>
            </a:r>
            <a:endParaRPr lang="en-US" sz="1200" dirty="0"/>
          </a:p>
        </p:txBody>
      </p:sp>
      <p:sp>
        <p:nvSpPr>
          <p:cNvPr id="34" name="Text 32"/>
          <p:cNvSpPr/>
          <p:nvPr/>
        </p:nvSpPr>
        <p:spPr>
          <a:xfrm>
            <a:off x="1457960" y="4373879"/>
            <a:ext cx="286523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IBM Heron QPU</a:t>
            </a:r>
            <a:endParaRPr lang="en-US" sz="1400" dirty="0"/>
          </a:p>
        </p:txBody>
      </p:sp>
      <p:sp>
        <p:nvSpPr>
          <p:cNvPr id="35" name="Text 33"/>
          <p:cNvSpPr/>
          <p:nvPr/>
        </p:nvSpPr>
        <p:spPr>
          <a:xfrm>
            <a:off x="1457960" y="4635500"/>
            <a:ext cx="28652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Sans" pitchFamily="34" charset="0"/>
                <a:ea typeface="IBM Plex Sans" pitchFamily="34" charset="-122"/>
                <a:cs typeface="IBM Plex Sans" pitchFamily="34" charset="-120"/>
              </a:rPr>
              <a:t>Simulator-optimised angles, 4,096 shots</a:t>
            </a:r>
            <a:endParaRPr lang="en-US" sz="1200" dirty="0"/>
          </a:p>
        </p:txBody>
      </p:sp>
      <p:sp>
        <p:nvSpPr>
          <p:cNvPr id="36" name="Shape 34"/>
          <p:cNvSpPr/>
          <p:nvPr/>
        </p:nvSpPr>
        <p:spPr>
          <a:xfrm>
            <a:off x="812800" y="4922521"/>
            <a:ext cx="5715000" cy="612140"/>
          </a:xfrm>
          <a:prstGeom prst="rect">
            <a:avLst/>
          </a:prstGeom>
          <a:solidFill>
            <a:srgbClr val="262522"/>
          </a:solidFill>
          <a:ln/>
        </p:spPr>
      </p:sp>
      <p:sp>
        <p:nvSpPr>
          <p:cNvPr id="37" name="Shape 35"/>
          <p:cNvSpPr/>
          <p:nvPr/>
        </p:nvSpPr>
        <p:spPr>
          <a:xfrm>
            <a:off x="6521450" y="4922521"/>
            <a:ext cx="0" cy="612140"/>
          </a:xfrm>
          <a:prstGeom prst="line">
            <a:avLst/>
          </a:prstGeom>
          <a:noFill/>
          <a:ln w="12700">
            <a:solidFill>
              <a:srgbClr val="3A3834"/>
            </a:solidFill>
            <a:prstDash val="solid"/>
          </a:ln>
        </p:spPr>
      </p:sp>
      <p:sp>
        <p:nvSpPr>
          <p:cNvPr id="38" name="Shape 36"/>
          <p:cNvSpPr/>
          <p:nvPr/>
        </p:nvSpPr>
        <p:spPr>
          <a:xfrm>
            <a:off x="812800" y="5528311"/>
            <a:ext cx="5715000" cy="0"/>
          </a:xfrm>
          <a:prstGeom prst="line">
            <a:avLst/>
          </a:prstGeom>
          <a:noFill/>
          <a:ln w="12700">
            <a:solidFill>
              <a:srgbClr val="3A3834"/>
            </a:solidFill>
            <a:prstDash val="solid"/>
          </a:ln>
        </p:spPr>
      </p:sp>
      <p:sp>
        <p:nvSpPr>
          <p:cNvPr id="39" name="Shape 37"/>
          <p:cNvSpPr/>
          <p:nvPr/>
        </p:nvSpPr>
        <p:spPr>
          <a:xfrm>
            <a:off x="819150" y="4922521"/>
            <a:ext cx="0" cy="612140"/>
          </a:xfrm>
          <a:prstGeom prst="line">
            <a:avLst/>
          </a:prstGeom>
          <a:noFill/>
          <a:ln w="12700">
            <a:solidFill>
              <a:srgbClr val="3A3834"/>
            </a:solidFill>
            <a:prstDash val="solid"/>
          </a:ln>
        </p:spPr>
      </p:sp>
      <p:sp>
        <p:nvSpPr>
          <p:cNvPr id="40" name="Text 38"/>
          <p:cNvSpPr/>
          <p:nvPr/>
        </p:nvSpPr>
        <p:spPr>
          <a:xfrm>
            <a:off x="1000760" y="5116829"/>
            <a:ext cx="35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06</a:t>
            </a:r>
            <a:endParaRPr lang="en-US" sz="1200" dirty="0"/>
          </a:p>
        </p:txBody>
      </p:sp>
      <p:sp>
        <p:nvSpPr>
          <p:cNvPr id="41" name="Text 39"/>
          <p:cNvSpPr/>
          <p:nvPr/>
        </p:nvSpPr>
        <p:spPr>
          <a:xfrm>
            <a:off x="1457960" y="4986021"/>
            <a:ext cx="300102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Mitigate &amp; decode</a:t>
            </a:r>
            <a:endParaRPr lang="en-US" sz="1400" dirty="0"/>
          </a:p>
        </p:txBody>
      </p:sp>
      <p:sp>
        <p:nvSpPr>
          <p:cNvPr id="42" name="Text 40"/>
          <p:cNvSpPr/>
          <p:nvPr/>
        </p:nvSpPr>
        <p:spPr>
          <a:xfrm>
            <a:off x="1457960" y="5247642"/>
            <a:ext cx="3001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Dynamical decoupling, Pauli twirling, CVaR</a:t>
            </a:r>
            <a:endParaRPr lang="en-US" sz="1200" dirty="0"/>
          </a:p>
        </p:txBody>
      </p:sp>
      <p:sp>
        <p:nvSpPr>
          <p:cNvPr id="43" name="Shape 41"/>
          <p:cNvSpPr/>
          <p:nvPr/>
        </p:nvSpPr>
        <p:spPr>
          <a:xfrm>
            <a:off x="7137400" y="1858014"/>
            <a:ext cx="4241800" cy="0"/>
          </a:xfrm>
          <a:prstGeom prst="line">
            <a:avLst/>
          </a:prstGeom>
          <a:noFill/>
          <a:ln w="12700">
            <a:solidFill>
              <a:srgbClr val="3A3834"/>
            </a:solidFill>
            <a:prstDash val="solid"/>
          </a:ln>
        </p:spPr>
      </p:sp>
      <p:sp>
        <p:nvSpPr>
          <p:cNvPr id="44" name="Text 42"/>
          <p:cNvSpPr/>
          <p:nvPr/>
        </p:nvSpPr>
        <p:spPr>
          <a:xfrm>
            <a:off x="7137400" y="1976121"/>
            <a:ext cx="436905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56A1F"/>
                </a:solidFill>
                <a:latin typeface="IBM Plex Sans" pitchFamily="34" charset="0"/>
                <a:ea typeface="IBM Plex Sans" pitchFamily="34" charset="-122"/>
                <a:cs typeface="IBM Plex Sans" pitchFamily="34" charset="-120"/>
              </a:rPr>
              <a:t>≤20</a:t>
            </a:r>
            <a:endParaRPr lang="en-US" sz="3200" dirty="0"/>
          </a:p>
        </p:txBody>
      </p:sp>
      <p:sp>
        <p:nvSpPr>
          <p:cNvPr id="45" name="Text 43"/>
          <p:cNvSpPr/>
          <p:nvPr/>
        </p:nvSpPr>
        <p:spPr>
          <a:xfrm>
            <a:off x="7137400" y="2420621"/>
            <a:ext cx="436905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logical problem qubits per subproblem; target hardware: IBM Heron class</a:t>
            </a:r>
            <a:endParaRPr lang="en-US" sz="1200" dirty="0"/>
          </a:p>
        </p:txBody>
      </p:sp>
      <p:sp>
        <p:nvSpPr>
          <p:cNvPr id="46" name="Shape 44"/>
          <p:cNvSpPr/>
          <p:nvPr/>
        </p:nvSpPr>
        <p:spPr>
          <a:xfrm>
            <a:off x="7137400" y="3016250"/>
            <a:ext cx="4241800" cy="0"/>
          </a:xfrm>
          <a:prstGeom prst="line">
            <a:avLst/>
          </a:prstGeom>
          <a:noFill/>
          <a:ln w="12700">
            <a:solidFill>
              <a:srgbClr val="3A3834"/>
            </a:solidFill>
            <a:prstDash val="solid"/>
          </a:ln>
        </p:spPr>
      </p:sp>
      <p:sp>
        <p:nvSpPr>
          <p:cNvPr id="47" name="Text 45"/>
          <p:cNvSpPr/>
          <p:nvPr/>
        </p:nvSpPr>
        <p:spPr>
          <a:xfrm>
            <a:off x="7137400" y="3134364"/>
            <a:ext cx="436905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5F2EA"/>
                </a:solidFill>
                <a:latin typeface="IBM Plex Sans" pitchFamily="34" charset="0"/>
                <a:ea typeface="IBM Plex Sans" pitchFamily="34" charset="-122"/>
                <a:cs typeface="IBM Plex Sans" pitchFamily="34" charset="-120"/>
              </a:rPr>
              <a:t>66</a:t>
            </a:r>
            <a:endParaRPr lang="en-US" sz="3200" dirty="0"/>
          </a:p>
        </p:txBody>
      </p:sp>
      <p:sp>
        <p:nvSpPr>
          <p:cNvPr id="48" name="Text 46"/>
          <p:cNvSpPr/>
          <p:nvPr/>
        </p:nvSpPr>
        <p:spPr>
          <a:xfrm>
            <a:off x="7137400" y="3578864"/>
            <a:ext cx="436905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ZZ terms per QAOA layer in our 12-qubit subproblem: the k-constraint makes it dense</a:t>
            </a:r>
            <a:endParaRPr lang="en-US" sz="1200" dirty="0"/>
          </a:p>
        </p:txBody>
      </p:sp>
      <p:sp>
        <p:nvSpPr>
          <p:cNvPr id="49" name="Shape 47"/>
          <p:cNvSpPr/>
          <p:nvPr/>
        </p:nvSpPr>
        <p:spPr>
          <a:xfrm>
            <a:off x="7137400" y="4174492"/>
            <a:ext cx="4241800" cy="0"/>
          </a:xfrm>
          <a:prstGeom prst="line">
            <a:avLst/>
          </a:prstGeom>
          <a:noFill/>
          <a:ln w="12700">
            <a:solidFill>
              <a:srgbClr val="3A3834"/>
            </a:solidFill>
            <a:prstDash val="solid"/>
          </a:ln>
        </p:spPr>
      </p:sp>
      <p:sp>
        <p:nvSpPr>
          <p:cNvPr id="50" name="Text 48"/>
          <p:cNvSpPr/>
          <p:nvPr/>
        </p:nvSpPr>
        <p:spPr>
          <a:xfrm>
            <a:off x="7137400" y="4292600"/>
            <a:ext cx="436905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7715F"/>
                </a:solidFill>
                <a:latin typeface="IBM Plex Sans" pitchFamily="34" charset="0"/>
                <a:ea typeface="IBM Plex Sans" pitchFamily="34" charset="-122"/>
                <a:cs typeface="IBM Plex Sans" pitchFamily="34" charset="-120"/>
              </a:rPr>
              <a:t>20,000+</a:t>
            </a:r>
            <a:endParaRPr lang="en-US" sz="3200" dirty="0"/>
          </a:p>
        </p:txBody>
      </p:sp>
      <p:sp>
        <p:nvSpPr>
          <p:cNvPr id="51" name="Text 49"/>
          <p:cNvSpPr/>
          <p:nvPr/>
        </p:nvSpPr>
        <p:spPr>
          <a:xfrm>
            <a:off x="7137400" y="4737100"/>
            <a:ext cx="436905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A59C"/>
                </a:solidFill>
                <a:latin typeface="IBM Plex Sans" pitchFamily="34" charset="0"/>
                <a:ea typeface="IBM Plex Sans" pitchFamily="34" charset="-122"/>
                <a:cs typeface="IBM Plex Sans" pitchFamily="34" charset="-120"/>
              </a:rPr>
              <a:t>2-qubit gates when large QAOA is transpiled naively; noise-dominated (arXiv 2607.11637)</a:t>
            </a:r>
            <a:endParaRPr lang="en-US" sz="1200" dirty="0"/>
          </a:p>
        </p:txBody>
      </p:sp>
      <p:sp>
        <p:nvSpPr>
          <p:cNvPr id="52" name="Text 50"/>
          <p:cNvSpPr/>
          <p:nvPr/>
        </p:nvSpPr>
        <p:spPr>
          <a:xfrm>
            <a:off x="7137400" y="5326379"/>
            <a:ext cx="436905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Sans" pitchFamily="34" charset="0"/>
                <a:ea typeface="IBM Plex Sans" pitchFamily="34" charset="-122"/>
                <a:cs typeface="IBM Plex Sans" pitchFamily="34" charset="-120"/>
              </a:rPr>
              <a:t>Hardware-aware decomposition: problem size is set by measured circuit fidelity, not nominal qubit count.</a:t>
            </a:r>
            <a:endParaRPr lang="en-US" sz="1300" dirty="0"/>
          </a:p>
        </p:txBody>
      </p:sp>
      <p:sp>
        <p:nvSpPr>
          <p:cNvPr id="53" name="Text 51"/>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54" name="Text 5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10 · Adaptation</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A closed loop that re-solves only the affected region</a:t>
            </a:r>
            <a:endParaRPr lang="en-US" sz="3000" dirty="0"/>
          </a:p>
        </p:txBody>
      </p:sp>
      <p:sp>
        <p:nvSpPr>
          <p:cNvPr id="4" name="Text 2"/>
          <p:cNvSpPr/>
          <p:nvPr/>
        </p:nvSpPr>
        <p:spPr>
          <a:xfrm>
            <a:off x="812800" y="1851664"/>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T0 · forecast issued</a:t>
            </a:r>
            <a:endParaRPr lang="en-US" sz="1200" dirty="0"/>
          </a:p>
        </p:txBody>
      </p:sp>
      <p:pic>
        <p:nvPicPr>
          <p:cNvPr id="5" name="Image 0" descr="Map at T0 · forecast issued: risk layer and re-optimised sites">    </p:cNvPr>
          <p:cNvPicPr>
            <a:picLocks noChangeAspect="1"/>
          </p:cNvPicPr>
          <p:nvPr/>
        </p:nvPicPr>
        <p:blipFill>
          <a:blip r:embed="rId1"/>
          <a:srcRect l="0" r="0" t="0" b="0"/>
          <a:stretch/>
        </p:blipFill>
        <p:spPr>
          <a:xfrm>
            <a:off x="812800" y="2166621"/>
            <a:ext cx="3048000" cy="2286000"/>
          </a:xfrm>
          <a:prstGeom prst="rect">
            <a:avLst/>
          </a:prstGeom>
        </p:spPr>
      </p:pic>
      <p:sp>
        <p:nvSpPr>
          <p:cNvPr id="6" name="Text 3"/>
          <p:cNvSpPr/>
          <p:nvPr/>
        </p:nvSpPr>
        <p:spPr>
          <a:xfrm>
            <a:off x="812800" y="4554221"/>
            <a:ext cx="31394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A59C"/>
                </a:solidFill>
                <a:latin typeface="IBM Plex Sans" pitchFamily="34" charset="0"/>
                <a:ea typeface="IBM Plex Sans" pitchFamily="34" charset="-122"/>
                <a:cs typeface="IBM Plex Sans" pitchFamily="34" charset="-120"/>
              </a:rPr>
              <a:t>Baseline risk; initial solve</a:t>
            </a:r>
            <a:endParaRPr lang="en-US" sz="1300" dirty="0"/>
          </a:p>
        </p:txBody>
      </p:sp>
      <p:sp>
        <p:nvSpPr>
          <p:cNvPr id="7" name="Text 4"/>
          <p:cNvSpPr/>
          <p:nvPr/>
        </p:nvSpPr>
        <p:spPr>
          <a:xfrm>
            <a:off x="4572000" y="1851664"/>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T+6 h · Budameru surge</a:t>
            </a:r>
            <a:endParaRPr lang="en-US" sz="1200" dirty="0"/>
          </a:p>
        </p:txBody>
      </p:sp>
      <p:pic>
        <p:nvPicPr>
          <p:cNvPr id="8" name="Image 1" descr="Map at T+6 h · Budameru surge: risk layer and re-optimised sites">    </p:cNvPr>
          <p:cNvPicPr>
            <a:picLocks noChangeAspect="1"/>
          </p:cNvPicPr>
          <p:nvPr/>
        </p:nvPicPr>
        <p:blipFill>
          <a:blip r:embed="rId2"/>
          <a:srcRect l="0" r="0" t="0" b="0"/>
          <a:stretch/>
        </p:blipFill>
        <p:spPr>
          <a:xfrm>
            <a:off x="4572000" y="2166621"/>
            <a:ext cx="3048000" cy="2286000"/>
          </a:xfrm>
          <a:prstGeom prst="rect">
            <a:avLst/>
          </a:prstGeom>
        </p:spPr>
      </p:pic>
      <p:sp>
        <p:nvSpPr>
          <p:cNvPr id="9" name="Text 5"/>
          <p:cNvSpPr/>
          <p:nvPr/>
        </p:nvSpPr>
        <p:spPr>
          <a:xfrm>
            <a:off x="4572000" y="4554221"/>
            <a:ext cx="31394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A59C"/>
                </a:solidFill>
                <a:latin typeface="IBM Plex Sans" pitchFamily="34" charset="0"/>
                <a:ea typeface="IBM Plex Sans" pitchFamily="34" charset="-122"/>
                <a:cs typeface="IBM Plex Sans" pitchFamily="34" charset="-120"/>
              </a:rPr>
              <a:t>Risk shifts north; re-solved</a:t>
            </a:r>
            <a:endParaRPr lang="en-US" sz="1300" dirty="0"/>
          </a:p>
        </p:txBody>
      </p:sp>
      <p:sp>
        <p:nvSpPr>
          <p:cNvPr id="10" name="Text 6"/>
          <p:cNvSpPr/>
          <p:nvPr/>
        </p:nvSpPr>
        <p:spPr>
          <a:xfrm>
            <a:off x="8331200" y="1851664"/>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T+12 h · delta flooding</a:t>
            </a:r>
            <a:endParaRPr lang="en-US" sz="1200" dirty="0"/>
          </a:p>
        </p:txBody>
      </p:sp>
      <p:pic>
        <p:nvPicPr>
          <p:cNvPr id="11" name="Image 2" descr="Map at T+12 h · delta flooding: risk layer and re-optimised sites">    </p:cNvPr>
          <p:cNvPicPr>
            <a:picLocks noChangeAspect="1"/>
          </p:cNvPicPr>
          <p:nvPr/>
        </p:nvPicPr>
        <p:blipFill>
          <a:blip r:embed="rId3"/>
          <a:srcRect l="0" r="0" t="0" b="0"/>
          <a:stretch/>
        </p:blipFill>
        <p:spPr>
          <a:xfrm>
            <a:off x="8331200" y="2166621"/>
            <a:ext cx="3048000" cy="2286000"/>
          </a:xfrm>
          <a:prstGeom prst="rect">
            <a:avLst/>
          </a:prstGeom>
        </p:spPr>
      </p:pic>
      <p:sp>
        <p:nvSpPr>
          <p:cNvPr id="12" name="Text 7"/>
          <p:cNvSpPr/>
          <p:nvPr/>
        </p:nvSpPr>
        <p:spPr>
          <a:xfrm>
            <a:off x="8331200" y="4554221"/>
            <a:ext cx="31394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A59C"/>
                </a:solidFill>
                <a:latin typeface="IBM Plex Sans" pitchFamily="34" charset="0"/>
                <a:ea typeface="IBM Plex Sans" pitchFamily="34" charset="-122"/>
                <a:cs typeface="IBM Plex Sans" pitchFamily="34" charset="-120"/>
              </a:rPr>
              <a:t>Delta at risk; re-solved</a:t>
            </a:r>
            <a:endParaRPr lang="en-US" sz="1300" dirty="0"/>
          </a:p>
        </p:txBody>
      </p:sp>
      <p:sp>
        <p:nvSpPr>
          <p:cNvPr id="13" name="Text 8"/>
          <p:cNvSpPr/>
          <p:nvPr/>
        </p:nvSpPr>
        <p:spPr>
          <a:xfrm>
            <a:off x="812800" y="5090164"/>
            <a:ext cx="334873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Trigger:</a:t>
            </a:r>
            <a:r>
              <a:rPr lang="en-US" sz="1400" dirty="0">
                <a:solidFill>
                  <a:srgbClr val="F5F2EA"/>
                </a:solidFill>
                <a:latin typeface="IBM Plex Sans" pitchFamily="34" charset="0"/>
                <a:ea typeface="IBM Plex Sans" pitchFamily="34" charset="-122"/>
                <a:cs typeface="IBM Plex Sans" pitchFamily="34" charset="-120"/>
              </a:rPr>
              <a:t> new rainfall, gauge or road data past a threshold</a:t>
            </a:r>
            <a:endParaRPr lang="en-US" sz="1400" dirty="0"/>
          </a:p>
        </p:txBody>
      </p:sp>
      <p:sp>
        <p:nvSpPr>
          <p:cNvPr id="14" name="Text 9"/>
          <p:cNvSpPr/>
          <p:nvPr/>
        </p:nvSpPr>
        <p:spPr>
          <a:xfrm>
            <a:off x="4470400" y="5090164"/>
            <a:ext cx="334873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Local re-solve:</a:t>
            </a:r>
            <a:r>
              <a:rPr lang="en-US" sz="1400" dirty="0">
                <a:solidFill>
                  <a:srgbClr val="F5F2EA"/>
                </a:solidFill>
                <a:latin typeface="IBM Plex Sans" pitchFamily="34" charset="0"/>
                <a:ea typeface="IBM Plex Sans" pitchFamily="34" charset="-122"/>
                <a:cs typeface="IBM Plex Sans" pitchFamily="34" charset="-120"/>
              </a:rPr>
              <a:t> only subregions whose risk changed go back to the QPU</a:t>
            </a:r>
            <a:endParaRPr lang="en-US" sz="1400" dirty="0"/>
          </a:p>
        </p:txBody>
      </p:sp>
      <p:sp>
        <p:nvSpPr>
          <p:cNvPr id="15" name="Text 10"/>
          <p:cNvSpPr/>
          <p:nvPr/>
        </p:nvSpPr>
        <p:spPr>
          <a:xfrm>
            <a:off x="8128000" y="5090164"/>
            <a:ext cx="334873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Warm start:</a:t>
            </a:r>
            <a:r>
              <a:rPr lang="en-US" sz="1400" dirty="0">
                <a:solidFill>
                  <a:srgbClr val="F5F2EA"/>
                </a:solidFill>
                <a:latin typeface="IBM Plex Sans" pitchFamily="34" charset="0"/>
                <a:ea typeface="IBM Plex Sans" pitchFamily="34" charset="-122"/>
                <a:cs typeface="IBM Plex Sans" pitchFamily="34" charset="-120"/>
              </a:rPr>
              <a:t> previous γ, β cut optimiser iterations</a:t>
            </a:r>
            <a:endParaRPr lang="en-US" sz="1400" dirty="0"/>
          </a:p>
        </p:txBody>
      </p:sp>
      <p:sp>
        <p:nvSpPr>
          <p:cNvPr id="16" name="Text 11"/>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7" name="Text 1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1458"/>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56A1F"/>
                </a:solidFill>
                <a:latin typeface="IBM Plex Mono" pitchFamily="34" charset="0"/>
                <a:ea typeface="IBM Plex Mono" pitchFamily="34" charset="-122"/>
                <a:cs typeface="IBM Plex Mono" pitchFamily="34" charset="-120"/>
              </a:rPr>
              <a:t>11 · Benchmark</a:t>
            </a:r>
            <a:endParaRPr lang="en-US" sz="1159" dirty="0"/>
          </a:p>
        </p:txBody>
      </p:sp>
      <p:sp>
        <p:nvSpPr>
          <p:cNvPr id="3" name="Text 1"/>
          <p:cNvSpPr/>
          <p:nvPr/>
        </p:nvSpPr>
        <p:spPr>
          <a:xfrm>
            <a:off x="812800" y="1120459"/>
            <a:ext cx="10883392" cy="430213"/>
          </a:xfrm>
          <a:prstGeom prst="rect">
            <a:avLst/>
          </a:prstGeom>
          <a:noFill/>
          <a:ln/>
        </p:spPr>
        <p:txBody>
          <a:bodyPr wrap="square" lIns="0" tIns="0" rIns="0" bIns="0" rtlCol="0" anchor="t">
            <a:normAutofit/>
          </a:bodyPr>
          <a:lstStyle/>
          <a:p>
            <a:pPr algn="l" indent="0" marL="0">
              <a:lnSpc>
                <a:spcPts val="3218"/>
              </a:lnSpc>
              <a:buNone/>
            </a:pPr>
            <a:r>
              <a:rPr lang="en-US" sz="2925" b="1" spc="-50" kern="0" dirty="0">
                <a:solidFill>
                  <a:srgbClr val="F5F2EA"/>
                </a:solidFill>
                <a:latin typeface="IBM Plex Sans" pitchFamily="34" charset="0"/>
                <a:ea typeface="IBM Plex Sans" pitchFamily="34" charset="-122"/>
                <a:cs typeface="IBM Plex Sans" pitchFamily="34" charset="-120"/>
              </a:rPr>
              <a:t>QAOA reaches 95% of optimum on our instance</a:t>
            </a:r>
            <a:endParaRPr lang="en-US" sz="2925" dirty="0"/>
          </a:p>
        </p:txBody>
      </p:sp>
      <p:sp>
        <p:nvSpPr>
          <p:cNvPr id="4" name="Text 2"/>
          <p:cNvSpPr/>
          <p:nvPr/>
        </p:nvSpPr>
        <p:spPr>
          <a:xfrm>
            <a:off x="812800" y="1830071"/>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Risk-weighted coverage, same instance, k = 6 units</a:t>
            </a:r>
            <a:endParaRPr lang="en-US" sz="1200" dirty="0"/>
          </a:p>
        </p:txBody>
      </p:sp>
      <p:sp>
        <p:nvSpPr>
          <p:cNvPr id="5" name="Text 3"/>
          <p:cNvSpPr/>
          <p:nvPr/>
        </p:nvSpPr>
        <p:spPr>
          <a:xfrm>
            <a:off x="812800" y="2157729"/>
            <a:ext cx="129849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Uniform spacing</a:t>
            </a:r>
            <a:endParaRPr lang="en-US" sz="1300" dirty="0"/>
          </a:p>
        </p:txBody>
      </p:sp>
      <p:sp>
        <p:nvSpPr>
          <p:cNvPr id="6" name="Text 4"/>
          <p:cNvSpPr/>
          <p:nvPr/>
        </p:nvSpPr>
        <p:spPr>
          <a:xfrm>
            <a:off x="5267960" y="2157729"/>
            <a:ext cx="105664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static plan</a:t>
            </a:r>
            <a:endParaRPr lang="en-US" sz="1200" dirty="0"/>
          </a:p>
        </p:txBody>
      </p:sp>
      <p:sp>
        <p:nvSpPr>
          <p:cNvPr id="7" name="Shape 5"/>
          <p:cNvSpPr/>
          <p:nvPr/>
        </p:nvSpPr>
        <p:spPr>
          <a:xfrm>
            <a:off x="812800" y="2453642"/>
            <a:ext cx="1104900" cy="203200"/>
          </a:xfrm>
          <a:prstGeom prst="rect">
            <a:avLst/>
          </a:prstGeom>
          <a:solidFill>
            <a:srgbClr val="6A665F"/>
          </a:solidFill>
          <a:ln/>
        </p:spPr>
      </p:sp>
      <p:sp>
        <p:nvSpPr>
          <p:cNvPr id="8" name="Text 6"/>
          <p:cNvSpPr/>
          <p:nvPr/>
        </p:nvSpPr>
        <p:spPr>
          <a:xfrm>
            <a:off x="2044700" y="2439671"/>
            <a:ext cx="1836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21.8% · ratio 0.35</a:t>
            </a:r>
            <a:endParaRPr lang="en-US" sz="1300" dirty="0"/>
          </a:p>
        </p:txBody>
      </p:sp>
      <p:sp>
        <p:nvSpPr>
          <p:cNvPr id="9" name="Text 7"/>
          <p:cNvSpPr/>
          <p:nvPr/>
        </p:nvSpPr>
        <p:spPr>
          <a:xfrm>
            <a:off x="812800" y="2785114"/>
            <a:ext cx="13107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Greedy heuristic</a:t>
            </a:r>
            <a:endParaRPr lang="en-US" sz="1300" dirty="0"/>
          </a:p>
        </p:txBody>
      </p:sp>
      <p:sp>
        <p:nvSpPr>
          <p:cNvPr id="10" name="Text 8"/>
          <p:cNvSpPr/>
          <p:nvPr/>
        </p:nvSpPr>
        <p:spPr>
          <a:xfrm>
            <a:off x="5725160" y="2785114"/>
            <a:ext cx="59944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0.01 s</a:t>
            </a:r>
            <a:endParaRPr lang="en-US" sz="1200" dirty="0"/>
          </a:p>
        </p:txBody>
      </p:sp>
      <p:sp>
        <p:nvSpPr>
          <p:cNvPr id="11" name="Shape 9"/>
          <p:cNvSpPr/>
          <p:nvPr/>
        </p:nvSpPr>
        <p:spPr>
          <a:xfrm>
            <a:off x="812800" y="3081021"/>
            <a:ext cx="3143250" cy="203200"/>
          </a:xfrm>
          <a:prstGeom prst="rect">
            <a:avLst/>
          </a:prstGeom>
          <a:solidFill>
            <a:srgbClr val="6A665F"/>
          </a:solidFill>
          <a:ln/>
        </p:spPr>
      </p:sp>
      <p:sp>
        <p:nvSpPr>
          <p:cNvPr id="12" name="Text 10"/>
          <p:cNvSpPr/>
          <p:nvPr/>
        </p:nvSpPr>
        <p:spPr>
          <a:xfrm>
            <a:off x="4083050" y="3067050"/>
            <a:ext cx="1836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61.9% · ratio 1.00</a:t>
            </a:r>
            <a:endParaRPr lang="en-US" sz="1300" dirty="0"/>
          </a:p>
        </p:txBody>
      </p:sp>
      <p:sp>
        <p:nvSpPr>
          <p:cNvPr id="13" name="Text 11"/>
          <p:cNvSpPr/>
          <p:nvPr/>
        </p:nvSpPr>
        <p:spPr>
          <a:xfrm>
            <a:off x="812800" y="3412492"/>
            <a:ext cx="103004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Exact search</a:t>
            </a:r>
            <a:endParaRPr lang="en-US" sz="1300" dirty="0"/>
          </a:p>
        </p:txBody>
      </p:sp>
      <p:sp>
        <p:nvSpPr>
          <p:cNvPr id="14" name="Text 12"/>
          <p:cNvSpPr/>
          <p:nvPr/>
        </p:nvSpPr>
        <p:spPr>
          <a:xfrm>
            <a:off x="4353560" y="3412492"/>
            <a:ext cx="1977847"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100,947 plans · 0.7 s</a:t>
            </a:r>
            <a:endParaRPr lang="en-US" sz="1200" dirty="0"/>
          </a:p>
        </p:txBody>
      </p:sp>
      <p:sp>
        <p:nvSpPr>
          <p:cNvPr id="15" name="Shape 13"/>
          <p:cNvSpPr/>
          <p:nvPr/>
        </p:nvSpPr>
        <p:spPr>
          <a:xfrm>
            <a:off x="812800" y="3708400"/>
            <a:ext cx="3143250" cy="203200"/>
          </a:xfrm>
          <a:prstGeom prst="rect">
            <a:avLst/>
          </a:prstGeom>
          <a:solidFill>
            <a:srgbClr val="8DB596"/>
          </a:solidFill>
          <a:ln/>
        </p:spPr>
      </p:sp>
      <p:sp>
        <p:nvSpPr>
          <p:cNvPr id="16" name="Text 14"/>
          <p:cNvSpPr/>
          <p:nvPr/>
        </p:nvSpPr>
        <p:spPr>
          <a:xfrm>
            <a:off x="4083050" y="3694429"/>
            <a:ext cx="1836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61.9% · ratio 1.00</a:t>
            </a:r>
            <a:endParaRPr lang="en-US" sz="1300" dirty="0"/>
          </a:p>
        </p:txBody>
      </p:sp>
      <p:sp>
        <p:nvSpPr>
          <p:cNvPr id="17" name="Text 15"/>
          <p:cNvSpPr/>
          <p:nvPr/>
        </p:nvSpPr>
        <p:spPr>
          <a:xfrm>
            <a:off x="812800" y="4039871"/>
            <a:ext cx="16104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QAOA p=2, ideal sim</a:t>
            </a:r>
            <a:endParaRPr lang="en-US" sz="1300" dirty="0"/>
          </a:p>
        </p:txBody>
      </p:sp>
      <p:sp>
        <p:nvSpPr>
          <p:cNvPr id="18" name="Text 16"/>
          <p:cNvSpPr/>
          <p:nvPr/>
        </p:nvSpPr>
        <p:spPr>
          <a:xfrm>
            <a:off x="4353560" y="4039871"/>
            <a:ext cx="1977847"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2 subproblems · 9.4 s</a:t>
            </a:r>
            <a:endParaRPr lang="en-US" sz="1200" dirty="0"/>
          </a:p>
        </p:txBody>
      </p:sp>
      <p:sp>
        <p:nvSpPr>
          <p:cNvPr id="19" name="Shape 17"/>
          <p:cNvSpPr/>
          <p:nvPr/>
        </p:nvSpPr>
        <p:spPr>
          <a:xfrm>
            <a:off x="812800" y="4335779"/>
            <a:ext cx="2990850" cy="203200"/>
          </a:xfrm>
          <a:prstGeom prst="rect">
            <a:avLst/>
          </a:prstGeom>
          <a:solidFill>
            <a:srgbClr val="E56A1F"/>
          </a:solidFill>
          <a:ln/>
        </p:spPr>
      </p:sp>
      <p:sp>
        <p:nvSpPr>
          <p:cNvPr id="20" name="Text 18"/>
          <p:cNvSpPr/>
          <p:nvPr/>
        </p:nvSpPr>
        <p:spPr>
          <a:xfrm>
            <a:off x="3930650" y="4321814"/>
            <a:ext cx="18365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Mono" pitchFamily="34" charset="0"/>
                <a:ea typeface="IBM Plex Mono" pitchFamily="34" charset="-122"/>
                <a:cs typeface="IBM Plex Mono" pitchFamily="34" charset="-120"/>
              </a:rPr>
              <a:t>58.9% · ratio 0.95</a:t>
            </a:r>
            <a:endParaRPr lang="en-US" sz="1300" dirty="0"/>
          </a:p>
        </p:txBody>
      </p:sp>
      <p:sp>
        <p:nvSpPr>
          <p:cNvPr id="21" name="Text 19"/>
          <p:cNvSpPr/>
          <p:nvPr/>
        </p:nvSpPr>
        <p:spPr>
          <a:xfrm>
            <a:off x="812800" y="4667250"/>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Krishna-basin grid · 285 cells · 23 sites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83400" y="1830071"/>
          <a:ext cx="4064000" cy="2311400"/>
        </p:xfrm>
        <a:graphic>
          <a:graphicData uri="http://schemas.openxmlformats.org/drawingml/2006/table">
            <a:tbl>
              <a:tblPr/>
              <a:tblGrid>
                <a:gridCol w="2032000"/>
                <a:gridCol w="1016000"/>
                <a:gridCol w="1016000"/>
              </a:tblGrid>
              <a:tr h="330200">
                <a:tc>
                  <a:txBody>
                    <a:bodyPr/>
                    <a:lstStyle/>
                    <a:p>
                      <a:pP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QAOA subproblem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solidFill>
                      <a:srgbClr val="2D2C2A"/>
                    </a:solidFill>
                  </a:tcPr>
                </a:tc>
                <a:tc>
                  <a:txBody>
                    <a:bodyPr/>
                    <a:lstStyle/>
                    <a:p>
                      <a:pPr algn="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West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solidFill>
                      <a:srgbClr val="2D2C2A"/>
                    </a:solidFill>
                  </a:tcPr>
                </a:tc>
                <a:tc>
                  <a:txBody>
                    <a:bodyPr/>
                    <a:lstStyle/>
                    <a:p>
                      <a:pPr algn="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East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solidFill>
                      <a:srgbClr val="2D2C2A"/>
                    </a:solidFill>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Problem qubits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Units 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ZZ terms / 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Feasible samples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41.8%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45.8%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Random 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Hit QUBO optimum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8DB596"/>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c>
                  <a:txBody>
                    <a:bodyPr/>
                    <a:lstStyle/>
                    <a:p>
                      <a:pPr algn="r" indent="0" marL="0">
                        <a:lnSpc>
                          <a:spcPts val="1680"/>
                        </a:lnSpc>
                        <a:buNone/>
                      </a:pPr>
                      <a:r>
                        <a:rPr lang="en-US" sz="1200" dirty="0">
                          <a:solidFill>
                            <a:srgbClr val="8DB596"/>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C4A47"/>
                      </a:solidFill>
                      <a:prstDash val="solid"/>
                      <a:round/>
                      <a:headEnd type="none" w="med" len="med"/>
                      <a:tailEnd type="none" w="med" len="med"/>
                    </a:lnL>
                    <a:lnR w="12700" cap="flat" cmpd="sng" algn="ctr">
                      <a:solidFill>
                        <a:srgbClr val="4C4A47"/>
                      </a:solidFill>
                      <a:prstDash val="solid"/>
                      <a:round/>
                      <a:headEnd type="none" w="med" len="med"/>
                      <a:tailEnd type="none" w="med" len="med"/>
                    </a:lnR>
                    <a:lnT w="12700" cap="flat" cmpd="sng" algn="ctr">
                      <a:solidFill>
                        <a:srgbClr val="4C4A47"/>
                      </a:solidFill>
                      <a:prstDash val="solid"/>
                      <a:round/>
                      <a:headEnd type="none" w="med" len="med"/>
                      <a:tailEnd type="none" w="med" len="med"/>
                    </a:lnT>
                    <a:lnB w="12700" cap="flat" cmpd="sng" algn="ctr">
                      <a:solidFill>
                        <a:srgbClr val="4C4A47"/>
                      </a:solidFill>
                      <a:prstDash val="solid"/>
                      <a:round/>
                      <a:headEnd type="none" w="med" len="med"/>
                      <a:tailEnd type="none" w="med" len="med"/>
                    </a:lnB>
                  </a:tcPr>
                </a:tc>
              </a:tr>
            </a:tbl>
          </a:graphicData>
        </a:graphic>
      </p:graphicFrame>
      <p:sp>
        <p:nvSpPr>
          <p:cNvPr id="23" name="Text 20"/>
          <p:cNvSpPr/>
          <p:nvPr/>
        </p:nvSpPr>
        <p:spPr>
          <a:xfrm>
            <a:off x="6883400" y="4304029"/>
            <a:ext cx="4630674" cy="1139825"/>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QAOA raises feasible plans 7.8× and 5.7× over random sampling</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The 5% gap comes from the pairwise QUBO and regional split, not the sampler</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Greedy is optimal here: no quantum advantage claimed</a:t>
            </a:r>
            <a:endParaRPr lang="en-US" sz="1300" dirty="0"/>
          </a:p>
        </p:txBody>
      </p:sp>
      <p:sp>
        <p:nvSpPr>
          <p:cNvPr id="24" name="Text 21"/>
          <p:cNvSpPr/>
          <p:nvPr/>
        </p:nvSpPr>
        <p:spPr>
          <a:xfrm>
            <a:off x="812800" y="5617685"/>
            <a:ext cx="10883392" cy="249714"/>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F5F2EA"/>
                </a:solidFill>
                <a:latin typeface="IBM Plex Sans" pitchFamily="34" charset="0"/>
                <a:ea typeface="IBM Plex Sans" pitchFamily="34" charset="-122"/>
                <a:cs typeface="IBM Plex Sans" pitchFamily="34" charset="-120"/>
              </a:rPr>
              <a:t>Hardware step:</a:t>
            </a:r>
            <a:r>
              <a:rPr lang="en-US" sz="1268" dirty="0">
                <a:solidFill>
                  <a:srgbClr val="F5F2EA"/>
                </a:solidFill>
                <a:latin typeface="IBM Plex Sans" pitchFamily="34" charset="0"/>
                <a:ea typeface="IBM Plex Sans" pitchFamily="34" charset="-122"/>
                <a:cs typeface="IBM Plex Sans" pitchFamily="34" charset="-120"/>
              </a:rPr>
              <a:t> the same circuits run on IBM Heron via </a:t>
            </a:r>
            <a:r>
              <a:rPr lang="en-US" sz="1268" dirty="0">
                <a:solidFill>
                  <a:srgbClr val="E56A1F"/>
                </a:solidFill>
                <a:latin typeface="IBM Plex Sans" pitchFamily="34" charset="0"/>
                <a:ea typeface="IBM Plex Sans" pitchFamily="34" charset="-122"/>
                <a:cs typeface="IBM Plex Sans" pitchFamily="34" charset="-120"/>
              </a:rPr>
              <a:t>benchmark/run_ibm.py</a:t>
            </a:r>
            <a:r>
              <a:rPr lang="en-US" sz="1268" dirty="0">
                <a:solidFill>
                  <a:srgbClr val="F5F2EA"/>
                </a:solidFill>
                <a:latin typeface="IBM Plex Sans" pitchFamily="34" charset="0"/>
                <a:ea typeface="IBM Plex Sans" pitchFamily="34" charset="-122"/>
                <a:cs typeface="IBM Plex Sans" pitchFamily="34" charset="-120"/>
              </a:rPr>
              <a:t> (transferred angles, 4,096 shots, job IDs logged).</a:t>
            </a:r>
            <a:endParaRPr lang="en-US" sz="1268" dirty="0"/>
          </a:p>
        </p:txBody>
      </p:sp>
      <p:sp>
        <p:nvSpPr>
          <p:cNvPr id="25" name="Text 2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6" name="Text 23"/>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661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E56A1F"/>
                </a:solidFill>
                <a:latin typeface="IBM Plex Mono" pitchFamily="34" charset="0"/>
                <a:ea typeface="IBM Plex Mono" pitchFamily="34" charset="-122"/>
                <a:cs typeface="IBM Plex Mono" pitchFamily="34" charset="-120"/>
              </a:rPr>
              <a:t>12 · Demo</a:t>
            </a:r>
            <a:endParaRPr lang="en-US" sz="1196" dirty="0"/>
          </a:p>
        </p:txBody>
      </p:sp>
      <p:sp>
        <p:nvSpPr>
          <p:cNvPr id="3" name="Text 1"/>
          <p:cNvSpPr/>
          <p:nvPr/>
        </p:nvSpPr>
        <p:spPr>
          <a:xfrm>
            <a:off x="812800" y="1125618"/>
            <a:ext cx="10883392" cy="440372"/>
          </a:xfrm>
          <a:prstGeom prst="rect">
            <a:avLst/>
          </a:prstGeom>
          <a:noFill/>
          <a:ln/>
        </p:spPr>
        <p:txBody>
          <a:bodyPr wrap="square" lIns="0" tIns="0" rIns="0" bIns="0" rtlCol="0" anchor="t">
            <a:normAutofit/>
          </a:bodyPr>
          <a:lstStyle/>
          <a:p>
            <a:pPr algn="l" indent="0" marL="0">
              <a:lnSpc>
                <a:spcPts val="3269"/>
              </a:lnSpc>
              <a:buNone/>
            </a:pPr>
            <a:r>
              <a:rPr lang="en-US" sz="2972" b="1" spc="-50" kern="0" dirty="0">
                <a:solidFill>
                  <a:srgbClr val="F5F2EA"/>
                </a:solidFill>
                <a:latin typeface="IBM Plex Sans" pitchFamily="34" charset="0"/>
                <a:ea typeface="IBM Plex Sans" pitchFamily="34" charset="-122"/>
                <a:cs typeface="IBM Plex Sans" pitchFamily="34" charset="-120"/>
              </a:rPr>
              <a:t>The operator view: a map, a QPU job, a plan</a:t>
            </a:r>
            <a:endParaRPr lang="en-US" sz="2972" dirty="0"/>
          </a:p>
        </p:txBody>
      </p:sp>
      <p:sp>
        <p:nvSpPr>
          <p:cNvPr id="4" name="Shape 2"/>
          <p:cNvSpPr/>
          <p:nvPr/>
        </p:nvSpPr>
        <p:spPr>
          <a:xfrm>
            <a:off x="819150" y="1851738"/>
            <a:ext cx="10553700" cy="3417253"/>
          </a:xfrm>
          <a:prstGeom prst="rect">
            <a:avLst/>
          </a:prstGeom>
          <a:solidFill>
            <a:srgbClr val="262522"/>
          </a:solidFill>
          <a:ln w="12700">
            <a:solidFill>
              <a:srgbClr val="3A3834"/>
            </a:solidFill>
            <a:prstDash val="solid"/>
          </a:ln>
        </p:spPr>
      </p:sp>
      <p:sp>
        <p:nvSpPr>
          <p:cNvPr id="5" name="Shape 3"/>
          <p:cNvSpPr/>
          <p:nvPr/>
        </p:nvSpPr>
        <p:spPr>
          <a:xfrm>
            <a:off x="822960" y="1855552"/>
            <a:ext cx="10546080" cy="363617"/>
          </a:xfrm>
          <a:prstGeom prst="rect">
            <a:avLst/>
          </a:prstGeom>
          <a:solidFill>
            <a:srgbClr val="11100F"/>
          </a:solidFill>
          <a:ln/>
        </p:spPr>
      </p:sp>
      <p:sp>
        <p:nvSpPr>
          <p:cNvPr id="6" name="Text 4"/>
          <p:cNvSpPr/>
          <p:nvPr/>
        </p:nvSpPr>
        <p:spPr>
          <a:xfrm>
            <a:off x="975360" y="1930716"/>
            <a:ext cx="27313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Q-ADR console · Krishna basin</a:t>
            </a:r>
            <a:endParaRPr lang="en-US" sz="1200" dirty="0"/>
          </a:p>
        </p:txBody>
      </p:sp>
      <p:sp>
        <p:nvSpPr>
          <p:cNvPr id="7" name="Text 5"/>
          <p:cNvSpPr/>
          <p:nvPr/>
        </p:nvSpPr>
        <p:spPr>
          <a:xfrm>
            <a:off x="9204881" y="1930716"/>
            <a:ext cx="20721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596"/>
                </a:solidFill>
                <a:latin typeface="IBM Plex Mono" pitchFamily="34" charset="0"/>
                <a:ea typeface="IBM Plex Mono" pitchFamily="34" charset="-122"/>
                <a:cs typeface="IBM Plex Mono" pitchFamily="34" charset="-120"/>
              </a:rPr>
              <a:t>● Qiskit Runtime ready</a:t>
            </a:r>
            <a:endParaRPr lang="en-US" sz="1200" dirty="0"/>
          </a:p>
        </p:txBody>
      </p:sp>
      <p:pic>
        <p:nvPicPr>
          <p:cNvPr id="8" name="Image 0" descr="Operator console map: risk layer and the QAOA placement">    </p:cNvPr>
          <p:cNvPicPr>
            <a:picLocks noChangeAspect="1"/>
          </p:cNvPicPr>
          <p:nvPr/>
        </p:nvPicPr>
        <p:blipFill>
          <a:blip r:embed="rId1"/>
          <a:srcRect l="0" r="0" t="0" b="0"/>
          <a:stretch/>
        </p:blipFill>
        <p:spPr>
          <a:xfrm>
            <a:off x="975360" y="2371570"/>
            <a:ext cx="3683000" cy="2762250"/>
          </a:xfrm>
          <a:prstGeom prst="rect">
            <a:avLst/>
          </a:prstGeom>
        </p:spPr>
      </p:pic>
      <p:sp>
        <p:nvSpPr>
          <p:cNvPr id="9" name="Text 6"/>
          <p:cNvSpPr/>
          <p:nvPr/>
        </p:nvSpPr>
        <p:spPr>
          <a:xfrm>
            <a:off x="4912360" y="2371570"/>
            <a:ext cx="6493408" cy="287973"/>
          </a:xfrm>
          <a:prstGeom prst="rect">
            <a:avLst/>
          </a:prstGeom>
          <a:noFill/>
          <a:ln/>
        </p:spPr>
        <p:txBody>
          <a:bodyPr wrap="square" lIns="0" tIns="0" rIns="0" bIns="0" rtlCol="0" anchor="t">
            <a:normAutofit/>
          </a:bodyPr>
          <a:lstStyle/>
          <a:p>
            <a:pPr algn="l" indent="0" marL="0">
              <a:lnSpc>
                <a:spcPts val="2074"/>
              </a:lnSpc>
              <a:buNone/>
            </a:pPr>
            <a:r>
              <a:rPr lang="en-US" sz="1481" b="1" dirty="0">
                <a:solidFill>
                  <a:srgbClr val="F5F2EA"/>
                </a:solidFill>
                <a:latin typeface="IBM Plex Sans" pitchFamily="34" charset="0"/>
                <a:ea typeface="IBM Plex Sans" pitchFamily="34" charset="-122"/>
                <a:cs typeface="IBM Plex Sans" pitchFamily="34" charset="-120"/>
              </a:rPr>
              <a:t>Quantum job</a:t>
            </a:r>
            <a:endParaRPr lang="en-US" sz="1481" dirty="0"/>
          </a:p>
        </p:txBody>
      </p:sp>
      <p:sp>
        <p:nvSpPr>
          <p:cNvPr id="10" name="Text 7"/>
          <p:cNvSpPr/>
          <p:nvPr/>
        </p:nvSpPr>
        <p:spPr>
          <a:xfrm>
            <a:off x="4912360" y="2735740"/>
            <a:ext cx="50800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Event</a:t>
            </a:r>
            <a:endParaRPr lang="en-US" sz="1200" dirty="0"/>
          </a:p>
        </p:txBody>
      </p:sp>
      <p:sp>
        <p:nvSpPr>
          <p:cNvPr id="11" name="Text 8"/>
          <p:cNvSpPr/>
          <p:nvPr/>
        </p:nvSpPr>
        <p:spPr>
          <a:xfrm>
            <a:off x="9387840" y="2735740"/>
            <a:ext cx="1883664"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T0 · forecast issued</a:t>
            </a:r>
            <a:endParaRPr lang="en-US" sz="1200" dirty="0"/>
          </a:p>
        </p:txBody>
      </p:sp>
      <p:sp>
        <p:nvSpPr>
          <p:cNvPr id="12" name="Shape 9"/>
          <p:cNvSpPr/>
          <p:nvPr/>
        </p:nvSpPr>
        <p:spPr>
          <a:xfrm>
            <a:off x="4912360" y="3050623"/>
            <a:ext cx="6304280" cy="0"/>
          </a:xfrm>
          <a:prstGeom prst="line">
            <a:avLst/>
          </a:prstGeom>
          <a:noFill/>
          <a:ln w="6350">
            <a:solidFill>
              <a:srgbClr val="3A3834"/>
            </a:solidFill>
            <a:prstDash val="solid"/>
          </a:ln>
        </p:spPr>
      </p:sp>
      <p:sp>
        <p:nvSpPr>
          <p:cNvPr id="13" name="Text 10"/>
          <p:cNvSpPr/>
          <p:nvPr/>
        </p:nvSpPr>
        <p:spPr>
          <a:xfrm>
            <a:off x="4912360" y="3103327"/>
            <a:ext cx="599440" cy="23542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Solver</a:t>
            </a:r>
            <a:endParaRPr lang="en-US" sz="1200" dirty="0"/>
          </a:p>
        </p:txBody>
      </p:sp>
      <p:sp>
        <p:nvSpPr>
          <p:cNvPr id="14" name="Text 11"/>
          <p:cNvSpPr/>
          <p:nvPr/>
        </p:nvSpPr>
        <p:spPr>
          <a:xfrm>
            <a:off x="8839200" y="3103327"/>
            <a:ext cx="2448763" cy="23542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QAOA p = 2 · 2 subproblems</a:t>
            </a:r>
            <a:endParaRPr lang="en-US" sz="1200" dirty="0"/>
          </a:p>
        </p:txBody>
      </p:sp>
      <p:sp>
        <p:nvSpPr>
          <p:cNvPr id="15" name="Shape 12"/>
          <p:cNvSpPr/>
          <p:nvPr/>
        </p:nvSpPr>
        <p:spPr>
          <a:xfrm>
            <a:off x="4912360" y="3418129"/>
            <a:ext cx="6304280" cy="0"/>
          </a:xfrm>
          <a:prstGeom prst="line">
            <a:avLst/>
          </a:prstGeom>
          <a:noFill/>
          <a:ln w="6350">
            <a:solidFill>
              <a:srgbClr val="3A3834"/>
            </a:solidFill>
            <a:prstDash val="solid"/>
          </a:ln>
        </p:spPr>
      </p:sp>
      <p:sp>
        <p:nvSpPr>
          <p:cNvPr id="16" name="Text 13"/>
          <p:cNvSpPr/>
          <p:nvPr/>
        </p:nvSpPr>
        <p:spPr>
          <a:xfrm>
            <a:off x="4912360" y="3470833"/>
            <a:ext cx="133096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Problem qubits</a:t>
            </a:r>
            <a:endParaRPr lang="en-US" sz="1200" dirty="0"/>
          </a:p>
        </p:txBody>
      </p:sp>
      <p:sp>
        <p:nvSpPr>
          <p:cNvPr id="17" name="Text 14"/>
          <p:cNvSpPr/>
          <p:nvPr/>
        </p:nvSpPr>
        <p:spPr>
          <a:xfrm>
            <a:off x="10576560" y="3470833"/>
            <a:ext cx="69088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12 + 11</a:t>
            </a:r>
            <a:endParaRPr lang="en-US" sz="1200" dirty="0"/>
          </a:p>
        </p:txBody>
      </p:sp>
      <p:sp>
        <p:nvSpPr>
          <p:cNvPr id="18" name="Shape 15"/>
          <p:cNvSpPr/>
          <p:nvPr/>
        </p:nvSpPr>
        <p:spPr>
          <a:xfrm>
            <a:off x="4912360" y="3785710"/>
            <a:ext cx="6304280" cy="0"/>
          </a:xfrm>
          <a:prstGeom prst="line">
            <a:avLst/>
          </a:prstGeom>
          <a:noFill/>
          <a:ln w="6350">
            <a:solidFill>
              <a:srgbClr val="3A3834"/>
            </a:solidFill>
            <a:prstDash val="solid"/>
          </a:ln>
        </p:spPr>
      </p:sp>
      <p:sp>
        <p:nvSpPr>
          <p:cNvPr id="19" name="Text 16"/>
          <p:cNvSpPr/>
          <p:nvPr/>
        </p:nvSpPr>
        <p:spPr>
          <a:xfrm>
            <a:off x="4912360" y="3838420"/>
            <a:ext cx="508000" cy="23542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Shots</a:t>
            </a:r>
            <a:endParaRPr lang="en-US" sz="1200" dirty="0"/>
          </a:p>
        </p:txBody>
      </p:sp>
      <p:sp>
        <p:nvSpPr>
          <p:cNvPr id="20" name="Text 17"/>
          <p:cNvSpPr/>
          <p:nvPr/>
        </p:nvSpPr>
        <p:spPr>
          <a:xfrm>
            <a:off x="9387840" y="3838420"/>
            <a:ext cx="1883664" cy="23542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4,096 per subproblem</a:t>
            </a:r>
            <a:endParaRPr lang="en-US" sz="1200" dirty="0"/>
          </a:p>
        </p:txBody>
      </p:sp>
      <p:sp>
        <p:nvSpPr>
          <p:cNvPr id="21" name="Shape 18"/>
          <p:cNvSpPr/>
          <p:nvPr/>
        </p:nvSpPr>
        <p:spPr>
          <a:xfrm>
            <a:off x="4912360" y="4153216"/>
            <a:ext cx="6304280" cy="0"/>
          </a:xfrm>
          <a:prstGeom prst="line">
            <a:avLst/>
          </a:prstGeom>
          <a:noFill/>
          <a:ln w="6350">
            <a:solidFill>
              <a:srgbClr val="3A3834"/>
            </a:solidFill>
            <a:prstDash val="solid"/>
          </a:ln>
        </p:spPr>
      </p:sp>
      <p:sp>
        <p:nvSpPr>
          <p:cNvPr id="22" name="Text 19"/>
          <p:cNvSpPr/>
          <p:nvPr/>
        </p:nvSpPr>
        <p:spPr>
          <a:xfrm>
            <a:off x="4912360" y="4205926"/>
            <a:ext cx="151384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Feasible samples</a:t>
            </a:r>
            <a:endParaRPr lang="en-US" sz="1200" dirty="0"/>
          </a:p>
        </p:txBody>
      </p:sp>
      <p:sp>
        <p:nvSpPr>
          <p:cNvPr id="23" name="Text 20"/>
          <p:cNvSpPr/>
          <p:nvPr/>
        </p:nvSpPr>
        <p:spPr>
          <a:xfrm>
            <a:off x="10027920" y="4205926"/>
            <a:ext cx="123952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41.8% / 45.8%</a:t>
            </a:r>
            <a:endParaRPr lang="en-US" sz="1200" dirty="0"/>
          </a:p>
        </p:txBody>
      </p:sp>
      <p:sp>
        <p:nvSpPr>
          <p:cNvPr id="24" name="Shape 21"/>
          <p:cNvSpPr/>
          <p:nvPr/>
        </p:nvSpPr>
        <p:spPr>
          <a:xfrm>
            <a:off x="4912360" y="4520803"/>
            <a:ext cx="6304280" cy="0"/>
          </a:xfrm>
          <a:prstGeom prst="line">
            <a:avLst/>
          </a:prstGeom>
          <a:noFill/>
          <a:ln w="6350">
            <a:solidFill>
              <a:srgbClr val="3A3834"/>
            </a:solidFill>
            <a:prstDash val="solid"/>
          </a:ln>
        </p:spPr>
      </p:sp>
      <p:sp>
        <p:nvSpPr>
          <p:cNvPr id="25" name="Text 22"/>
          <p:cNvSpPr/>
          <p:nvPr/>
        </p:nvSpPr>
        <p:spPr>
          <a:xfrm>
            <a:off x="4912360" y="4573507"/>
            <a:ext cx="59944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Status</a:t>
            </a:r>
            <a:endParaRPr lang="en-US" sz="1200" dirty="0"/>
          </a:p>
        </p:txBody>
      </p:sp>
      <p:sp>
        <p:nvSpPr>
          <p:cNvPr id="26" name="Text 23"/>
          <p:cNvSpPr/>
          <p:nvPr/>
        </p:nvSpPr>
        <p:spPr>
          <a:xfrm>
            <a:off x="10302240" y="4573507"/>
            <a:ext cx="965200" cy="2355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B596"/>
                </a:solidFill>
                <a:latin typeface="IBM Plex Mono" pitchFamily="34" charset="0"/>
                <a:ea typeface="IBM Plex Mono" pitchFamily="34" charset="-122"/>
                <a:cs typeface="IBM Plex Mono" pitchFamily="34" charset="-120"/>
              </a:rPr>
              <a:t>Plan ready</a:t>
            </a:r>
            <a:endParaRPr lang="en-US" sz="1200" dirty="0"/>
          </a:p>
        </p:txBody>
      </p:sp>
      <p:sp>
        <p:nvSpPr>
          <p:cNvPr id="27" name="Text 24"/>
          <p:cNvSpPr/>
          <p:nvPr/>
        </p:nvSpPr>
        <p:spPr>
          <a:xfrm>
            <a:off x="4912360" y="4885215"/>
            <a:ext cx="6493408" cy="252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A59C"/>
                </a:solidFill>
                <a:latin typeface="IBM Plex Sans" pitchFamily="34" charset="0"/>
                <a:ea typeface="IBM Plex Sans" pitchFamily="34" charset="-122"/>
                <a:cs typeface="IBM Plex Sans" pitchFamily="34" charset="-120"/>
              </a:rPr>
              <a:t>6 units placed · 58.9% risk-weighted coverage</a:t>
            </a:r>
            <a:endParaRPr lang="en-US" sz="1300" dirty="0"/>
          </a:p>
        </p:txBody>
      </p:sp>
      <p:sp>
        <p:nvSpPr>
          <p:cNvPr id="28" name="Shape 25"/>
          <p:cNvSpPr/>
          <p:nvPr/>
        </p:nvSpPr>
        <p:spPr>
          <a:xfrm>
            <a:off x="812800" y="5579033"/>
            <a:ext cx="243840" cy="264160"/>
          </a:xfrm>
          <a:prstGeom prst="rect">
            <a:avLst/>
          </a:prstGeom>
          <a:solidFill>
            <a:srgbClr val="E56A1F"/>
          </a:solidFill>
          <a:ln/>
        </p:spPr>
      </p:sp>
      <p:sp>
        <p:nvSpPr>
          <p:cNvPr id="29" name="Text 26"/>
          <p:cNvSpPr/>
          <p:nvPr/>
        </p:nvSpPr>
        <p:spPr>
          <a:xfrm>
            <a:off x="889000" y="5604433"/>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Mono" pitchFamily="34" charset="0"/>
                <a:ea typeface="IBM Plex Mono" pitchFamily="34" charset="-122"/>
                <a:cs typeface="IBM Plex Mono" pitchFamily="34" charset="-120"/>
              </a:rPr>
              <a:t>1</a:t>
            </a:r>
            <a:endParaRPr lang="en-US" sz="1200" dirty="0"/>
          </a:p>
        </p:txBody>
      </p:sp>
      <p:sp>
        <p:nvSpPr>
          <p:cNvPr id="30" name="Text 27"/>
          <p:cNvSpPr/>
          <p:nvPr/>
        </p:nvSpPr>
        <p:spPr>
          <a:xfrm>
            <a:off x="1158240" y="5595460"/>
            <a:ext cx="115450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Sans" pitchFamily="34" charset="0"/>
                <a:ea typeface="IBM Plex Sans" pitchFamily="34" charset="-122"/>
                <a:cs typeface="IBM Plex Sans" pitchFamily="34" charset="-120"/>
              </a:rPr>
              <a:t>Load live event</a:t>
            </a:r>
            <a:endParaRPr lang="en-US" sz="1300" dirty="0"/>
          </a:p>
        </p:txBody>
      </p:sp>
      <p:sp>
        <p:nvSpPr>
          <p:cNvPr id="31" name="Shape 28"/>
          <p:cNvSpPr/>
          <p:nvPr/>
        </p:nvSpPr>
        <p:spPr>
          <a:xfrm>
            <a:off x="3492500" y="5579033"/>
            <a:ext cx="243840" cy="264160"/>
          </a:xfrm>
          <a:prstGeom prst="rect">
            <a:avLst/>
          </a:prstGeom>
          <a:solidFill>
            <a:srgbClr val="E56A1F"/>
          </a:solidFill>
          <a:ln/>
        </p:spPr>
      </p:sp>
      <p:sp>
        <p:nvSpPr>
          <p:cNvPr id="32" name="Text 29"/>
          <p:cNvSpPr/>
          <p:nvPr/>
        </p:nvSpPr>
        <p:spPr>
          <a:xfrm>
            <a:off x="3568700" y="5604433"/>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Mono" pitchFamily="34" charset="0"/>
                <a:ea typeface="IBM Plex Mono" pitchFamily="34" charset="-122"/>
                <a:cs typeface="IBM Plex Mono" pitchFamily="34" charset="-120"/>
              </a:rPr>
              <a:t>2</a:t>
            </a:r>
            <a:endParaRPr lang="en-US" sz="1200" dirty="0"/>
          </a:p>
        </p:txBody>
      </p:sp>
      <p:sp>
        <p:nvSpPr>
          <p:cNvPr id="33" name="Text 30"/>
          <p:cNvSpPr/>
          <p:nvPr/>
        </p:nvSpPr>
        <p:spPr>
          <a:xfrm>
            <a:off x="3837940" y="5595460"/>
            <a:ext cx="77993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Sans" pitchFamily="34" charset="0"/>
                <a:ea typeface="IBM Plex Sans" pitchFamily="34" charset="-122"/>
                <a:cs typeface="IBM Plex Sans" pitchFamily="34" charset="-120"/>
              </a:rPr>
              <a:t>Score risk</a:t>
            </a:r>
            <a:endParaRPr lang="en-US" sz="1300" dirty="0"/>
          </a:p>
        </p:txBody>
      </p:sp>
      <p:sp>
        <p:nvSpPr>
          <p:cNvPr id="34" name="Shape 31"/>
          <p:cNvSpPr/>
          <p:nvPr/>
        </p:nvSpPr>
        <p:spPr>
          <a:xfrm>
            <a:off x="6172200" y="5579033"/>
            <a:ext cx="243840" cy="264160"/>
          </a:xfrm>
          <a:prstGeom prst="rect">
            <a:avLst/>
          </a:prstGeom>
          <a:solidFill>
            <a:srgbClr val="E56A1F"/>
          </a:solidFill>
          <a:ln/>
        </p:spPr>
      </p:sp>
      <p:sp>
        <p:nvSpPr>
          <p:cNvPr id="35" name="Text 32"/>
          <p:cNvSpPr/>
          <p:nvPr/>
        </p:nvSpPr>
        <p:spPr>
          <a:xfrm>
            <a:off x="6248400" y="5604433"/>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Mono" pitchFamily="34" charset="0"/>
                <a:ea typeface="IBM Plex Mono" pitchFamily="34" charset="-122"/>
                <a:cs typeface="IBM Plex Mono" pitchFamily="34" charset="-120"/>
              </a:rPr>
              <a:t>3</a:t>
            </a:r>
            <a:endParaRPr lang="en-US" sz="1200" dirty="0"/>
          </a:p>
        </p:txBody>
      </p:sp>
      <p:sp>
        <p:nvSpPr>
          <p:cNvPr id="36" name="Text 33"/>
          <p:cNvSpPr/>
          <p:nvPr/>
        </p:nvSpPr>
        <p:spPr>
          <a:xfrm>
            <a:off x="6517640" y="5595460"/>
            <a:ext cx="132738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Sans" pitchFamily="34" charset="0"/>
                <a:ea typeface="IBM Plex Sans" pitchFamily="34" charset="-122"/>
                <a:cs typeface="IBM Plex Sans" pitchFamily="34" charset="-120"/>
              </a:rPr>
              <a:t>Solve on the QPU</a:t>
            </a:r>
            <a:endParaRPr lang="en-US" sz="1300" dirty="0"/>
          </a:p>
        </p:txBody>
      </p:sp>
      <p:sp>
        <p:nvSpPr>
          <p:cNvPr id="37" name="Shape 34"/>
          <p:cNvSpPr/>
          <p:nvPr/>
        </p:nvSpPr>
        <p:spPr>
          <a:xfrm>
            <a:off x="8851900" y="5579033"/>
            <a:ext cx="243840" cy="264160"/>
          </a:xfrm>
          <a:prstGeom prst="rect">
            <a:avLst/>
          </a:prstGeom>
          <a:solidFill>
            <a:srgbClr val="E56A1F"/>
          </a:solidFill>
          <a:ln/>
        </p:spPr>
      </p:sp>
      <p:sp>
        <p:nvSpPr>
          <p:cNvPr id="38" name="Text 35"/>
          <p:cNvSpPr/>
          <p:nvPr/>
        </p:nvSpPr>
        <p:spPr>
          <a:xfrm>
            <a:off x="8928100" y="5604433"/>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717"/>
                </a:solidFill>
                <a:latin typeface="IBM Plex Mono" pitchFamily="34" charset="0"/>
                <a:ea typeface="IBM Plex Mono" pitchFamily="34" charset="-122"/>
                <a:cs typeface="IBM Plex Mono" pitchFamily="34" charset="-120"/>
              </a:rPr>
              <a:t>4</a:t>
            </a:r>
            <a:endParaRPr lang="en-US" sz="1200" dirty="0"/>
          </a:p>
        </p:txBody>
      </p:sp>
      <p:sp>
        <p:nvSpPr>
          <p:cNvPr id="39" name="Text 36"/>
          <p:cNvSpPr/>
          <p:nvPr/>
        </p:nvSpPr>
        <p:spPr>
          <a:xfrm>
            <a:off x="9197340" y="5595460"/>
            <a:ext cx="142033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2EA"/>
                </a:solidFill>
                <a:latin typeface="IBM Plex Sans" pitchFamily="34" charset="0"/>
                <a:ea typeface="IBM Plex Sans" pitchFamily="34" charset="-122"/>
                <a:cs typeface="IBM Plex Sans" pitchFamily="34" charset="-120"/>
              </a:rPr>
              <a:t>Re-plan on update</a:t>
            </a:r>
            <a:endParaRPr lang="en-US" sz="1300" dirty="0"/>
          </a:p>
        </p:txBody>
      </p:sp>
      <p:sp>
        <p:nvSpPr>
          <p:cNvPr id="40" name="Text 37"/>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41" name="Text 38"/>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13 · Contribution and limits</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F5F2EA"/>
                </a:solidFill>
                <a:latin typeface="IBM Plex Sans" pitchFamily="34" charset="0"/>
                <a:ea typeface="IBM Plex Sans" pitchFamily="34" charset="-122"/>
                <a:cs typeface="IBM Plex Sans" pitchFamily="34" charset="-120"/>
              </a:rPr>
              <a:t>A quantum-compatible, hardware-executed pipeline</a:t>
            </a:r>
            <a:endParaRPr lang="en-US" sz="3000" dirty="0"/>
          </a:p>
        </p:txBody>
      </p:sp>
      <p:sp>
        <p:nvSpPr>
          <p:cNvPr id="4" name="Shape 2"/>
          <p:cNvSpPr/>
          <p:nvPr/>
        </p:nvSpPr>
        <p:spPr>
          <a:xfrm>
            <a:off x="812800" y="1864364"/>
            <a:ext cx="3251200" cy="0"/>
          </a:xfrm>
          <a:prstGeom prst="line">
            <a:avLst/>
          </a:prstGeom>
          <a:noFill/>
          <a:ln w="25400">
            <a:solidFill>
              <a:srgbClr val="E56A1F"/>
            </a:solidFill>
            <a:prstDash val="solid"/>
          </a:ln>
        </p:spPr>
      </p:sp>
      <p:sp>
        <p:nvSpPr>
          <p:cNvPr id="5" name="Text 3"/>
          <p:cNvSpPr/>
          <p:nvPr/>
        </p:nvSpPr>
        <p:spPr>
          <a:xfrm>
            <a:off x="812800" y="2029464"/>
            <a:ext cx="334873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2EA"/>
                </a:solidFill>
                <a:latin typeface="IBM Plex Sans" pitchFamily="34" charset="0"/>
                <a:ea typeface="IBM Plex Sans" pitchFamily="34" charset="-122"/>
                <a:cs typeface="IBM Plex Sans" pitchFamily="34" charset="-120"/>
              </a:rPr>
              <a:t>What is new</a:t>
            </a:r>
            <a:endParaRPr lang="en-US" sz="1700" dirty="0"/>
          </a:p>
        </p:txBody>
      </p:sp>
      <p:sp>
        <p:nvSpPr>
          <p:cNvPr id="6" name="Text 4"/>
          <p:cNvSpPr/>
          <p:nvPr/>
        </p:nvSpPr>
        <p:spPr>
          <a:xfrm>
            <a:off x="812800" y="2415542"/>
            <a:ext cx="3348736" cy="1362710"/>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Closed loop: ML risk → QUBO → QAOA, no manual step</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Event-triggered, warm-started, local re-solve</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Decomposition sized to measured QPU fidelity</a:t>
            </a:r>
            <a:endParaRPr lang="en-US" sz="1300" dirty="0"/>
          </a:p>
        </p:txBody>
      </p:sp>
      <p:sp>
        <p:nvSpPr>
          <p:cNvPr id="7" name="Shape 5"/>
          <p:cNvSpPr/>
          <p:nvPr/>
        </p:nvSpPr>
        <p:spPr>
          <a:xfrm>
            <a:off x="4470400" y="1864364"/>
            <a:ext cx="3251200" cy="0"/>
          </a:xfrm>
          <a:prstGeom prst="line">
            <a:avLst/>
          </a:prstGeom>
          <a:noFill/>
          <a:ln w="25400">
            <a:solidFill>
              <a:srgbClr val="4F7658"/>
            </a:solidFill>
            <a:prstDash val="solid"/>
          </a:ln>
        </p:spPr>
      </p:sp>
      <p:sp>
        <p:nvSpPr>
          <p:cNvPr id="8" name="Text 6"/>
          <p:cNvSpPr/>
          <p:nvPr/>
        </p:nvSpPr>
        <p:spPr>
          <a:xfrm>
            <a:off x="4470400" y="2029464"/>
            <a:ext cx="334873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2EA"/>
                </a:solidFill>
                <a:latin typeface="IBM Plex Sans" pitchFamily="34" charset="0"/>
                <a:ea typeface="IBM Plex Sans" pitchFamily="34" charset="-122"/>
                <a:cs typeface="IBM Plex Sans" pitchFamily="34" charset="-120"/>
              </a:rPr>
              <a:t>Fit to QAIC</a:t>
            </a:r>
            <a:endParaRPr lang="en-US" sz="1700" dirty="0"/>
          </a:p>
        </p:txBody>
      </p:sp>
      <p:sp>
        <p:nvSpPr>
          <p:cNvPr id="9" name="Text 7"/>
          <p:cNvSpPr/>
          <p:nvPr/>
        </p:nvSpPr>
        <p:spPr>
          <a:xfrm>
            <a:off x="4470400" y="2415542"/>
            <a:ext cx="3348736" cy="916940"/>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Addresses UC-067; extends to UC-077</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Builds on DST-NQM proposals 03 and 04</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Compatible with the planned Amaravati IBM Quantum System Two</a:t>
            </a:r>
            <a:endParaRPr lang="en-US" sz="1300" dirty="0"/>
          </a:p>
        </p:txBody>
      </p:sp>
      <p:sp>
        <p:nvSpPr>
          <p:cNvPr id="10" name="Shape 8"/>
          <p:cNvSpPr/>
          <p:nvPr/>
        </p:nvSpPr>
        <p:spPr>
          <a:xfrm>
            <a:off x="8128000" y="1864364"/>
            <a:ext cx="3251200" cy="0"/>
          </a:xfrm>
          <a:prstGeom prst="line">
            <a:avLst/>
          </a:prstGeom>
          <a:noFill/>
          <a:ln w="25400">
            <a:solidFill>
              <a:srgbClr val="C83A2A"/>
            </a:solidFill>
            <a:prstDash val="solid"/>
          </a:ln>
        </p:spPr>
      </p:sp>
      <p:sp>
        <p:nvSpPr>
          <p:cNvPr id="11" name="Text 9"/>
          <p:cNvSpPr/>
          <p:nvPr/>
        </p:nvSpPr>
        <p:spPr>
          <a:xfrm>
            <a:off x="8128000" y="2029464"/>
            <a:ext cx="334873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2EA"/>
                </a:solidFill>
                <a:latin typeface="IBM Plex Sans" pitchFamily="34" charset="0"/>
                <a:ea typeface="IBM Plex Sans" pitchFamily="34" charset="-122"/>
                <a:cs typeface="IBM Plex Sans" pitchFamily="34" charset="-120"/>
              </a:rPr>
              <a:t>Honest limits</a:t>
            </a:r>
            <a:endParaRPr lang="en-US" sz="1700" dirty="0"/>
          </a:p>
        </p:txBody>
      </p:sp>
      <p:sp>
        <p:nvSpPr>
          <p:cNvPr id="12" name="Text 10"/>
          <p:cNvSpPr/>
          <p:nvPr/>
        </p:nvSpPr>
        <p:spPr>
          <a:xfrm>
            <a:off x="8128000" y="2415542"/>
            <a:ext cx="3348736" cy="1362710"/>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No quantum advantage claimed at this scale</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NISQ noise caps subproblems near 20 qubits</a:t>
            </a:r>
            <a:endParaRPr lang="en-US" sz="1300" dirty="0"/>
          </a:p>
          <a:p>
            <a:pPr algn="l" marL="198120" indent="-168656">
              <a:lnSpc>
                <a:spcPts val="1755"/>
              </a:lnSpc>
              <a:buSzPct val="100000"/>
              <a:buChar char="•"/>
            </a:pPr>
            <a:r>
              <a:rPr lang="en-US" sz="1300" dirty="0">
                <a:solidFill>
                  <a:srgbClr val="A9A59C"/>
                </a:solidFill>
                <a:latin typeface="IBM Plex Sans" pitchFamily="34" charset="0"/>
                <a:ea typeface="IBM Plex Sans" pitchFamily="34" charset="-122"/>
                <a:cs typeface="IBM Plex Sans" pitchFamily="34" charset="-120"/>
              </a:rPr>
              <a:t>Greedy and exact solvers stay baseline and fallback</a:t>
            </a:r>
            <a:endParaRPr lang="en-US" sz="1300" dirty="0"/>
          </a:p>
        </p:txBody>
      </p:sp>
      <p:sp>
        <p:nvSpPr>
          <p:cNvPr id="13" name="Shape 11"/>
          <p:cNvSpPr/>
          <p:nvPr/>
        </p:nvSpPr>
        <p:spPr>
          <a:xfrm>
            <a:off x="812800" y="4197350"/>
            <a:ext cx="10566400" cy="19050"/>
          </a:xfrm>
          <a:prstGeom prst="rect">
            <a:avLst/>
          </a:prstGeom>
          <a:solidFill>
            <a:srgbClr val="A9A59C"/>
          </a:solidFill>
          <a:ln/>
        </p:spPr>
      </p:sp>
      <p:sp>
        <p:nvSpPr>
          <p:cNvPr id="14" name="Shape 12"/>
          <p:cNvSpPr/>
          <p:nvPr/>
        </p:nvSpPr>
        <p:spPr>
          <a:xfrm>
            <a:off x="822325" y="4117975"/>
            <a:ext cx="171450" cy="171450"/>
          </a:xfrm>
          <a:prstGeom prst="roundRect">
            <a:avLst>
              <a:gd name="adj" fmla="val 50000"/>
            </a:avLst>
          </a:prstGeom>
          <a:solidFill>
            <a:srgbClr val="E56A1F"/>
          </a:solidFill>
          <a:ln w="19050">
            <a:solidFill>
              <a:srgbClr val="E56A1F"/>
            </a:solidFill>
            <a:prstDash val="solid"/>
          </a:ln>
        </p:spPr>
      </p:sp>
      <p:sp>
        <p:nvSpPr>
          <p:cNvPr id="15" name="Text 13"/>
          <p:cNvSpPr/>
          <p:nvPr/>
        </p:nvSpPr>
        <p:spPr>
          <a:xfrm>
            <a:off x="812800" y="4413250"/>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Done</a:t>
            </a:r>
            <a:endParaRPr lang="en-US" sz="1200" dirty="0"/>
          </a:p>
        </p:txBody>
      </p:sp>
      <p:sp>
        <p:nvSpPr>
          <p:cNvPr id="16" name="Text 14"/>
          <p:cNvSpPr/>
          <p:nvPr/>
        </p:nvSpPr>
        <p:spPr>
          <a:xfrm>
            <a:off x="812800" y="4654550"/>
            <a:ext cx="2419985"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Pipeline + benchmark vs greedy and exact</a:t>
            </a:r>
            <a:endParaRPr lang="en-US" sz="1200" dirty="0"/>
          </a:p>
        </p:txBody>
      </p:sp>
      <p:sp>
        <p:nvSpPr>
          <p:cNvPr id="17" name="Shape 15"/>
          <p:cNvSpPr/>
          <p:nvPr/>
        </p:nvSpPr>
        <p:spPr>
          <a:xfrm>
            <a:off x="3514725" y="4117975"/>
            <a:ext cx="171450" cy="171450"/>
          </a:xfrm>
          <a:prstGeom prst="roundRect">
            <a:avLst>
              <a:gd name="adj" fmla="val 50000"/>
            </a:avLst>
          </a:prstGeom>
          <a:solidFill>
            <a:srgbClr val="E56A1F"/>
          </a:solidFill>
          <a:ln w="19050">
            <a:solidFill>
              <a:srgbClr val="E56A1F"/>
            </a:solidFill>
            <a:prstDash val="solid"/>
          </a:ln>
        </p:spPr>
      </p:sp>
      <p:sp>
        <p:nvSpPr>
          <p:cNvPr id="18" name="Text 16"/>
          <p:cNvSpPr/>
          <p:nvPr/>
        </p:nvSpPr>
        <p:spPr>
          <a:xfrm>
            <a:off x="3505200" y="4413250"/>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Now</a:t>
            </a:r>
            <a:endParaRPr lang="en-US" sz="1200" dirty="0"/>
          </a:p>
        </p:txBody>
      </p:sp>
      <p:sp>
        <p:nvSpPr>
          <p:cNvPr id="19" name="Text 17"/>
          <p:cNvSpPr/>
          <p:nvPr/>
        </p:nvSpPr>
        <p:spPr>
          <a:xfrm>
            <a:off x="3505200" y="4654550"/>
            <a:ext cx="2419985"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Same circuits on IBM Heron via Qiskit Runtime</a:t>
            </a:r>
            <a:endParaRPr lang="en-US" sz="1200" dirty="0"/>
          </a:p>
        </p:txBody>
      </p:sp>
      <p:sp>
        <p:nvSpPr>
          <p:cNvPr id="20" name="Shape 18"/>
          <p:cNvSpPr/>
          <p:nvPr/>
        </p:nvSpPr>
        <p:spPr>
          <a:xfrm>
            <a:off x="6207125" y="4117975"/>
            <a:ext cx="171450" cy="171450"/>
          </a:xfrm>
          <a:prstGeom prst="roundRect">
            <a:avLst>
              <a:gd name="adj" fmla="val 50000"/>
            </a:avLst>
          </a:prstGeom>
          <a:solidFill>
            <a:srgbClr val="1C1B19"/>
          </a:solidFill>
          <a:ln w="19050">
            <a:solidFill>
              <a:srgbClr val="A9A59C"/>
            </a:solidFill>
            <a:prstDash val="solid"/>
          </a:ln>
        </p:spPr>
      </p:sp>
      <p:sp>
        <p:nvSpPr>
          <p:cNvPr id="21" name="Text 19"/>
          <p:cNvSpPr/>
          <p:nvPr/>
        </p:nvSpPr>
        <p:spPr>
          <a:xfrm>
            <a:off x="6197600" y="4413250"/>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Next</a:t>
            </a:r>
            <a:endParaRPr lang="en-US" sz="1200" dirty="0"/>
          </a:p>
        </p:txBody>
      </p:sp>
      <p:sp>
        <p:nvSpPr>
          <p:cNvPr id="22" name="Text 20"/>
          <p:cNvSpPr/>
          <p:nvPr/>
        </p:nvSpPr>
        <p:spPr>
          <a:xfrm>
            <a:off x="6197600" y="4654550"/>
            <a:ext cx="2419985"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Train XGBoost on Sentinel-1 flood extents</a:t>
            </a:r>
            <a:endParaRPr lang="en-US" sz="1200" dirty="0"/>
          </a:p>
        </p:txBody>
      </p:sp>
      <p:sp>
        <p:nvSpPr>
          <p:cNvPr id="23" name="Shape 21"/>
          <p:cNvSpPr/>
          <p:nvPr/>
        </p:nvSpPr>
        <p:spPr>
          <a:xfrm>
            <a:off x="8899525" y="4117975"/>
            <a:ext cx="171450" cy="171450"/>
          </a:xfrm>
          <a:prstGeom prst="roundRect">
            <a:avLst>
              <a:gd name="adj" fmla="val 50000"/>
            </a:avLst>
          </a:prstGeom>
          <a:solidFill>
            <a:srgbClr val="1C1B19"/>
          </a:solidFill>
          <a:ln w="19050">
            <a:solidFill>
              <a:srgbClr val="A9A59C"/>
            </a:solidFill>
            <a:prstDash val="solid"/>
          </a:ln>
        </p:spPr>
      </p:sp>
      <p:sp>
        <p:nvSpPr>
          <p:cNvPr id="24" name="Text 22"/>
          <p:cNvSpPr/>
          <p:nvPr/>
        </p:nvSpPr>
        <p:spPr>
          <a:xfrm>
            <a:off x="8890000" y="4413250"/>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Proposed</a:t>
            </a:r>
            <a:endParaRPr lang="en-US" sz="1200" dirty="0"/>
          </a:p>
        </p:txBody>
      </p:sp>
      <p:sp>
        <p:nvSpPr>
          <p:cNvPr id="25" name="Text 23"/>
          <p:cNvSpPr/>
          <p:nvPr/>
        </p:nvSpPr>
        <p:spPr>
          <a:xfrm>
            <a:off x="8890000" y="4654550"/>
            <a:ext cx="241998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APSDMA pilot; cyclones (UC-077)</a:t>
            </a:r>
            <a:endParaRPr lang="en-US" sz="1200" dirty="0"/>
          </a:p>
        </p:txBody>
      </p:sp>
      <p:sp>
        <p:nvSpPr>
          <p:cNvPr id="26" name="Text 24"/>
          <p:cNvSpPr/>
          <p:nvPr/>
        </p:nvSpPr>
        <p:spPr>
          <a:xfrm>
            <a:off x="812800" y="54419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Sans" pitchFamily="34" charset="0"/>
                <a:ea typeface="IBM Plex Sans" pitchFamily="34" charset="-122"/>
                <a:cs typeface="IBM Plex Sans" pitchFamily="34" charset="-120"/>
              </a:rPr>
              <a:t>Buyer: state disaster authorities; ₹2.29 lakh crore in disaster funds for 2021–26 (15th Finance Commission, PIB).</a:t>
            </a:r>
            <a:endParaRPr lang="en-US" sz="1200" dirty="0"/>
          </a:p>
        </p:txBody>
      </p:sp>
      <p:sp>
        <p:nvSpPr>
          <p:cNvPr id="27" name="Text 25"/>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8" name="Text 26"/>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812800" y="8128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14 · Summary</a:t>
            </a:r>
            <a:endParaRPr lang="en-US" sz="1200" dirty="0"/>
          </a:p>
        </p:txBody>
      </p:sp>
      <p:sp>
        <p:nvSpPr>
          <p:cNvPr id="3" name="Text 1"/>
          <p:cNvSpPr/>
          <p:nvPr/>
        </p:nvSpPr>
        <p:spPr>
          <a:xfrm>
            <a:off x="812800" y="1254764"/>
            <a:ext cx="4578350" cy="1341993"/>
          </a:xfrm>
          <a:prstGeom prst="rect">
            <a:avLst/>
          </a:prstGeom>
          <a:noFill/>
          <a:ln/>
        </p:spPr>
        <p:txBody>
          <a:bodyPr wrap="square" lIns="0" tIns="0" rIns="0" bIns="0" rtlCol="0" anchor="t">
            <a:normAutofit/>
          </a:bodyPr>
          <a:lstStyle/>
          <a:p>
            <a:pPr algn="l" indent="0" marL="0">
              <a:lnSpc>
                <a:spcPts val="3456"/>
              </a:lnSpc>
              <a:buNone/>
            </a:pPr>
            <a:r>
              <a:rPr lang="en-US" sz="3200" b="1" spc="-75" kern="0" dirty="0">
                <a:solidFill>
                  <a:srgbClr val="F5F2EA"/>
                </a:solidFill>
                <a:latin typeface="IBM Plex Sans" pitchFamily="34" charset="0"/>
                <a:ea typeface="IBM Plex Sans" pitchFamily="34" charset="-122"/>
                <a:cs typeface="IBM Plex Sans" pitchFamily="34" charset="-120"/>
              </a:rPr>
              <a:t>Forecasts say where the water goes. We decide where help goes.</a:t>
            </a:r>
            <a:endParaRPr lang="en-US" sz="3200" dirty="0"/>
          </a:p>
        </p:txBody>
      </p:sp>
      <p:sp>
        <p:nvSpPr>
          <p:cNvPr id="4" name="Text 2"/>
          <p:cNvSpPr/>
          <p:nvPr/>
        </p:nvSpPr>
        <p:spPr>
          <a:xfrm>
            <a:off x="812800" y="2799953"/>
            <a:ext cx="4578350" cy="1225550"/>
          </a:xfrm>
          <a:prstGeom prst="rect">
            <a:avLst/>
          </a:prstGeom>
          <a:noFill/>
          <a:ln/>
        </p:spPr>
        <p:txBody>
          <a:bodyPr wrap="square" lIns="0" tIns="0" rIns="0" bIns="0" rtlCol="0" anchor="t">
            <a:normAutofit/>
          </a:bodyPr>
          <a:lstStyle/>
          <a:p>
            <a:pPr algn="l" marL="213360" indent="-175768">
              <a:lnSpc>
                <a:spcPts val="1890"/>
              </a:lnSpc>
              <a:buSzPct val="100000"/>
              <a:buChar char="•"/>
            </a:pPr>
            <a:r>
              <a:rPr lang="en-US" sz="1400" dirty="0">
                <a:solidFill>
                  <a:srgbClr val="A9A59C"/>
                </a:solidFill>
                <a:latin typeface="IBM Plex Sans" pitchFamily="34" charset="0"/>
                <a:ea typeface="IBM Plex Sans" pitchFamily="34" charset="-122"/>
                <a:cs typeface="IBM Plex Sans" pitchFamily="34" charset="-120"/>
              </a:rPr>
              <a:t>ML risk → QUBO → QAOA → plan, re-solved as the flood moves</a:t>
            </a:r>
            <a:endParaRPr lang="en-US" sz="1400" dirty="0"/>
          </a:p>
          <a:p>
            <a:pPr algn="l" marL="213360" indent="-175768">
              <a:lnSpc>
                <a:spcPts val="1890"/>
              </a:lnSpc>
              <a:buSzPct val="100000"/>
              <a:buChar char="•"/>
            </a:pPr>
            <a:r>
              <a:rPr lang="en-US" sz="1400" dirty="0">
                <a:solidFill>
                  <a:srgbClr val="A9A59C"/>
                </a:solidFill>
                <a:latin typeface="IBM Plex Sans" pitchFamily="34" charset="0"/>
                <a:ea typeface="IBM Plex Sans" pitchFamily="34" charset="-122"/>
                <a:cs typeface="IBM Plex Sans" pitchFamily="34" charset="-120"/>
              </a:rPr>
              <a:t>Benchmarked against greedy and exact baselines</a:t>
            </a:r>
            <a:endParaRPr lang="en-US" sz="1400" dirty="0"/>
          </a:p>
          <a:p>
            <a:pPr algn="l" marL="213360" indent="-175768">
              <a:lnSpc>
                <a:spcPts val="1890"/>
              </a:lnSpc>
              <a:buSzPct val="100000"/>
              <a:buChar char="•"/>
            </a:pPr>
            <a:r>
              <a:rPr lang="en-US" sz="1400" dirty="0">
                <a:solidFill>
                  <a:srgbClr val="A9A59C"/>
                </a:solidFill>
                <a:latin typeface="IBM Plex Sans" pitchFamily="34" charset="0"/>
                <a:ea typeface="IBM Plex Sans" pitchFamily="34" charset="-122"/>
                <a:cs typeface="IBM Plex Sans" pitchFamily="34" charset="-120"/>
              </a:rPr>
              <a:t>Portable to larger local QPU capacity as it becomes available</a:t>
            </a:r>
            <a:endParaRPr lang="en-US" sz="1400" dirty="0"/>
          </a:p>
        </p:txBody>
      </p:sp>
      <p:sp>
        <p:nvSpPr>
          <p:cNvPr id="5" name="Shape 3"/>
          <p:cNvSpPr/>
          <p:nvPr/>
        </p:nvSpPr>
        <p:spPr>
          <a:xfrm>
            <a:off x="812800" y="4235053"/>
            <a:ext cx="4445000" cy="0"/>
          </a:xfrm>
          <a:prstGeom prst="line">
            <a:avLst/>
          </a:prstGeom>
          <a:noFill/>
          <a:ln w="12700">
            <a:solidFill>
              <a:srgbClr val="3A3834"/>
            </a:solidFill>
            <a:prstDash val="solid"/>
          </a:ln>
        </p:spPr>
      </p:sp>
      <p:sp>
        <p:nvSpPr>
          <p:cNvPr id="6" name="Text 4"/>
          <p:cNvSpPr/>
          <p:nvPr/>
        </p:nvSpPr>
        <p:spPr>
          <a:xfrm>
            <a:off x="812800" y="4391267"/>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Demo video:</a:t>
            </a:r>
            <a:endParaRPr lang="en-US" sz="1200" dirty="0"/>
          </a:p>
        </p:txBody>
      </p:sp>
      <p:sp>
        <p:nvSpPr>
          <p:cNvPr id="7" name="Text 5"/>
          <p:cNvSpPr/>
          <p:nvPr/>
        </p:nvSpPr>
        <p:spPr>
          <a:xfrm>
            <a:off x="812800" y="4655424"/>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Demo link:</a:t>
            </a:r>
            <a:endParaRPr lang="en-US" sz="1200" dirty="0"/>
          </a:p>
        </p:txBody>
      </p:sp>
      <p:sp>
        <p:nvSpPr>
          <p:cNvPr id="8" name="Text 6"/>
          <p:cNvSpPr/>
          <p:nvPr/>
        </p:nvSpPr>
        <p:spPr>
          <a:xfrm>
            <a:off x="812800" y="4919582"/>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Code: github.com/officialayush23/QuantumHack</a:t>
            </a:r>
            <a:endParaRPr lang="en-US" sz="1200" dirty="0"/>
          </a:p>
        </p:txBody>
      </p:sp>
      <p:sp>
        <p:nvSpPr>
          <p:cNvPr id="9" name="Text 7"/>
          <p:cNvSpPr/>
          <p:nvPr/>
        </p:nvSpPr>
        <p:spPr>
          <a:xfrm>
            <a:off x="812800" y="5183746"/>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Kala Dhua · officialayushp123@gmail.com</a:t>
            </a:r>
            <a:endParaRPr lang="en-US" sz="1200" dirty="0"/>
          </a:p>
        </p:txBody>
      </p:sp>
      <p:sp>
        <p:nvSpPr>
          <p:cNvPr id="10" name="Text 8"/>
          <p:cNvSpPr/>
          <p:nvPr/>
        </p:nvSpPr>
        <p:spPr>
          <a:xfrm>
            <a:off x="5867400" y="812800"/>
            <a:ext cx="56771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2EA"/>
                </a:solidFill>
                <a:latin typeface="IBM Plex Mono" pitchFamily="34" charset="0"/>
                <a:ea typeface="IBM Plex Mono" pitchFamily="34" charset="-122"/>
                <a:cs typeface="IBM Plex Mono" pitchFamily="34" charset="-120"/>
              </a:rPr>
              <a:t>References</a:t>
            </a:r>
            <a:endParaRPr lang="en-US" sz="1200" dirty="0"/>
          </a:p>
        </p:txBody>
      </p:sp>
      <p:sp>
        <p:nvSpPr>
          <p:cNvPr id="11" name="Text 9"/>
          <p:cNvSpPr/>
          <p:nvPr/>
        </p:nvSpPr>
        <p:spPr>
          <a:xfrm>
            <a:off x="5867400" y="1089664"/>
            <a:ext cx="56771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Methods</a:t>
            </a:r>
            <a:endParaRPr lang="en-US" sz="1200" dirty="0"/>
          </a:p>
        </p:txBody>
      </p:sp>
      <p:sp>
        <p:nvSpPr>
          <p:cNvPr id="12" name="Text 10"/>
          <p:cNvSpPr/>
          <p:nvPr/>
        </p:nvSpPr>
        <p:spPr>
          <a:xfrm>
            <a:off x="5867400" y="1366521"/>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 Farhi, Goldstone, Gutmann (2014). QAOA. arXiv:1411.4028</a:t>
            </a:r>
            <a:endParaRPr lang="en-US" sz="1200" dirty="0"/>
          </a:p>
        </p:txBody>
      </p:sp>
      <p:sp>
        <p:nvSpPr>
          <p:cNvPr id="13" name="Text 11"/>
          <p:cNvSpPr/>
          <p:nvPr/>
        </p:nvSpPr>
        <p:spPr>
          <a:xfrm>
            <a:off x="5867400" y="1628142"/>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2. Lucas (2014). Ising formulations of NP problems. Front. Phys. 2:5</a:t>
            </a:r>
            <a:endParaRPr lang="en-US" sz="1200" dirty="0"/>
          </a:p>
        </p:txBody>
      </p:sp>
      <p:sp>
        <p:nvSpPr>
          <p:cNvPr id="14" name="Text 12"/>
          <p:cNvSpPr/>
          <p:nvPr/>
        </p:nvSpPr>
        <p:spPr>
          <a:xfrm>
            <a:off x="5867400" y="1889764"/>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3. Barkoutsos et al. (2020). CVaR variational optimization. Quantum 4:256</a:t>
            </a:r>
            <a:endParaRPr lang="en-US" sz="1200" dirty="0"/>
          </a:p>
        </p:txBody>
      </p:sp>
      <p:sp>
        <p:nvSpPr>
          <p:cNvPr id="15" name="Text 13"/>
          <p:cNvSpPr/>
          <p:nvPr/>
        </p:nvSpPr>
        <p:spPr>
          <a:xfrm>
            <a:off x="5867400" y="2151379"/>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4. Egger, Mareček, Woerner (2021). Warm-starting QAOA. Quantum 5:479</a:t>
            </a:r>
            <a:endParaRPr lang="en-US" sz="1200" dirty="0"/>
          </a:p>
        </p:txBody>
      </p:sp>
      <p:sp>
        <p:nvSpPr>
          <p:cNvPr id="16" name="Text 14"/>
          <p:cNvSpPr/>
          <p:nvPr/>
        </p:nvSpPr>
        <p:spPr>
          <a:xfrm>
            <a:off x="5867400" y="2413000"/>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5. QAOA benchmarks on IBM Heron (2026). arXiv:2607.11637</a:t>
            </a:r>
            <a:endParaRPr lang="en-US" sz="1200" dirty="0"/>
          </a:p>
        </p:txBody>
      </p:sp>
      <p:sp>
        <p:nvSpPr>
          <p:cNvPr id="17" name="Text 15"/>
          <p:cNvSpPr/>
          <p:nvPr/>
        </p:nvSpPr>
        <p:spPr>
          <a:xfrm>
            <a:off x="5867400" y="2674621"/>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6. Nearing et al. (2024). Global flood prediction. Nature 627:559</a:t>
            </a:r>
            <a:endParaRPr lang="en-US" sz="1200" dirty="0"/>
          </a:p>
        </p:txBody>
      </p:sp>
      <p:sp>
        <p:nvSpPr>
          <p:cNvPr id="18" name="Text 16"/>
          <p:cNvSpPr/>
          <p:nvPr/>
        </p:nvSpPr>
        <p:spPr>
          <a:xfrm>
            <a:off x="5867400" y="2936242"/>
            <a:ext cx="56771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Platform and programme</a:t>
            </a:r>
            <a:endParaRPr lang="en-US" sz="1200" dirty="0"/>
          </a:p>
        </p:txBody>
      </p:sp>
      <p:sp>
        <p:nvSpPr>
          <p:cNvPr id="19" name="Text 17"/>
          <p:cNvSpPr/>
          <p:nvPr/>
        </p:nvSpPr>
        <p:spPr>
          <a:xfrm>
            <a:off x="5867400" y="3213100"/>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7. IBM Quantum docs: Heron, Qiskit Runtime, Open Plan</a:t>
            </a:r>
            <a:endParaRPr lang="en-US" sz="1200" dirty="0"/>
          </a:p>
        </p:txBody>
      </p:sp>
      <p:sp>
        <p:nvSpPr>
          <p:cNvPr id="20" name="Text 18"/>
          <p:cNvSpPr/>
          <p:nvPr/>
        </p:nvSpPr>
        <p:spPr>
          <a:xfrm>
            <a:off x="5867400" y="3474721"/>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8. IBM Newsroom (2 May 2025): Amaravati Quantum Valley</a:t>
            </a:r>
            <a:endParaRPr lang="en-US" sz="1200" dirty="0"/>
          </a:p>
        </p:txBody>
      </p:sp>
      <p:sp>
        <p:nvSpPr>
          <p:cNvPr id="21" name="Text 19"/>
          <p:cNvSpPr/>
          <p:nvPr/>
        </p:nvSpPr>
        <p:spPr>
          <a:xfrm>
            <a:off x="5867400" y="3736342"/>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9. NQCC SparQ (2025): Mind Foundry sensor-network PoC</a:t>
            </a:r>
            <a:endParaRPr lang="en-US" sz="1200" dirty="0"/>
          </a:p>
        </p:txBody>
      </p:sp>
      <p:sp>
        <p:nvSpPr>
          <p:cNvPr id="22" name="Text 20"/>
          <p:cNvSpPr/>
          <p:nvPr/>
        </p:nvSpPr>
        <p:spPr>
          <a:xfrm>
            <a:off x="5867400" y="3997964"/>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10. QAIC (2026): 100 Quantum Use Cases, UC-067, UC-077</a:t>
            </a:r>
            <a:endParaRPr lang="en-US" sz="1200" dirty="0"/>
          </a:p>
        </p:txBody>
      </p:sp>
      <p:sp>
        <p:nvSpPr>
          <p:cNvPr id="23" name="Text 21"/>
          <p:cNvSpPr/>
          <p:nvPr/>
        </p:nvSpPr>
        <p:spPr>
          <a:xfrm>
            <a:off x="5867400" y="4259579"/>
            <a:ext cx="56771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56A1F"/>
                </a:solidFill>
                <a:latin typeface="IBM Plex Mono" pitchFamily="34" charset="0"/>
                <a:ea typeface="IBM Plex Mono" pitchFamily="34" charset="-122"/>
                <a:cs typeface="IBM Plex Mono" pitchFamily="34" charset="-120"/>
              </a:rPr>
              <a:t>Problem data</a:t>
            </a:r>
            <a:endParaRPr lang="en-US" sz="1200" dirty="0"/>
          </a:p>
        </p:txBody>
      </p:sp>
      <p:sp>
        <p:nvSpPr>
          <p:cNvPr id="24" name="Text 22"/>
          <p:cNvSpPr/>
          <p:nvPr/>
        </p:nvSpPr>
        <p:spPr>
          <a:xfrm>
            <a:off x="5867400" y="4536442"/>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11. PIB / MHA: 15th Finance Commission disaster funds</a:t>
            </a:r>
            <a:endParaRPr lang="en-US" sz="1200" dirty="0"/>
          </a:p>
        </p:txBody>
      </p:sp>
      <p:sp>
        <p:nvSpPr>
          <p:cNvPr id="25" name="Text 23"/>
          <p:cNvSpPr/>
          <p:nvPr/>
        </p:nvSpPr>
        <p:spPr>
          <a:xfrm>
            <a:off x="5867400" y="4798064"/>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12. All India Radio (Oct 2025): Cyclone Montha</a:t>
            </a:r>
            <a:endParaRPr lang="en-US" sz="1200" dirty="0"/>
          </a:p>
        </p:txBody>
      </p:sp>
      <p:sp>
        <p:nvSpPr>
          <p:cNvPr id="26" name="Text 24"/>
          <p:cNvSpPr/>
          <p:nvPr/>
        </p:nvSpPr>
        <p:spPr>
          <a:xfrm>
            <a:off x="5867400" y="5059679"/>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13. Deccan Herald: Montha loss ₹6,384 cr, 24 districts</a:t>
            </a:r>
            <a:endParaRPr lang="en-US" sz="1200" dirty="0"/>
          </a:p>
        </p:txBody>
      </p:sp>
      <p:sp>
        <p:nvSpPr>
          <p:cNvPr id="27" name="Text 25"/>
          <p:cNvSpPr/>
          <p:nvPr/>
        </p:nvSpPr>
        <p:spPr>
          <a:xfrm>
            <a:off x="5867400" y="5321300"/>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14. National Herald (Sept 2024): Vijayawada state figures</a:t>
            </a:r>
            <a:endParaRPr lang="en-US" sz="1200" dirty="0"/>
          </a:p>
        </p:txBody>
      </p:sp>
      <p:sp>
        <p:nvSpPr>
          <p:cNvPr id="28" name="Text 26"/>
          <p:cNvSpPr/>
          <p:nvPr/>
        </p:nvSpPr>
        <p:spPr>
          <a:xfrm>
            <a:off x="5867400" y="5582921"/>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59C"/>
                </a:solidFill>
                <a:latin typeface="IBM Plex Sans" pitchFamily="34" charset="0"/>
                <a:ea typeface="IBM Plex Sans" pitchFamily="34" charset="-122"/>
                <a:cs typeface="IBM Plex Sans" pitchFamily="34" charset="-120"/>
              </a:rPr>
              <a:t>15. The South First: Budameru inflow vs canal capacity</a:t>
            </a:r>
            <a:endParaRPr lang="en-US" sz="1200" dirty="0"/>
          </a:p>
        </p:txBody>
      </p:sp>
      <p:sp>
        <p:nvSpPr>
          <p:cNvPr id="29" name="Text 27"/>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30" name="Text 28"/>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59C"/>
                </a:solidFill>
                <a:latin typeface="IBM Plex Mono" pitchFamily="34" charset="0"/>
                <a:ea typeface="IBM Plex Mono" pitchFamily="34" charset="-122"/>
                <a:cs typeface="IBM Plex Mono" pitchFamily="34" charset="-120"/>
              </a:rPr>
              <a:t>15 /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Quantum-Assisted Disaster Response Optimization</dc:title>
  <dc:subject>PptxGenJS Presentation</dc:subject>
  <dc:creator>PptxGenJS</dc:creator>
  <cp:lastModifiedBy>PptxGenJS</cp:lastModifiedBy>
  <cp:revision>1</cp:revision>
  <dcterms:created xsi:type="dcterms:W3CDTF">2026-09-23T20:18:47Z</dcterms:created>
  <dcterms:modified xsi:type="dcterms:W3CDTF">2026-09-23T20:18:47Z</dcterms:modified>
</cp:coreProperties>
</file>