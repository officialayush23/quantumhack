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5377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map. This is the Krishna river at Vijayawada, the same place that flooded in September 2024. The coloured cells are flood risk from our ML model; the orange circles are where our QAOA run on IBM Quantum hardware decided to place sensors and relief units. One sentence pitch: classical ML tells us where the risk is, a quantum optimiser decides where help goes, and the loop re-runs whenever conditions change. We address UC-067 (flood forecasting and disaster-response sensor placement) and UC-077 (disaster-management resource optimisation) from the QAIC compendium.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events, fourteen months apart, same coast. September 2024: 29 cm of rain in a day around Vijayawada; the Budameru rivulet peaked near 990 cubic metres per second against a diversion canal built for 200. About 6.4 lakh people were affected, 35 died in NTR district, 190 relief camps opened. October 2025: Cyclone Montha made landfall near Narasapuram; the state revised its loss to 6,384 crore rupees, 87,000 hectares of crops damaged, 38,000 people evacuated. Sources: Wikipedia summaries of state situation reports; Outlook India / Deccan Herald for the Montha estimate. The point: forecasts existed. The bottleneck is deciding, fast, where sensors, teams and supplies go.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is a subset-selection problem. With 60 candidate sites and 10 teams there are about 75 billion possible plans, and every extra site multiplies that. Sites interact: two sensors side by side waste coverage, so you cannot score them one at a time. And the input changes during the event. This is exactly the structure a QUBO captures: one binary decision per site, pairwise interaction terms for overlap. That is why we chose quantum optimisation for this stage and not for the forecasting stage. Numbers are exact binomial coefficients C(n,10).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sizing, all third-party figures. Incident and emergency management: 137.45 billion dollars in 2024 to 196.2 billion by 2030 (MarketsandMarkets, 6.1 percent CAGR). Flood warning systems alone: 1.67 billion in 2025 to 3.27 billion in 2035 (Market Research Future, 6.9 percent). In India the buyer is government: the 15th Finance Commission allocated about 2.29 lakh crore rupees across state and national disaster response and mitigation funds for 2021-26, versus 61,220 crore in the previous cycle. On the quantum side, McKinsey's 2026 monitor puts quantum computing revenue above 1 billion dollars in 2025 and 43 to 71 billion by 2035. And the cost of doing nothing: 7.6 billion dollars of flood and storm losses in India in 2021 (WMO). Our entry point is the state disaster management authority, which already holds the budget line.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sit. Forecasting is crowded and good: Google Flood Hub gives 7-day riverine forecasts to about 460 million people; CWC and IMD run India's official forecasts. None of them decide where to put sensors, teams or supplies; that is done by hand in control rooms or, at best, with a classical MILP solver re-run manually. The closest prior art is the UK National Quantum Computing Centre's 2025 SparQ project with Mind Foundry on quantum optimisation for in-field sensor networks in disaster response, so the problem framing is credible to the quantum community. Our difference: the forecast feeds the optimiser automatically and the optimiser re-runs on quantum hardware whenever the forecast changes.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system on one line. 01: we build a gridded map of the region from IMD rainfall, SRTM elevation and OpenStreetMap roads and settlements. 02: a gradient-boosted classifier turns that into a risk score per cell. 03: we convert the placement decision into a QUBO. 04: Qiskit builds the QAOA circuit. 05: the circuit runs on an IBM Heron QPU through Qiskit Runtime. 06: the best bitstring decodes into a placement on the map. 07: when inputs cross a threshold, the loop re-runs from the risk model. The dashed orange box marks the three quantum stages; everything else is classical, on purpose.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is deliberately classical. Gradient-boosted trees are strong on tabular geospatial data and quick to retrain; there is no reason to use a quantum model here. Inputs: IMD gridded rainfall, SRTM elevation, distance to river, land use. Labels: flood extents mapped from Sentinel-1 radar for past events including the September 2024 flood. We validate with spatial cross-validation so the model is not just memorising neighbouring cells. The output that matters downstream is a weight per candidate site: expected risk-weighted population that site would cover. The map shows the risk layer the optimiser sees. [Replace this map with your trained model output before submission.]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two. Each candidate site gets a binary variable, which becomes one qubit. The objective rewards covering risk-weighted population, penalises overlap between two chosen sites, and a quadratic penalty enforces exactly k units. Substituting x = (1 - z)/2 gives an Ising Hamiltonian, which is what QAOA optimises. The heat map is a real 10-site QUBO from our pipeline: the orange diagonal is reward, grey off-diagonals are overlap plus the cardinality penalty. We tune lambda so every low-energy state respects k, and verify small instances against an exact classical solver before sending anything to hardware.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three. Start in an equal superposition of every placement. The cost layer applies phase rotations from the QUBO: two-qubit ZZ rotations for overlaps, single-qubit Z rotations for the site rewards. The mixer layer applies X rotations so amplitude can flow between placements. We repeat that p times, with p equal to 1 or 2 because deeper circuits drown in noise on today's hardware. We measure, compute the conditional value-at-risk of the sampled energies, which focuses on the best samples rather than the mean, and a classical optimiser, COBYLA, picks new angles. The key design choice for our adaptive system: when conditions change we warm-start from the previous angles, so re-optimisation needs far fewer QPU iterations.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quantum stage actually runs. Qiskit converts the QUBO to an Ising operator. We decompose the region into subproblems of at most about 20 qubits, because a July 2026 benchmark on IBM Heron found naive QAOA on larger problems transpiling to over 20,000 two-qubit gates and results indistinguishable from random. Each subproblem is transpiled to an ISA circuit with a noise-aware layout on the heavy-hex lattice, then submitted with Qiskit Runtime's Sampler V2 in batch mode, which works on the free Open Plan. We turn on dynamical decoupling and Pauli twirling, and aggregate with CVaR. Heron r2 is the 156-qubit processor class IBM is commissioning at Amaravati, targeted for September 2026, so the same code runs on sovereign hardware.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it a system, not a one-off solve. At T0 the forecast gives a baseline and we place six units. Six hours later the Budameru catchment surges, the risk layer shifts north, and the optimiser moves units toward it. By T plus 12 hours the water is in the delta and the plan follows. Three mechanisms keep this fast and cheap on QPU time: an event trigger so we only re-run when inputs actually change; local re-solving so only the affected subregions go back to the hardware; and warm-starting QAOA from the previous angles. The three maps are the same pipeline run on three risk states; in the demo video this is a live replay. [Replace with your recorded replay frames.]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and after on the same map and the same six units. Left: a uniform spacing, which is roughly what a static plan drawn in advance looks like; several units sit on low-risk ground. Right: the placement decoded from our QAOA run on IBM hardware, concentrated on Vijayawada, Budameru and the delta. Report three numbers here from your own runs: share of high-risk population covered for each, the approximation ratio of the hardware result against the exact classical optimum, and the share of hardware shots that were feasible, meaning exactly k units. [Fill the bracketed values from your benchmark notebook; do not estimate them.] Also show the classical baselines, greedy and exact MILP, in the video; judges will ask.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the video walks through. Left: live risk map with current placement. Right: the QPU job for this update: backend name, number of subproblems, shots, QPU seconds and status. The four steps along the bottom are the video script: load an event, score risk, solve on the QPU, then inject a change and show the re-plan. Record the IBM Quantum Platform job page alongside so judges see the job IDs are real. [Fill backend, subproblem count, shots and QPU time from your actual run.]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leave with. What is new: the closed loop, not any single component; ML risk automatically becomes a QUBO, the QUBO re-solves on quantum hardware whenever inputs change, and subproblem size is chosen from measured hardware fidelity. Fit: this is UC-067 directly and extends to UC-077; it builds on DST-NQM proposal 03 (quantum optimisation for mobility and logistics, IIT Hyderabad and IISER Tirupati) and 04 (QUEST climate modelling, with Andhra University), and it targets the IBM System Two being commissioned at Amaravati. Limits, stated plainly: we do not claim quantum advantage at 20 qubits; a classical MILP solves these instances today and remains our baseline and fallback. The value is a pipeline that is ready to scale as hardware improves. Roadmap dates after 'now' are proposals.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 idea: forecasts tell you where the water goes; our system decides where help goes, on quantum hardware, and keeps deciding as the situation changes. Point to the demo video and repository. Sources for every figure in the deck are listed on the right.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officialayush23/QuantumHack"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1432560"/>
            <a:ext cx="54940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4A12"/>
                </a:solidFill>
                <a:latin typeface="IBM Plex Mono" pitchFamily="34" charset="0"/>
                <a:ea typeface="IBM Plex Mono" pitchFamily="34" charset="-122"/>
                <a:cs typeface="IBM Plex Mono" pitchFamily="34" charset="-120"/>
              </a:rPr>
              <a:t>QAIC use cases UC-067 · UC-077</a:t>
            </a:r>
            <a:endParaRPr lang="en-US" sz="1200" dirty="0"/>
          </a:p>
        </p:txBody>
      </p:sp>
      <p:sp>
        <p:nvSpPr>
          <p:cNvPr id="3" name="Text 1"/>
          <p:cNvSpPr/>
          <p:nvPr/>
        </p:nvSpPr>
        <p:spPr>
          <a:xfrm>
            <a:off x="812800" y="1874520"/>
            <a:ext cx="5494020" cy="1625600"/>
          </a:xfrm>
          <a:prstGeom prst="rect">
            <a:avLst/>
          </a:prstGeom>
          <a:noFill/>
          <a:ln/>
        </p:spPr>
        <p:txBody>
          <a:bodyPr wrap="square" lIns="0" tIns="0" rIns="0" bIns="0" rtlCol="0" anchor="t">
            <a:normAutofit/>
          </a:bodyPr>
          <a:lstStyle/>
          <a:p>
            <a:pPr marL="0" indent="0" algn="l">
              <a:lnSpc>
                <a:spcPts val="4200"/>
              </a:lnSpc>
              <a:buNone/>
            </a:pPr>
            <a:r>
              <a:rPr lang="en-US" sz="4000" b="1" kern="0" spc="-100" dirty="0">
                <a:solidFill>
                  <a:srgbClr val="171717"/>
                </a:solidFill>
                <a:latin typeface="IBM Plex Sans" pitchFamily="34" charset="0"/>
                <a:ea typeface="IBM Plex Sans" pitchFamily="34" charset="-122"/>
                <a:cs typeface="IBM Plex Sans" pitchFamily="34" charset="-120"/>
              </a:rPr>
              <a:t>Quantum-Assisted Disaster Response Optimization</a:t>
            </a:r>
            <a:endParaRPr lang="en-US" sz="4000" dirty="0"/>
          </a:p>
        </p:txBody>
      </p:sp>
      <p:sp>
        <p:nvSpPr>
          <p:cNvPr id="4" name="Text 2"/>
          <p:cNvSpPr/>
          <p:nvPr/>
        </p:nvSpPr>
        <p:spPr>
          <a:xfrm>
            <a:off x="812800" y="3703320"/>
            <a:ext cx="5494020"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A5A5A"/>
                </a:solidFill>
                <a:latin typeface="IBM Plex Sans" pitchFamily="34" charset="0"/>
                <a:ea typeface="IBM Plex Sans" pitchFamily="34" charset="-122"/>
                <a:cs typeface="IBM Plex Sans" pitchFamily="34" charset="-120"/>
              </a:rPr>
              <a:t>Classical ML scores flood risk. QAOA on IBM Quantum decides where sensors and relief go, and re-decides when conditions change.</a:t>
            </a:r>
            <a:endParaRPr lang="en-US" sz="1600" dirty="0"/>
          </a:p>
        </p:txBody>
      </p:sp>
      <p:sp>
        <p:nvSpPr>
          <p:cNvPr id="5" name="Shape 3"/>
          <p:cNvSpPr/>
          <p:nvPr/>
        </p:nvSpPr>
        <p:spPr>
          <a:xfrm>
            <a:off x="812800" y="4791710"/>
            <a:ext cx="5334000" cy="0"/>
          </a:xfrm>
          <a:prstGeom prst="line">
            <a:avLst/>
          </a:prstGeom>
          <a:noFill/>
          <a:ln w="12700">
            <a:solidFill>
              <a:srgbClr val="171717"/>
            </a:solidFill>
            <a:prstDash val="solid"/>
          </a:ln>
        </p:spPr>
      </p:sp>
      <p:sp>
        <p:nvSpPr>
          <p:cNvPr id="6" name="Text 4"/>
          <p:cNvSpPr/>
          <p:nvPr/>
        </p:nvSpPr>
        <p:spPr>
          <a:xfrm>
            <a:off x="812800" y="4947920"/>
            <a:ext cx="54940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717"/>
                </a:solidFill>
                <a:latin typeface="IBM Plex Mono" pitchFamily="34" charset="0"/>
                <a:ea typeface="IBM Plex Mono" pitchFamily="34" charset="-122"/>
                <a:cs typeface="IBM Plex Mono" pitchFamily="34" charset="-120"/>
              </a:rPr>
              <a:t>Kala Dhua · Ayush Pathak | </a:t>
            </a:r>
            <a:r>
              <a:rPr lang="en-US" sz="1200" dirty="0" err="1">
                <a:solidFill>
                  <a:srgbClr val="171717"/>
                </a:solidFill>
                <a:latin typeface="IBM Plex Mono" pitchFamily="34" charset="0"/>
                <a:ea typeface="IBM Plex Mono" pitchFamily="34" charset="-122"/>
                <a:cs typeface="IBM Plex Mono" pitchFamily="34" charset="-120"/>
              </a:rPr>
              <a:t>Shreeviraj</a:t>
            </a:r>
            <a:r>
              <a:rPr lang="en-US" sz="1200" dirty="0">
                <a:solidFill>
                  <a:srgbClr val="171717"/>
                </a:solidFill>
                <a:latin typeface="IBM Plex Mono" pitchFamily="34" charset="0"/>
                <a:ea typeface="IBM Plex Mono" pitchFamily="34" charset="-122"/>
                <a:cs typeface="IBM Plex Mono" pitchFamily="34" charset="-120"/>
              </a:rPr>
              <a:t> Matale | Tushar Singh</a:t>
            </a:r>
            <a:endParaRPr lang="en-US" sz="1200" dirty="0"/>
          </a:p>
        </p:txBody>
      </p:sp>
      <p:sp>
        <p:nvSpPr>
          <p:cNvPr id="7" name="Text 5"/>
          <p:cNvSpPr/>
          <p:nvPr/>
        </p:nvSpPr>
        <p:spPr>
          <a:xfrm>
            <a:off x="812800" y="5212080"/>
            <a:ext cx="54940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Quantique Hackathon · Amaravati Quantum Valley</a:t>
            </a:r>
            <a:endParaRPr lang="en-US" sz="1200" dirty="0"/>
          </a:p>
        </p:txBody>
      </p:sp>
      <p:pic>
        <p:nvPicPr>
          <p:cNvPr id="8" name="Image 0" descr="Map of the Krishna river near Vijayawada with flood-risk cells and six optimised sensor and relief sites"/>
          <p:cNvPicPr>
            <a:picLocks noChangeAspect="1"/>
          </p:cNvPicPr>
          <p:nvPr/>
        </p:nvPicPr>
        <p:blipFill>
          <a:blip r:embed="rId3"/>
          <a:srcRect/>
          <a:stretch/>
        </p:blipFill>
        <p:spPr>
          <a:xfrm>
            <a:off x="6553200" y="812800"/>
            <a:ext cx="4826000" cy="3619500"/>
          </a:xfrm>
          <a:prstGeom prst="rect">
            <a:avLst/>
          </a:prstGeom>
        </p:spPr>
      </p:pic>
      <p:sp>
        <p:nvSpPr>
          <p:cNvPr id="9" name="Text 6"/>
          <p:cNvSpPr/>
          <p:nvPr/>
        </p:nvSpPr>
        <p:spPr>
          <a:xfrm>
            <a:off x="8724900" y="2184400"/>
            <a:ext cx="1320800" cy="208280"/>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71717"/>
                </a:solidFill>
                <a:latin typeface="IBM Plex Sans" pitchFamily="34" charset="0"/>
                <a:ea typeface="IBM Plex Sans" pitchFamily="34" charset="-122"/>
                <a:cs typeface="IBM Plex Sans" pitchFamily="34" charset="-120"/>
              </a:rPr>
              <a:t>Vijayawada</a:t>
            </a:r>
            <a:endParaRPr lang="en-US" sz="1200" dirty="0"/>
          </a:p>
        </p:txBody>
      </p:sp>
      <p:sp>
        <p:nvSpPr>
          <p:cNvPr id="10" name="Text 7"/>
          <p:cNvSpPr/>
          <p:nvPr/>
        </p:nvSpPr>
        <p:spPr>
          <a:xfrm>
            <a:off x="6731000" y="1657350"/>
            <a:ext cx="106680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5A5A"/>
                </a:solidFill>
                <a:latin typeface="IBM Plex Sans" pitchFamily="34" charset="0"/>
                <a:ea typeface="IBM Plex Sans" pitchFamily="34" charset="-122"/>
                <a:cs typeface="IBM Plex Sans" pitchFamily="34" charset="-120"/>
              </a:rPr>
              <a:t>Krishna</a:t>
            </a:r>
            <a:endParaRPr lang="en-US" sz="1200" dirty="0"/>
          </a:p>
        </p:txBody>
      </p:sp>
      <p:sp>
        <p:nvSpPr>
          <p:cNvPr id="11" name="Text 8"/>
          <p:cNvSpPr/>
          <p:nvPr/>
        </p:nvSpPr>
        <p:spPr>
          <a:xfrm>
            <a:off x="7975600" y="920750"/>
            <a:ext cx="106680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5A5A"/>
                </a:solidFill>
                <a:latin typeface="IBM Plex Sans" pitchFamily="34" charset="0"/>
                <a:ea typeface="IBM Plex Sans" pitchFamily="34" charset="-122"/>
                <a:cs typeface="IBM Plex Sans" pitchFamily="34" charset="-120"/>
              </a:rPr>
              <a:t>Budameru</a:t>
            </a:r>
            <a:endParaRPr lang="en-US" sz="1200" dirty="0"/>
          </a:p>
        </p:txBody>
      </p:sp>
      <p:sp>
        <p:nvSpPr>
          <p:cNvPr id="12" name="Text 9"/>
          <p:cNvSpPr/>
          <p:nvPr/>
        </p:nvSpPr>
        <p:spPr>
          <a:xfrm>
            <a:off x="10229850" y="4070350"/>
            <a:ext cx="132080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5A5A"/>
                </a:solidFill>
                <a:latin typeface="IBM Plex Sans" pitchFamily="34" charset="0"/>
                <a:ea typeface="IBM Plex Sans" pitchFamily="34" charset="-122"/>
                <a:cs typeface="IBM Plex Sans" pitchFamily="34" charset="-120"/>
              </a:rPr>
              <a:t>Bay of Bengal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C1B1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56A1F"/>
                </a:solidFill>
                <a:latin typeface="IBM Plex Mono" pitchFamily="34" charset="0"/>
                <a:ea typeface="IBM Plex Mono" pitchFamily="34" charset="-122"/>
                <a:cs typeface="IBM Plex Mono" pitchFamily="34" charset="-120"/>
              </a:rPr>
              <a:t>01 · Problem</a:t>
            </a:r>
            <a:endParaRPr lang="en-US" sz="1200" dirty="0"/>
          </a:p>
        </p:txBody>
      </p:sp>
      <p:sp>
        <p:nvSpPr>
          <p:cNvPr id="3" name="Text 1"/>
          <p:cNvSpPr/>
          <p:nvPr/>
        </p:nvSpPr>
        <p:spPr>
          <a:xfrm>
            <a:off x="812800" y="112776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kern="0" spc="-50" dirty="0">
                <a:solidFill>
                  <a:srgbClr val="F5F2EA"/>
                </a:solidFill>
                <a:latin typeface="IBM Plex Sans" pitchFamily="34" charset="0"/>
                <a:ea typeface="IBM Plex Sans" pitchFamily="34" charset="-122"/>
                <a:cs typeface="IBM Plex Sans" pitchFamily="34" charset="-120"/>
              </a:rPr>
              <a:t>Coastal Andhra faced two major disasters in 14 months</a:t>
            </a:r>
            <a:endParaRPr lang="en-US" sz="3000" dirty="0"/>
          </a:p>
        </p:txBody>
      </p:sp>
      <p:sp>
        <p:nvSpPr>
          <p:cNvPr id="4" name="Text 2"/>
          <p:cNvSpPr/>
          <p:nvPr/>
        </p:nvSpPr>
        <p:spPr>
          <a:xfrm>
            <a:off x="812800" y="1851660"/>
            <a:ext cx="47091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A59C"/>
                </a:solidFill>
                <a:latin typeface="IBM Plex Mono" pitchFamily="34" charset="0"/>
                <a:ea typeface="IBM Plex Mono" pitchFamily="34" charset="-122"/>
                <a:cs typeface="IBM Plex Mono" pitchFamily="34" charset="-120"/>
              </a:rPr>
              <a:t>Vijayawada floods · Sept 2024</a:t>
            </a:r>
            <a:endParaRPr lang="en-US" sz="1200" dirty="0"/>
          </a:p>
        </p:txBody>
      </p:sp>
      <p:sp>
        <p:nvSpPr>
          <p:cNvPr id="5" name="Text 3"/>
          <p:cNvSpPr/>
          <p:nvPr/>
        </p:nvSpPr>
        <p:spPr>
          <a:xfrm>
            <a:off x="812800" y="2242820"/>
            <a:ext cx="1497092"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F5F2EA"/>
                </a:solidFill>
                <a:latin typeface="IBM Plex Sans" pitchFamily="34" charset="0"/>
                <a:ea typeface="IBM Plex Sans" pitchFamily="34" charset="-122"/>
                <a:cs typeface="IBM Plex Sans" pitchFamily="34" charset="-120"/>
              </a:rPr>
              <a:t>29 cm</a:t>
            </a:r>
            <a:endParaRPr lang="en-US" sz="4000" dirty="0"/>
          </a:p>
        </p:txBody>
      </p:sp>
      <p:sp>
        <p:nvSpPr>
          <p:cNvPr id="6" name="Text 4"/>
          <p:cNvSpPr/>
          <p:nvPr/>
        </p:nvSpPr>
        <p:spPr>
          <a:xfrm>
            <a:off x="812800" y="2776220"/>
            <a:ext cx="14970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A59C"/>
                </a:solidFill>
                <a:latin typeface="IBM Plex Sans" pitchFamily="34" charset="0"/>
                <a:ea typeface="IBM Plex Sans" pitchFamily="34" charset="-122"/>
                <a:cs typeface="IBM Plex Sans" pitchFamily="34" charset="-120"/>
              </a:rPr>
              <a:t>rain in one day</a:t>
            </a:r>
            <a:endParaRPr lang="en-US" sz="1200" dirty="0"/>
          </a:p>
        </p:txBody>
      </p:sp>
      <p:sp>
        <p:nvSpPr>
          <p:cNvPr id="7" name="Text 5"/>
          <p:cNvSpPr/>
          <p:nvPr/>
        </p:nvSpPr>
        <p:spPr>
          <a:xfrm>
            <a:off x="2614692" y="2242820"/>
            <a:ext cx="1983652"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F5F2EA"/>
                </a:solidFill>
                <a:latin typeface="IBM Plex Sans" pitchFamily="34" charset="0"/>
                <a:ea typeface="IBM Plex Sans" pitchFamily="34" charset="-122"/>
                <a:cs typeface="IBM Plex Sans" pitchFamily="34" charset="-120"/>
              </a:rPr>
              <a:t>6.4 lakh</a:t>
            </a:r>
            <a:endParaRPr lang="en-US" sz="4000" dirty="0"/>
          </a:p>
        </p:txBody>
      </p:sp>
      <p:sp>
        <p:nvSpPr>
          <p:cNvPr id="8" name="Text 6"/>
          <p:cNvSpPr/>
          <p:nvPr/>
        </p:nvSpPr>
        <p:spPr>
          <a:xfrm>
            <a:off x="2614692" y="2776220"/>
            <a:ext cx="198365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A59C"/>
                </a:solidFill>
                <a:latin typeface="IBM Plex Sans" pitchFamily="34" charset="0"/>
                <a:ea typeface="IBM Plex Sans" pitchFamily="34" charset="-122"/>
                <a:cs typeface="IBM Plex Sans" pitchFamily="34" charset="-120"/>
              </a:rPr>
              <a:t>people affected</a:t>
            </a:r>
            <a:endParaRPr lang="en-US" sz="1200" dirty="0"/>
          </a:p>
        </p:txBody>
      </p:sp>
      <p:sp>
        <p:nvSpPr>
          <p:cNvPr id="9" name="Text 7"/>
          <p:cNvSpPr/>
          <p:nvPr/>
        </p:nvSpPr>
        <p:spPr>
          <a:xfrm>
            <a:off x="812800" y="3167380"/>
            <a:ext cx="1400969"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C83A2A"/>
                </a:solidFill>
                <a:latin typeface="IBM Plex Sans" pitchFamily="34" charset="0"/>
                <a:ea typeface="IBM Plex Sans" pitchFamily="34" charset="-122"/>
                <a:cs typeface="IBM Plex Sans" pitchFamily="34" charset="-120"/>
              </a:rPr>
              <a:t>35</a:t>
            </a:r>
            <a:endParaRPr lang="en-US" sz="4000" dirty="0"/>
          </a:p>
        </p:txBody>
      </p:sp>
      <p:sp>
        <p:nvSpPr>
          <p:cNvPr id="10" name="Text 8"/>
          <p:cNvSpPr/>
          <p:nvPr/>
        </p:nvSpPr>
        <p:spPr>
          <a:xfrm>
            <a:off x="812800" y="3700780"/>
            <a:ext cx="140096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A59C"/>
                </a:solidFill>
                <a:latin typeface="IBM Plex Sans" pitchFamily="34" charset="0"/>
                <a:ea typeface="IBM Plex Sans" pitchFamily="34" charset="-122"/>
                <a:cs typeface="IBM Plex Sans" pitchFamily="34" charset="-120"/>
              </a:rPr>
              <a:t>deaths, NTR district</a:t>
            </a:r>
            <a:endParaRPr lang="en-US" sz="1200" dirty="0"/>
          </a:p>
        </p:txBody>
      </p:sp>
      <p:sp>
        <p:nvSpPr>
          <p:cNvPr id="11" name="Text 9"/>
          <p:cNvSpPr/>
          <p:nvPr/>
        </p:nvSpPr>
        <p:spPr>
          <a:xfrm>
            <a:off x="2518569" y="3167380"/>
            <a:ext cx="1443911"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F5F2EA"/>
                </a:solidFill>
                <a:latin typeface="IBM Plex Sans" pitchFamily="34" charset="0"/>
                <a:ea typeface="IBM Plex Sans" pitchFamily="34" charset="-122"/>
                <a:cs typeface="IBM Plex Sans" pitchFamily="34" charset="-120"/>
              </a:rPr>
              <a:t>190</a:t>
            </a:r>
            <a:endParaRPr lang="en-US" sz="4000" dirty="0"/>
          </a:p>
        </p:txBody>
      </p:sp>
      <p:sp>
        <p:nvSpPr>
          <p:cNvPr id="12" name="Text 10"/>
          <p:cNvSpPr/>
          <p:nvPr/>
        </p:nvSpPr>
        <p:spPr>
          <a:xfrm>
            <a:off x="2518569" y="3700780"/>
            <a:ext cx="144391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A59C"/>
                </a:solidFill>
                <a:latin typeface="IBM Plex Sans" pitchFamily="34" charset="0"/>
                <a:ea typeface="IBM Plex Sans" pitchFamily="34" charset="-122"/>
                <a:cs typeface="IBM Plex Sans" pitchFamily="34" charset="-120"/>
              </a:rPr>
              <a:t>relief camps opened</a:t>
            </a:r>
            <a:endParaRPr lang="en-US" sz="1200" dirty="0"/>
          </a:p>
        </p:txBody>
      </p:sp>
      <p:sp>
        <p:nvSpPr>
          <p:cNvPr id="13" name="Shape 11"/>
          <p:cNvSpPr/>
          <p:nvPr/>
        </p:nvSpPr>
        <p:spPr>
          <a:xfrm>
            <a:off x="6000750" y="1851660"/>
            <a:ext cx="0" cy="2062480"/>
          </a:xfrm>
          <a:prstGeom prst="line">
            <a:avLst/>
          </a:prstGeom>
          <a:noFill/>
          <a:ln w="12700">
            <a:solidFill>
              <a:srgbClr val="3A3834"/>
            </a:solidFill>
            <a:prstDash val="solid"/>
          </a:ln>
        </p:spPr>
      </p:sp>
      <p:sp>
        <p:nvSpPr>
          <p:cNvPr id="14" name="Text 12"/>
          <p:cNvSpPr/>
          <p:nvPr/>
        </p:nvSpPr>
        <p:spPr>
          <a:xfrm>
            <a:off x="6410960" y="1851660"/>
            <a:ext cx="45417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A59C"/>
                </a:solidFill>
                <a:latin typeface="IBM Plex Mono" pitchFamily="34" charset="0"/>
                <a:ea typeface="IBM Plex Mono" pitchFamily="34" charset="-122"/>
                <a:cs typeface="IBM Plex Mono" pitchFamily="34" charset="-120"/>
              </a:rPr>
              <a:t>Cyclone Montha · Oct 2025</a:t>
            </a:r>
            <a:endParaRPr lang="en-US" sz="1200" dirty="0"/>
          </a:p>
        </p:txBody>
      </p:sp>
      <p:sp>
        <p:nvSpPr>
          <p:cNvPr id="15" name="Text 13"/>
          <p:cNvSpPr/>
          <p:nvPr/>
        </p:nvSpPr>
        <p:spPr>
          <a:xfrm>
            <a:off x="6410960" y="2242820"/>
            <a:ext cx="4541723"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E56A1F"/>
                </a:solidFill>
                <a:latin typeface="IBM Plex Sans" pitchFamily="34" charset="0"/>
                <a:ea typeface="IBM Plex Sans" pitchFamily="34" charset="-122"/>
                <a:cs typeface="IBM Plex Sans" pitchFamily="34" charset="-120"/>
              </a:rPr>
              <a:t>₹6,384 cr</a:t>
            </a:r>
            <a:endParaRPr lang="en-US" sz="4000" dirty="0"/>
          </a:p>
        </p:txBody>
      </p:sp>
      <p:sp>
        <p:nvSpPr>
          <p:cNvPr id="16" name="Text 14"/>
          <p:cNvSpPr/>
          <p:nvPr/>
        </p:nvSpPr>
        <p:spPr>
          <a:xfrm>
            <a:off x="6410960" y="2776220"/>
            <a:ext cx="45417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A59C"/>
                </a:solidFill>
                <a:latin typeface="IBM Plex Sans" pitchFamily="34" charset="0"/>
                <a:ea typeface="IBM Plex Sans" pitchFamily="34" charset="-122"/>
                <a:cs typeface="IBM Plex Sans" pitchFamily="34" charset="-120"/>
              </a:rPr>
              <a:t>revised state loss estimate</a:t>
            </a:r>
            <a:endParaRPr lang="en-US" sz="1200" dirty="0"/>
          </a:p>
        </p:txBody>
      </p:sp>
      <p:sp>
        <p:nvSpPr>
          <p:cNvPr id="17" name="Text 15"/>
          <p:cNvSpPr/>
          <p:nvPr/>
        </p:nvSpPr>
        <p:spPr>
          <a:xfrm>
            <a:off x="6410960" y="3167380"/>
            <a:ext cx="1972043"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F5F2EA"/>
                </a:solidFill>
                <a:latin typeface="IBM Plex Sans" pitchFamily="34" charset="0"/>
                <a:ea typeface="IBM Plex Sans" pitchFamily="34" charset="-122"/>
                <a:cs typeface="IBM Plex Sans" pitchFamily="34" charset="-120"/>
              </a:rPr>
              <a:t>87,000 ha</a:t>
            </a:r>
            <a:endParaRPr lang="en-US" sz="3200" dirty="0"/>
          </a:p>
        </p:txBody>
      </p:sp>
      <p:sp>
        <p:nvSpPr>
          <p:cNvPr id="18" name="Text 16"/>
          <p:cNvSpPr/>
          <p:nvPr/>
        </p:nvSpPr>
        <p:spPr>
          <a:xfrm>
            <a:off x="6410960" y="3599180"/>
            <a:ext cx="197204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A59C"/>
                </a:solidFill>
                <a:latin typeface="IBM Plex Sans" pitchFamily="34" charset="0"/>
                <a:ea typeface="IBM Plex Sans" pitchFamily="34" charset="-122"/>
                <a:cs typeface="IBM Plex Sans" pitchFamily="34" charset="-120"/>
              </a:rPr>
              <a:t>crops damaged</a:t>
            </a:r>
            <a:endParaRPr lang="en-US" sz="1200" dirty="0"/>
          </a:p>
        </p:txBody>
      </p:sp>
      <p:sp>
        <p:nvSpPr>
          <p:cNvPr id="19" name="Text 17"/>
          <p:cNvSpPr/>
          <p:nvPr/>
        </p:nvSpPr>
        <p:spPr>
          <a:xfrm>
            <a:off x="8681165" y="3167380"/>
            <a:ext cx="1396048"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F5F2EA"/>
                </a:solidFill>
                <a:latin typeface="IBM Plex Sans" pitchFamily="34" charset="0"/>
                <a:ea typeface="IBM Plex Sans" pitchFamily="34" charset="-122"/>
                <a:cs typeface="IBM Plex Sans" pitchFamily="34" charset="-120"/>
              </a:rPr>
              <a:t>38,000</a:t>
            </a:r>
            <a:endParaRPr lang="en-US" sz="3200" dirty="0"/>
          </a:p>
        </p:txBody>
      </p:sp>
      <p:sp>
        <p:nvSpPr>
          <p:cNvPr id="20" name="Text 18"/>
          <p:cNvSpPr/>
          <p:nvPr/>
        </p:nvSpPr>
        <p:spPr>
          <a:xfrm>
            <a:off x="8681165" y="3599180"/>
            <a:ext cx="13960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A59C"/>
                </a:solidFill>
                <a:latin typeface="IBM Plex Sans" pitchFamily="34" charset="0"/>
                <a:ea typeface="IBM Plex Sans" pitchFamily="34" charset="-122"/>
                <a:cs typeface="IBM Plex Sans" pitchFamily="34" charset="-120"/>
              </a:rPr>
              <a:t>people evacuated</a:t>
            </a:r>
            <a:endParaRPr lang="en-US" sz="1200" dirty="0"/>
          </a:p>
        </p:txBody>
      </p:sp>
      <p:sp>
        <p:nvSpPr>
          <p:cNvPr id="21" name="Text 19"/>
          <p:cNvSpPr/>
          <p:nvPr/>
        </p:nvSpPr>
        <p:spPr>
          <a:xfrm>
            <a:off x="812800" y="421894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Budameru rivulet peak flow vs its diversion canal capacity</a:t>
            </a:r>
            <a:r>
              <a:rPr lang="en-US" sz="1400" dirty="0">
                <a:solidFill>
                  <a:srgbClr val="F5F2EA"/>
                </a:solidFill>
                <a:latin typeface="IBM Plex Sans" pitchFamily="34" charset="0"/>
                <a:ea typeface="IBM Plex Sans" pitchFamily="34" charset="-122"/>
                <a:cs typeface="IBM Plex Sans" pitchFamily="34" charset="-120"/>
              </a:rPr>
              <a:t> </a:t>
            </a:r>
            <a:r>
              <a:rPr lang="en-US" sz="1400" dirty="0">
                <a:solidFill>
                  <a:srgbClr val="A9A59C"/>
                </a:solidFill>
                <a:latin typeface="IBM Plex Sans" pitchFamily="34" charset="0"/>
                <a:ea typeface="IBM Plex Sans" pitchFamily="34" charset="-122"/>
                <a:cs typeface="IBM Plex Sans" pitchFamily="34" charset="-120"/>
              </a:rPr>
              <a:t>(m³/s)</a:t>
            </a:r>
            <a:endParaRPr lang="en-US" sz="1400" dirty="0"/>
          </a:p>
        </p:txBody>
      </p:sp>
      <p:sp>
        <p:nvSpPr>
          <p:cNvPr id="22" name="Shape 20"/>
          <p:cNvSpPr/>
          <p:nvPr/>
        </p:nvSpPr>
        <p:spPr>
          <a:xfrm>
            <a:off x="812800" y="4556760"/>
            <a:ext cx="6858000" cy="254000"/>
          </a:xfrm>
          <a:prstGeom prst="rect">
            <a:avLst/>
          </a:prstGeom>
          <a:solidFill>
            <a:srgbClr val="C83A2A"/>
          </a:solidFill>
          <a:ln/>
        </p:spPr>
      </p:sp>
      <p:sp>
        <p:nvSpPr>
          <p:cNvPr id="23" name="Text 21"/>
          <p:cNvSpPr/>
          <p:nvPr/>
        </p:nvSpPr>
        <p:spPr>
          <a:xfrm>
            <a:off x="7823200" y="4559300"/>
            <a:ext cx="133096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2EA"/>
                </a:solidFill>
                <a:latin typeface="IBM Plex Mono" pitchFamily="34" charset="0"/>
                <a:ea typeface="IBM Plex Mono" pitchFamily="34" charset="-122"/>
                <a:cs typeface="IBM Plex Mono" pitchFamily="34" charset="-120"/>
              </a:rPr>
              <a:t>990 observed</a:t>
            </a:r>
            <a:endParaRPr lang="en-US" sz="1400" dirty="0"/>
          </a:p>
        </p:txBody>
      </p:sp>
      <p:sp>
        <p:nvSpPr>
          <p:cNvPr id="24" name="Shape 22"/>
          <p:cNvSpPr/>
          <p:nvPr/>
        </p:nvSpPr>
        <p:spPr>
          <a:xfrm>
            <a:off x="812800" y="4899660"/>
            <a:ext cx="1384300" cy="254000"/>
          </a:xfrm>
          <a:prstGeom prst="rect">
            <a:avLst/>
          </a:prstGeom>
          <a:solidFill>
            <a:srgbClr val="A9A59C"/>
          </a:solidFill>
          <a:ln/>
        </p:spPr>
      </p:sp>
      <p:sp>
        <p:nvSpPr>
          <p:cNvPr id="25" name="Text 23"/>
          <p:cNvSpPr/>
          <p:nvPr/>
        </p:nvSpPr>
        <p:spPr>
          <a:xfrm>
            <a:off x="2349500" y="4902200"/>
            <a:ext cx="384581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2EA"/>
                </a:solidFill>
                <a:latin typeface="IBM Plex Mono" pitchFamily="34" charset="0"/>
                <a:ea typeface="IBM Plex Mono" pitchFamily="34" charset="-122"/>
                <a:cs typeface="IBM Plex Mono" pitchFamily="34" charset="-120"/>
              </a:rPr>
              <a:t>200 design capacity · 4.9× exceeded</a:t>
            </a:r>
            <a:endParaRPr lang="en-US" sz="1400" dirty="0"/>
          </a:p>
        </p:txBody>
      </p:sp>
      <p:sp>
        <p:nvSpPr>
          <p:cNvPr id="26" name="Text 24"/>
          <p:cNvSpPr/>
          <p:nvPr/>
        </p:nvSpPr>
        <p:spPr>
          <a:xfrm>
            <a:off x="812800" y="6238241"/>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A59C"/>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27" name="Text 25"/>
          <p:cNvSpPr/>
          <p:nvPr/>
        </p:nvSpPr>
        <p:spPr>
          <a:xfrm>
            <a:off x="9804400" y="6238241"/>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A59C"/>
                </a:solidFill>
                <a:latin typeface="IBM Plex Mono" pitchFamily="34" charset="0"/>
                <a:ea typeface="IBM Plex Mono" pitchFamily="34" charset="-122"/>
                <a:cs typeface="IBM Plex Mono" pitchFamily="34" charset="-120"/>
              </a:rPr>
              <a:t>02 / 15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4A12"/>
                </a:solidFill>
                <a:latin typeface="IBM Plex Mono" pitchFamily="34" charset="0"/>
                <a:ea typeface="IBM Plex Mono" pitchFamily="34" charset="-122"/>
                <a:cs typeface="IBM Plex Mono" pitchFamily="34" charset="-120"/>
              </a:rPr>
              <a:t>02 · Why it is hard</a:t>
            </a:r>
            <a:endParaRPr lang="en-US" sz="1200" dirty="0"/>
          </a:p>
        </p:txBody>
      </p:sp>
      <p:sp>
        <p:nvSpPr>
          <p:cNvPr id="3" name="Text 1"/>
          <p:cNvSpPr/>
          <p:nvPr/>
        </p:nvSpPr>
        <p:spPr>
          <a:xfrm>
            <a:off x="812800" y="11277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kern="0" spc="-50" dirty="0">
                <a:solidFill>
                  <a:srgbClr val="171717"/>
                </a:solidFill>
                <a:latin typeface="IBM Plex Sans" pitchFamily="34" charset="0"/>
                <a:ea typeface="IBM Plex Sans" pitchFamily="34" charset="-122"/>
                <a:cs typeface="IBM Plex Sans" pitchFamily="34" charset="-120"/>
              </a:rPr>
              <a:t>Deciding where help goes is a combinatorial problem</a:t>
            </a:r>
            <a:endParaRPr lang="en-US" sz="3000" dirty="0"/>
          </a:p>
        </p:txBody>
      </p:sp>
      <p:sp>
        <p:nvSpPr>
          <p:cNvPr id="4" name="Text 2"/>
          <p:cNvSpPr/>
          <p:nvPr/>
        </p:nvSpPr>
        <p:spPr>
          <a:xfrm>
            <a:off x="812800" y="1851661"/>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Sans" pitchFamily="34" charset="0"/>
                <a:ea typeface="IBM Plex Sans" pitchFamily="34" charset="-122"/>
                <a:cs typeface="IBM Plex Sans" pitchFamily="34" charset="-120"/>
              </a:rPr>
              <a:t>Ways to place 10 units among n candidate sites (log scale)</a:t>
            </a:r>
            <a:endParaRPr lang="en-US" sz="1200" dirty="0"/>
          </a:p>
        </p:txBody>
      </p:sp>
      <p:pic>
        <p:nvPicPr>
          <p:cNvPr id="5" name="Image 0" descr="Bar chart on a log scale: ways to place 10 units among n candidate sites"/>
          <p:cNvPicPr>
            <a:picLocks noChangeAspect="1"/>
          </p:cNvPicPr>
          <p:nvPr/>
        </p:nvPicPr>
        <p:blipFill>
          <a:blip r:embed="rId3"/>
          <a:srcRect/>
          <a:stretch/>
        </p:blipFill>
        <p:spPr>
          <a:xfrm>
            <a:off x="812800" y="2166620"/>
            <a:ext cx="5715000" cy="3429000"/>
          </a:xfrm>
          <a:prstGeom prst="rect">
            <a:avLst/>
          </a:prstGeom>
        </p:spPr>
      </p:pic>
      <p:sp>
        <p:nvSpPr>
          <p:cNvPr id="6" name="Text 3"/>
          <p:cNvSpPr/>
          <p:nvPr/>
        </p:nvSpPr>
        <p:spPr>
          <a:xfrm>
            <a:off x="850900" y="3919220"/>
            <a:ext cx="1320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71717"/>
                </a:solidFill>
                <a:latin typeface="IBM Plex Mono" pitchFamily="34" charset="0"/>
                <a:ea typeface="IBM Plex Mono" pitchFamily="34" charset="-122"/>
                <a:cs typeface="IBM Plex Mono" pitchFamily="34" charset="-120"/>
              </a:rPr>
              <a:t>185 thousand</a:t>
            </a:r>
            <a:endParaRPr lang="en-US" sz="1200" dirty="0"/>
          </a:p>
        </p:txBody>
      </p:sp>
      <p:sp>
        <p:nvSpPr>
          <p:cNvPr id="7" name="Text 4"/>
          <p:cNvSpPr/>
          <p:nvPr/>
        </p:nvSpPr>
        <p:spPr>
          <a:xfrm>
            <a:off x="977900" y="5341620"/>
            <a:ext cx="1066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A5A"/>
                </a:solidFill>
                <a:latin typeface="IBM Plex Mono" pitchFamily="34" charset="0"/>
                <a:ea typeface="IBM Plex Mono" pitchFamily="34" charset="-122"/>
                <a:cs typeface="IBM Plex Mono" pitchFamily="34" charset="-120"/>
              </a:rPr>
              <a:t>n = 20</a:t>
            </a:r>
            <a:endParaRPr lang="en-US" sz="1200" dirty="0"/>
          </a:p>
        </p:txBody>
      </p:sp>
      <p:sp>
        <p:nvSpPr>
          <p:cNvPr id="8" name="Text 5"/>
          <p:cNvSpPr/>
          <p:nvPr/>
        </p:nvSpPr>
        <p:spPr>
          <a:xfrm>
            <a:off x="1930400" y="3176270"/>
            <a:ext cx="1320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71717"/>
                </a:solidFill>
                <a:latin typeface="IBM Plex Mono" pitchFamily="34" charset="0"/>
                <a:ea typeface="IBM Plex Mono" pitchFamily="34" charset="-122"/>
                <a:cs typeface="IBM Plex Mono" pitchFamily="34" charset="-120"/>
              </a:rPr>
              <a:t>848 million</a:t>
            </a:r>
            <a:endParaRPr lang="en-US" sz="1200" dirty="0"/>
          </a:p>
        </p:txBody>
      </p:sp>
      <p:sp>
        <p:nvSpPr>
          <p:cNvPr id="9" name="Text 6"/>
          <p:cNvSpPr/>
          <p:nvPr/>
        </p:nvSpPr>
        <p:spPr>
          <a:xfrm>
            <a:off x="2057400" y="5341620"/>
            <a:ext cx="1066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A5A"/>
                </a:solidFill>
                <a:latin typeface="IBM Plex Mono" pitchFamily="34" charset="0"/>
                <a:ea typeface="IBM Plex Mono" pitchFamily="34" charset="-122"/>
                <a:cs typeface="IBM Plex Mono" pitchFamily="34" charset="-120"/>
              </a:rPr>
              <a:t>n = 40</a:t>
            </a:r>
            <a:endParaRPr lang="en-US" sz="1200" dirty="0"/>
          </a:p>
        </p:txBody>
      </p:sp>
      <p:sp>
        <p:nvSpPr>
          <p:cNvPr id="10" name="Text 7"/>
          <p:cNvSpPr/>
          <p:nvPr/>
        </p:nvSpPr>
        <p:spPr>
          <a:xfrm>
            <a:off x="3009900" y="2776220"/>
            <a:ext cx="1320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71717"/>
                </a:solidFill>
                <a:latin typeface="IBM Plex Mono" pitchFamily="34" charset="0"/>
                <a:ea typeface="IBM Plex Mono" pitchFamily="34" charset="-122"/>
                <a:cs typeface="IBM Plex Mono" pitchFamily="34" charset="-120"/>
              </a:rPr>
              <a:t>75 billion</a:t>
            </a:r>
            <a:endParaRPr lang="en-US" sz="1200" dirty="0"/>
          </a:p>
        </p:txBody>
      </p:sp>
      <p:sp>
        <p:nvSpPr>
          <p:cNvPr id="11" name="Text 8"/>
          <p:cNvSpPr/>
          <p:nvPr/>
        </p:nvSpPr>
        <p:spPr>
          <a:xfrm>
            <a:off x="3136900" y="5341620"/>
            <a:ext cx="1066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A5A"/>
                </a:solidFill>
                <a:latin typeface="IBM Plex Mono" pitchFamily="34" charset="0"/>
                <a:ea typeface="IBM Plex Mono" pitchFamily="34" charset="-122"/>
                <a:cs typeface="IBM Plex Mono" pitchFamily="34" charset="-120"/>
              </a:rPr>
              <a:t>n = 60</a:t>
            </a:r>
            <a:endParaRPr lang="en-US" sz="1200" dirty="0"/>
          </a:p>
        </p:txBody>
      </p:sp>
      <p:sp>
        <p:nvSpPr>
          <p:cNvPr id="12" name="Text 9"/>
          <p:cNvSpPr/>
          <p:nvPr/>
        </p:nvSpPr>
        <p:spPr>
          <a:xfrm>
            <a:off x="4089400" y="2503170"/>
            <a:ext cx="1320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71717"/>
                </a:solidFill>
                <a:latin typeface="IBM Plex Mono" pitchFamily="34" charset="0"/>
                <a:ea typeface="IBM Plex Mono" pitchFamily="34" charset="-122"/>
                <a:cs typeface="IBM Plex Mono" pitchFamily="34" charset="-120"/>
              </a:rPr>
              <a:t>1.6 trillion</a:t>
            </a:r>
            <a:endParaRPr lang="en-US" sz="1200" dirty="0"/>
          </a:p>
        </p:txBody>
      </p:sp>
      <p:sp>
        <p:nvSpPr>
          <p:cNvPr id="13" name="Text 10"/>
          <p:cNvSpPr/>
          <p:nvPr/>
        </p:nvSpPr>
        <p:spPr>
          <a:xfrm>
            <a:off x="4216400" y="5341620"/>
            <a:ext cx="1066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A5A"/>
                </a:solidFill>
                <a:latin typeface="IBM Plex Mono" pitchFamily="34" charset="0"/>
                <a:ea typeface="IBM Plex Mono" pitchFamily="34" charset="-122"/>
                <a:cs typeface="IBM Plex Mono" pitchFamily="34" charset="-120"/>
              </a:rPr>
              <a:t>n = 80</a:t>
            </a:r>
            <a:endParaRPr lang="en-US" sz="1200" dirty="0"/>
          </a:p>
        </p:txBody>
      </p:sp>
      <p:sp>
        <p:nvSpPr>
          <p:cNvPr id="14" name="Text 11"/>
          <p:cNvSpPr/>
          <p:nvPr/>
        </p:nvSpPr>
        <p:spPr>
          <a:xfrm>
            <a:off x="5168900" y="2293620"/>
            <a:ext cx="1320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71717"/>
                </a:solidFill>
                <a:latin typeface="IBM Plex Mono" pitchFamily="34" charset="0"/>
                <a:ea typeface="IBM Plex Mono" pitchFamily="34" charset="-122"/>
                <a:cs typeface="IBM Plex Mono" pitchFamily="34" charset="-120"/>
              </a:rPr>
              <a:t>17 trillion</a:t>
            </a:r>
            <a:endParaRPr lang="en-US" sz="1200" dirty="0"/>
          </a:p>
        </p:txBody>
      </p:sp>
      <p:sp>
        <p:nvSpPr>
          <p:cNvPr id="15" name="Text 12"/>
          <p:cNvSpPr/>
          <p:nvPr/>
        </p:nvSpPr>
        <p:spPr>
          <a:xfrm>
            <a:off x="5295900" y="5341620"/>
            <a:ext cx="1066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A5A"/>
                </a:solidFill>
                <a:latin typeface="IBM Plex Mono" pitchFamily="34" charset="0"/>
                <a:ea typeface="IBM Plex Mono" pitchFamily="34" charset="-122"/>
                <a:cs typeface="IBM Plex Mono" pitchFamily="34" charset="-120"/>
              </a:rPr>
              <a:t>n = 100</a:t>
            </a:r>
            <a:endParaRPr lang="en-US" sz="1200" dirty="0"/>
          </a:p>
        </p:txBody>
      </p:sp>
      <p:sp>
        <p:nvSpPr>
          <p:cNvPr id="16" name="Text 13"/>
          <p:cNvSpPr/>
          <p:nvPr/>
        </p:nvSpPr>
        <p:spPr>
          <a:xfrm>
            <a:off x="7137400" y="3171825"/>
            <a:ext cx="4316730"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E56A1F"/>
                </a:solidFill>
                <a:latin typeface="IBM Plex Sans" pitchFamily="34" charset="0"/>
                <a:ea typeface="IBM Plex Sans" pitchFamily="34" charset="-122"/>
                <a:cs typeface="IBM Plex Sans" pitchFamily="34" charset="-120"/>
              </a:rPr>
              <a:t>75 billion</a:t>
            </a:r>
            <a:endParaRPr lang="en-US" sz="4800" dirty="0"/>
          </a:p>
        </p:txBody>
      </p:sp>
      <p:sp>
        <p:nvSpPr>
          <p:cNvPr id="17" name="Text 14"/>
          <p:cNvSpPr/>
          <p:nvPr/>
        </p:nvSpPr>
        <p:spPr>
          <a:xfrm>
            <a:off x="7137400" y="3806825"/>
            <a:ext cx="431673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A5A5A"/>
                </a:solidFill>
                <a:latin typeface="IBM Plex Sans" pitchFamily="34" charset="0"/>
                <a:ea typeface="IBM Plex Sans" pitchFamily="34" charset="-122"/>
                <a:cs typeface="IBM Plex Sans" pitchFamily="34" charset="-120"/>
              </a:rPr>
              <a:t>plans for 10 teams across 60 sites</a:t>
            </a:r>
            <a:endParaRPr lang="en-US" sz="1400" dirty="0"/>
          </a:p>
        </p:txBody>
      </p:sp>
      <p:sp>
        <p:nvSpPr>
          <p:cNvPr id="18" name="Text 15"/>
          <p:cNvSpPr/>
          <p:nvPr/>
        </p:nvSpPr>
        <p:spPr>
          <a:xfrm>
            <a:off x="7137400" y="4309745"/>
            <a:ext cx="4316730" cy="1311275"/>
          </a:xfrm>
          <a:prstGeom prst="rect">
            <a:avLst/>
          </a:prstGeom>
          <a:noFill/>
          <a:ln/>
        </p:spPr>
        <p:txBody>
          <a:bodyPr wrap="square" lIns="0" tIns="0" rIns="0" bIns="0" rtlCol="0" anchor="t">
            <a:normAutofit/>
          </a:bodyPr>
          <a:lstStyle/>
          <a:p>
            <a:pPr marL="228600" indent="-182880" algn="l">
              <a:lnSpc>
                <a:spcPts val="2025"/>
              </a:lnSpc>
              <a:buSzPct val="100000"/>
              <a:buChar char="•"/>
            </a:pPr>
            <a:r>
              <a:rPr lang="en-US" sz="1500" dirty="0">
                <a:solidFill>
                  <a:srgbClr val="5A5A5A"/>
                </a:solidFill>
                <a:latin typeface="IBM Plex Sans" pitchFamily="34" charset="0"/>
                <a:ea typeface="IBM Plex Sans" pitchFamily="34" charset="-122"/>
                <a:cs typeface="IBM Plex Sans" pitchFamily="34" charset="-120"/>
              </a:rPr>
              <a:t>Coverage overlaps make sites interdependent</a:t>
            </a:r>
            <a:endParaRPr lang="en-US" sz="1500" dirty="0"/>
          </a:p>
          <a:p>
            <a:pPr marL="228600" indent="-182880" algn="l">
              <a:lnSpc>
                <a:spcPts val="2025"/>
              </a:lnSpc>
              <a:buSzPct val="100000"/>
              <a:buChar char="•"/>
            </a:pPr>
            <a:r>
              <a:rPr lang="en-US" sz="1500" dirty="0">
                <a:solidFill>
                  <a:srgbClr val="5A5A5A"/>
                </a:solidFill>
                <a:latin typeface="IBM Plex Sans" pitchFamily="34" charset="0"/>
                <a:ea typeface="IBM Plex Sans" pitchFamily="34" charset="-122"/>
                <a:cs typeface="IBM Plex Sans" pitchFamily="34" charset="-120"/>
              </a:rPr>
              <a:t>Risk moves as rain and river levels change</a:t>
            </a:r>
            <a:endParaRPr lang="en-US" sz="1500" dirty="0"/>
          </a:p>
          <a:p>
            <a:pPr marL="228600" indent="-182880" algn="l">
              <a:lnSpc>
                <a:spcPts val="2025"/>
              </a:lnSpc>
              <a:buSzPct val="100000"/>
              <a:buChar char="•"/>
            </a:pPr>
            <a:r>
              <a:rPr lang="en-US" sz="1500" dirty="0">
                <a:solidFill>
                  <a:srgbClr val="5A5A5A"/>
                </a:solidFill>
                <a:latin typeface="IBM Plex Sans" pitchFamily="34" charset="0"/>
                <a:ea typeface="IBM Plex Sans" pitchFamily="34" charset="-122"/>
                <a:cs typeface="IBM Plex Sans" pitchFamily="34" charset="-120"/>
              </a:rPr>
              <a:t>A plan made at T0 is stale hours later</a:t>
            </a:r>
            <a:endParaRPr lang="en-US" sz="1500" dirty="0"/>
          </a:p>
          <a:p>
            <a:pPr marL="228600" indent="-182880" algn="l">
              <a:lnSpc>
                <a:spcPts val="2025"/>
              </a:lnSpc>
              <a:buSzPct val="100000"/>
              <a:buChar char="•"/>
            </a:pPr>
            <a:r>
              <a:rPr lang="en-US" sz="1500" dirty="0">
                <a:solidFill>
                  <a:srgbClr val="5A5A5A"/>
                </a:solidFill>
                <a:latin typeface="IBM Plex Sans" pitchFamily="34" charset="0"/>
                <a:ea typeface="IBM Plex Sans" pitchFamily="34" charset="-122"/>
                <a:cs typeface="IBM Plex Sans" pitchFamily="34" charset="-120"/>
              </a:rPr>
              <a:t>Maps directly to a QUBO: binary choice per site</a:t>
            </a:r>
            <a:endParaRPr lang="en-US" sz="1500" dirty="0"/>
          </a:p>
        </p:txBody>
      </p:sp>
      <p:sp>
        <p:nvSpPr>
          <p:cNvPr id="19" name="Text 16"/>
          <p:cNvSpPr/>
          <p:nvPr/>
        </p:nvSpPr>
        <p:spPr>
          <a:xfrm>
            <a:off x="812800" y="6238241"/>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20" name="Text 17"/>
          <p:cNvSpPr/>
          <p:nvPr/>
        </p:nvSpPr>
        <p:spPr>
          <a:xfrm>
            <a:off x="9804400" y="6238241"/>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A5A"/>
                </a:solidFill>
                <a:latin typeface="IBM Plex Mono" pitchFamily="34" charset="0"/>
                <a:ea typeface="IBM Plex Mono" pitchFamily="34" charset="-122"/>
                <a:cs typeface="IBM Plex Mono" pitchFamily="34" charset="-120"/>
              </a:rPr>
              <a:t>03 / 15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4A12"/>
                </a:solidFill>
                <a:latin typeface="IBM Plex Mono" pitchFamily="34" charset="0"/>
                <a:ea typeface="IBM Plex Mono" pitchFamily="34" charset="-122"/>
                <a:cs typeface="IBM Plex Mono" pitchFamily="34" charset="-120"/>
              </a:rPr>
              <a:t>03 · Market</a:t>
            </a:r>
            <a:endParaRPr lang="en-US" sz="1200" dirty="0"/>
          </a:p>
        </p:txBody>
      </p:sp>
      <p:sp>
        <p:nvSpPr>
          <p:cNvPr id="3" name="Text 1"/>
          <p:cNvSpPr/>
          <p:nvPr/>
        </p:nvSpPr>
        <p:spPr>
          <a:xfrm>
            <a:off x="812800" y="11277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kern="0" spc="-50" dirty="0">
                <a:solidFill>
                  <a:srgbClr val="171717"/>
                </a:solidFill>
                <a:latin typeface="IBM Plex Sans" pitchFamily="34" charset="0"/>
                <a:ea typeface="IBM Plex Sans" pitchFamily="34" charset="-122"/>
                <a:cs typeface="IBM Plex Sans" pitchFamily="34" charset="-120"/>
              </a:rPr>
              <a:t>Disaster response is a large, publicly funded market</a:t>
            </a:r>
            <a:endParaRPr lang="en-US" sz="3000" dirty="0"/>
          </a:p>
        </p:txBody>
      </p:sp>
      <p:sp>
        <p:nvSpPr>
          <p:cNvPr id="4" name="Shape 2"/>
          <p:cNvSpPr/>
          <p:nvPr/>
        </p:nvSpPr>
        <p:spPr>
          <a:xfrm>
            <a:off x="812800" y="1864361"/>
            <a:ext cx="2413000" cy="0"/>
          </a:xfrm>
          <a:prstGeom prst="line">
            <a:avLst/>
          </a:prstGeom>
          <a:noFill/>
          <a:ln w="25400">
            <a:solidFill>
              <a:srgbClr val="E56A1F"/>
            </a:solidFill>
            <a:prstDash val="solid"/>
          </a:ln>
        </p:spPr>
      </p:sp>
      <p:sp>
        <p:nvSpPr>
          <p:cNvPr id="5" name="Text 3"/>
          <p:cNvSpPr/>
          <p:nvPr/>
        </p:nvSpPr>
        <p:spPr>
          <a:xfrm>
            <a:off x="812800" y="2054861"/>
            <a:ext cx="2485390" cy="431800"/>
          </a:xfrm>
          <a:prstGeom prst="rect">
            <a:avLst/>
          </a:prstGeom>
          <a:noFill/>
          <a:ln/>
        </p:spPr>
        <p:txBody>
          <a:bodyPr wrap="square" lIns="0" tIns="0" rIns="0" bIns="0" rtlCol="0" anchor="t">
            <a:normAutofit/>
          </a:bodyPr>
          <a:lstStyle/>
          <a:p>
            <a:pPr marL="0" indent="0" algn="l">
              <a:lnSpc>
                <a:spcPts val="3200"/>
              </a:lnSpc>
              <a:buNone/>
            </a:pPr>
            <a:r>
              <a:rPr lang="en-US" sz="3200" b="1" kern="0" spc="-50" dirty="0">
                <a:solidFill>
                  <a:srgbClr val="171717"/>
                </a:solidFill>
                <a:latin typeface="IBM Plex Sans" pitchFamily="34" charset="0"/>
                <a:ea typeface="IBM Plex Sans" pitchFamily="34" charset="-122"/>
                <a:cs typeface="IBM Plex Sans" pitchFamily="34" charset="-120"/>
              </a:rPr>
              <a:t>$196B</a:t>
            </a:r>
            <a:endParaRPr lang="en-US" sz="3200" dirty="0"/>
          </a:p>
        </p:txBody>
      </p:sp>
      <p:sp>
        <p:nvSpPr>
          <p:cNvPr id="6" name="Text 4"/>
          <p:cNvSpPr/>
          <p:nvPr/>
        </p:nvSpPr>
        <p:spPr>
          <a:xfrm>
            <a:off x="812800" y="2562861"/>
            <a:ext cx="2485390" cy="4876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71717"/>
                </a:solidFill>
                <a:latin typeface="IBM Plex Sans" pitchFamily="34" charset="0"/>
                <a:ea typeface="IBM Plex Sans" pitchFamily="34" charset="-122"/>
                <a:cs typeface="IBM Plex Sans" pitchFamily="34" charset="-120"/>
              </a:rPr>
              <a:t>Incident &amp; emergency management, 2030</a:t>
            </a:r>
            <a:endParaRPr lang="en-US" sz="1400" dirty="0"/>
          </a:p>
        </p:txBody>
      </p:sp>
      <p:sp>
        <p:nvSpPr>
          <p:cNvPr id="7" name="Text 5"/>
          <p:cNvSpPr/>
          <p:nvPr/>
        </p:nvSpPr>
        <p:spPr>
          <a:xfrm>
            <a:off x="812800" y="3126741"/>
            <a:ext cx="248539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5A5A"/>
                </a:solidFill>
                <a:latin typeface="IBM Plex Mono" pitchFamily="34" charset="0"/>
                <a:ea typeface="IBM Plex Mono" pitchFamily="34" charset="-122"/>
                <a:cs typeface="IBM Plex Mono" pitchFamily="34" charset="-120"/>
              </a:rPr>
              <a:t>2024: $137.5B</a:t>
            </a:r>
            <a:endParaRPr lang="en-US" sz="1200" dirty="0"/>
          </a:p>
          <a:p>
            <a:pPr marL="0" indent="0" algn="l">
              <a:lnSpc>
                <a:spcPts val="1620"/>
              </a:lnSpc>
              <a:buNone/>
            </a:pPr>
            <a:r>
              <a:rPr lang="en-US" sz="1200" dirty="0">
                <a:solidFill>
                  <a:srgbClr val="5A5A5A"/>
                </a:solidFill>
                <a:latin typeface="IBM Plex Mono" pitchFamily="34" charset="0"/>
                <a:ea typeface="IBM Plex Mono" pitchFamily="34" charset="-122"/>
                <a:cs typeface="IBM Plex Mono" pitchFamily="34" charset="-120"/>
              </a:rPr>
              <a:t>CAGR 6.1%</a:t>
            </a:r>
            <a:endParaRPr lang="en-US" sz="1200" dirty="0"/>
          </a:p>
        </p:txBody>
      </p:sp>
      <p:sp>
        <p:nvSpPr>
          <p:cNvPr id="8" name="Text 6"/>
          <p:cNvSpPr/>
          <p:nvPr/>
        </p:nvSpPr>
        <p:spPr>
          <a:xfrm>
            <a:off x="812800" y="3639820"/>
            <a:ext cx="24853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Sans" pitchFamily="34" charset="0"/>
                <a:ea typeface="IBM Plex Sans" pitchFamily="34" charset="-122"/>
                <a:cs typeface="IBM Plex Sans" pitchFamily="34" charset="-120"/>
              </a:rPr>
              <a:t>MarketsandMarkets</a:t>
            </a:r>
            <a:endParaRPr lang="en-US" sz="1200" dirty="0"/>
          </a:p>
        </p:txBody>
      </p:sp>
      <p:sp>
        <p:nvSpPr>
          <p:cNvPr id="9" name="Shape 7"/>
          <p:cNvSpPr/>
          <p:nvPr/>
        </p:nvSpPr>
        <p:spPr>
          <a:xfrm>
            <a:off x="3530600" y="1864361"/>
            <a:ext cx="2413000" cy="0"/>
          </a:xfrm>
          <a:prstGeom prst="line">
            <a:avLst/>
          </a:prstGeom>
          <a:noFill/>
          <a:ln w="25400">
            <a:solidFill>
              <a:srgbClr val="E56A1F"/>
            </a:solidFill>
            <a:prstDash val="solid"/>
          </a:ln>
        </p:spPr>
      </p:sp>
      <p:sp>
        <p:nvSpPr>
          <p:cNvPr id="10" name="Text 8"/>
          <p:cNvSpPr/>
          <p:nvPr/>
        </p:nvSpPr>
        <p:spPr>
          <a:xfrm>
            <a:off x="3530600" y="2054861"/>
            <a:ext cx="2485390" cy="431800"/>
          </a:xfrm>
          <a:prstGeom prst="rect">
            <a:avLst/>
          </a:prstGeom>
          <a:noFill/>
          <a:ln/>
        </p:spPr>
        <p:txBody>
          <a:bodyPr wrap="square" lIns="0" tIns="0" rIns="0" bIns="0" rtlCol="0" anchor="t">
            <a:normAutofit/>
          </a:bodyPr>
          <a:lstStyle/>
          <a:p>
            <a:pPr marL="0" indent="0" algn="l">
              <a:lnSpc>
                <a:spcPts val="3200"/>
              </a:lnSpc>
              <a:buNone/>
            </a:pPr>
            <a:r>
              <a:rPr lang="en-US" sz="3200" b="1" kern="0" spc="-50" dirty="0">
                <a:solidFill>
                  <a:srgbClr val="171717"/>
                </a:solidFill>
                <a:latin typeface="IBM Plex Sans" pitchFamily="34" charset="0"/>
                <a:ea typeface="IBM Plex Sans" pitchFamily="34" charset="-122"/>
                <a:cs typeface="IBM Plex Sans" pitchFamily="34" charset="-120"/>
              </a:rPr>
              <a:t>$3.3B</a:t>
            </a:r>
            <a:endParaRPr lang="en-US" sz="3200" dirty="0"/>
          </a:p>
        </p:txBody>
      </p:sp>
      <p:sp>
        <p:nvSpPr>
          <p:cNvPr id="11" name="Text 9"/>
          <p:cNvSpPr/>
          <p:nvPr/>
        </p:nvSpPr>
        <p:spPr>
          <a:xfrm>
            <a:off x="3530600" y="2562861"/>
            <a:ext cx="2485390"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71717"/>
                </a:solidFill>
                <a:latin typeface="IBM Plex Sans" pitchFamily="34" charset="0"/>
                <a:ea typeface="IBM Plex Sans" pitchFamily="34" charset="-122"/>
                <a:cs typeface="IBM Plex Sans" pitchFamily="34" charset="-120"/>
              </a:rPr>
              <a:t>Flood warning systems, 2035</a:t>
            </a:r>
            <a:endParaRPr lang="en-US" sz="1400" dirty="0"/>
          </a:p>
        </p:txBody>
      </p:sp>
      <p:sp>
        <p:nvSpPr>
          <p:cNvPr id="12" name="Text 10"/>
          <p:cNvSpPr/>
          <p:nvPr/>
        </p:nvSpPr>
        <p:spPr>
          <a:xfrm>
            <a:off x="3530600" y="2895600"/>
            <a:ext cx="248539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5A5A"/>
                </a:solidFill>
                <a:latin typeface="IBM Plex Mono" pitchFamily="34" charset="0"/>
                <a:ea typeface="IBM Plex Mono" pitchFamily="34" charset="-122"/>
                <a:cs typeface="IBM Plex Mono" pitchFamily="34" charset="-120"/>
              </a:rPr>
              <a:t>2025: $1.67B</a:t>
            </a:r>
            <a:endParaRPr lang="en-US" sz="1200" dirty="0"/>
          </a:p>
          <a:p>
            <a:pPr marL="0" indent="0" algn="l">
              <a:lnSpc>
                <a:spcPts val="1620"/>
              </a:lnSpc>
              <a:buNone/>
            </a:pPr>
            <a:r>
              <a:rPr lang="en-US" sz="1200" dirty="0">
                <a:solidFill>
                  <a:srgbClr val="5A5A5A"/>
                </a:solidFill>
                <a:latin typeface="IBM Plex Mono" pitchFamily="34" charset="0"/>
                <a:ea typeface="IBM Plex Mono" pitchFamily="34" charset="-122"/>
                <a:cs typeface="IBM Plex Mono" pitchFamily="34" charset="-120"/>
              </a:rPr>
              <a:t>CAGR 6.9%</a:t>
            </a:r>
            <a:endParaRPr lang="en-US" sz="1200" dirty="0"/>
          </a:p>
        </p:txBody>
      </p:sp>
      <p:sp>
        <p:nvSpPr>
          <p:cNvPr id="13" name="Text 11"/>
          <p:cNvSpPr/>
          <p:nvPr/>
        </p:nvSpPr>
        <p:spPr>
          <a:xfrm>
            <a:off x="3530600" y="3408680"/>
            <a:ext cx="24853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Sans" pitchFamily="34" charset="0"/>
                <a:ea typeface="IBM Plex Sans" pitchFamily="34" charset="-122"/>
                <a:cs typeface="IBM Plex Sans" pitchFamily="34" charset="-120"/>
              </a:rPr>
              <a:t>Market Research Future</a:t>
            </a:r>
            <a:endParaRPr lang="en-US" sz="1200" dirty="0"/>
          </a:p>
        </p:txBody>
      </p:sp>
      <p:sp>
        <p:nvSpPr>
          <p:cNvPr id="14" name="Shape 12"/>
          <p:cNvSpPr/>
          <p:nvPr/>
        </p:nvSpPr>
        <p:spPr>
          <a:xfrm>
            <a:off x="6248400" y="1864361"/>
            <a:ext cx="2413000" cy="0"/>
          </a:xfrm>
          <a:prstGeom prst="line">
            <a:avLst/>
          </a:prstGeom>
          <a:noFill/>
          <a:ln w="25400">
            <a:solidFill>
              <a:srgbClr val="E56A1F"/>
            </a:solidFill>
            <a:prstDash val="solid"/>
          </a:ln>
        </p:spPr>
      </p:sp>
      <p:sp>
        <p:nvSpPr>
          <p:cNvPr id="15" name="Text 13"/>
          <p:cNvSpPr/>
          <p:nvPr/>
        </p:nvSpPr>
        <p:spPr>
          <a:xfrm>
            <a:off x="6248400" y="2054861"/>
            <a:ext cx="2485390" cy="431800"/>
          </a:xfrm>
          <a:prstGeom prst="rect">
            <a:avLst/>
          </a:prstGeom>
          <a:noFill/>
          <a:ln/>
        </p:spPr>
        <p:txBody>
          <a:bodyPr wrap="square" lIns="0" tIns="0" rIns="0" bIns="0" rtlCol="0" anchor="t">
            <a:normAutofit/>
          </a:bodyPr>
          <a:lstStyle/>
          <a:p>
            <a:pPr marL="0" indent="0" algn="l">
              <a:lnSpc>
                <a:spcPts val="3200"/>
              </a:lnSpc>
              <a:buNone/>
            </a:pPr>
            <a:r>
              <a:rPr lang="en-US" sz="3200" b="1" kern="0" spc="-50" dirty="0">
                <a:solidFill>
                  <a:srgbClr val="171717"/>
                </a:solidFill>
                <a:latin typeface="IBM Plex Sans" pitchFamily="34" charset="0"/>
                <a:ea typeface="IBM Plex Sans" pitchFamily="34" charset="-122"/>
                <a:cs typeface="IBM Plex Sans" pitchFamily="34" charset="-120"/>
              </a:rPr>
              <a:t>₹2.29L cr</a:t>
            </a:r>
            <a:endParaRPr lang="en-US" sz="3200" dirty="0"/>
          </a:p>
        </p:txBody>
      </p:sp>
      <p:sp>
        <p:nvSpPr>
          <p:cNvPr id="16" name="Text 14"/>
          <p:cNvSpPr/>
          <p:nvPr/>
        </p:nvSpPr>
        <p:spPr>
          <a:xfrm>
            <a:off x="6248400" y="2562861"/>
            <a:ext cx="2485390" cy="4876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71717"/>
                </a:solidFill>
                <a:latin typeface="IBM Plex Sans" pitchFamily="34" charset="0"/>
                <a:ea typeface="IBM Plex Sans" pitchFamily="34" charset="-122"/>
                <a:cs typeface="IBM Plex Sans" pitchFamily="34" charset="-120"/>
              </a:rPr>
              <a:t>India disaster funds, 15th FC 2021–26</a:t>
            </a:r>
            <a:endParaRPr lang="en-US" sz="1400" dirty="0"/>
          </a:p>
        </p:txBody>
      </p:sp>
      <p:sp>
        <p:nvSpPr>
          <p:cNvPr id="17" name="Text 15"/>
          <p:cNvSpPr/>
          <p:nvPr/>
        </p:nvSpPr>
        <p:spPr>
          <a:xfrm>
            <a:off x="6248400" y="3126741"/>
            <a:ext cx="248539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5A5A"/>
                </a:solidFill>
                <a:latin typeface="IBM Plex Mono" pitchFamily="34" charset="0"/>
                <a:ea typeface="IBM Plex Mono" pitchFamily="34" charset="-122"/>
                <a:cs typeface="IBM Plex Mono" pitchFamily="34" charset="-120"/>
              </a:rPr>
              <a:t>SDRF + SDMF + NDRF + NDMF</a:t>
            </a:r>
            <a:endParaRPr lang="en-US" sz="1200" dirty="0"/>
          </a:p>
          <a:p>
            <a:pPr marL="0" indent="0" algn="l">
              <a:lnSpc>
                <a:spcPts val="1620"/>
              </a:lnSpc>
              <a:buNone/>
            </a:pPr>
            <a:r>
              <a:rPr lang="en-US" sz="1200" dirty="0">
                <a:solidFill>
                  <a:srgbClr val="5A5A5A"/>
                </a:solidFill>
                <a:latin typeface="IBM Plex Mono" pitchFamily="34" charset="0"/>
                <a:ea typeface="IBM Plex Mono" pitchFamily="34" charset="-122"/>
                <a:cs typeface="IBM Plex Mono" pitchFamily="34" charset="-120"/>
              </a:rPr>
              <a:t>3.7× the 14th FC</a:t>
            </a:r>
            <a:endParaRPr lang="en-US" sz="1200" dirty="0"/>
          </a:p>
        </p:txBody>
      </p:sp>
      <p:sp>
        <p:nvSpPr>
          <p:cNvPr id="18" name="Text 16"/>
          <p:cNvSpPr/>
          <p:nvPr/>
        </p:nvSpPr>
        <p:spPr>
          <a:xfrm>
            <a:off x="6248400" y="3639820"/>
            <a:ext cx="24853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Sans" pitchFamily="34" charset="0"/>
                <a:ea typeface="IBM Plex Sans" pitchFamily="34" charset="-122"/>
                <a:cs typeface="IBM Plex Sans" pitchFamily="34" charset="-120"/>
              </a:rPr>
              <a:t>PIB, MHA</a:t>
            </a:r>
            <a:endParaRPr lang="en-US" sz="1200" dirty="0"/>
          </a:p>
        </p:txBody>
      </p:sp>
      <p:sp>
        <p:nvSpPr>
          <p:cNvPr id="19" name="Shape 17"/>
          <p:cNvSpPr/>
          <p:nvPr/>
        </p:nvSpPr>
        <p:spPr>
          <a:xfrm>
            <a:off x="8966200" y="1864361"/>
            <a:ext cx="2413000" cy="0"/>
          </a:xfrm>
          <a:prstGeom prst="line">
            <a:avLst/>
          </a:prstGeom>
          <a:noFill/>
          <a:ln w="25400">
            <a:solidFill>
              <a:srgbClr val="E56A1F"/>
            </a:solidFill>
            <a:prstDash val="solid"/>
          </a:ln>
        </p:spPr>
      </p:sp>
      <p:sp>
        <p:nvSpPr>
          <p:cNvPr id="20" name="Text 18"/>
          <p:cNvSpPr/>
          <p:nvPr/>
        </p:nvSpPr>
        <p:spPr>
          <a:xfrm>
            <a:off x="8966200" y="2054861"/>
            <a:ext cx="2485390" cy="431800"/>
          </a:xfrm>
          <a:prstGeom prst="rect">
            <a:avLst/>
          </a:prstGeom>
          <a:noFill/>
          <a:ln/>
        </p:spPr>
        <p:txBody>
          <a:bodyPr wrap="square" lIns="0" tIns="0" rIns="0" bIns="0" rtlCol="0" anchor="t">
            <a:normAutofit/>
          </a:bodyPr>
          <a:lstStyle/>
          <a:p>
            <a:pPr marL="0" indent="0" algn="l">
              <a:lnSpc>
                <a:spcPts val="3200"/>
              </a:lnSpc>
              <a:buNone/>
            </a:pPr>
            <a:r>
              <a:rPr lang="en-US" sz="3200" b="1" kern="0" spc="-50" dirty="0">
                <a:solidFill>
                  <a:srgbClr val="E56A1F"/>
                </a:solidFill>
                <a:latin typeface="IBM Plex Sans" pitchFamily="34" charset="0"/>
                <a:ea typeface="IBM Plex Sans" pitchFamily="34" charset="-122"/>
                <a:cs typeface="IBM Plex Sans" pitchFamily="34" charset="-120"/>
              </a:rPr>
              <a:t>$43–71B</a:t>
            </a:r>
            <a:endParaRPr lang="en-US" sz="3200" dirty="0"/>
          </a:p>
        </p:txBody>
      </p:sp>
      <p:sp>
        <p:nvSpPr>
          <p:cNvPr id="21" name="Text 19"/>
          <p:cNvSpPr/>
          <p:nvPr/>
        </p:nvSpPr>
        <p:spPr>
          <a:xfrm>
            <a:off x="8966200" y="2562861"/>
            <a:ext cx="2485390" cy="4876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71717"/>
                </a:solidFill>
                <a:latin typeface="IBM Plex Sans" pitchFamily="34" charset="0"/>
                <a:ea typeface="IBM Plex Sans" pitchFamily="34" charset="-122"/>
                <a:cs typeface="IBM Plex Sans" pitchFamily="34" charset="-120"/>
              </a:rPr>
              <a:t>Quantum computing revenue, 2035</a:t>
            </a:r>
            <a:endParaRPr lang="en-US" sz="1400" dirty="0"/>
          </a:p>
        </p:txBody>
      </p:sp>
      <p:sp>
        <p:nvSpPr>
          <p:cNvPr id="22" name="Text 20"/>
          <p:cNvSpPr/>
          <p:nvPr/>
        </p:nvSpPr>
        <p:spPr>
          <a:xfrm>
            <a:off x="8966200" y="3126741"/>
            <a:ext cx="248539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5A5A"/>
                </a:solidFill>
                <a:latin typeface="IBM Plex Mono" pitchFamily="34" charset="0"/>
                <a:ea typeface="IBM Plex Mono" pitchFamily="34" charset="-122"/>
                <a:cs typeface="IBM Plex Mono" pitchFamily="34" charset="-120"/>
              </a:rPr>
              <a:t>2025: &gt;$1B</a:t>
            </a:r>
            <a:endParaRPr lang="en-US" sz="1200" dirty="0"/>
          </a:p>
          <a:p>
            <a:pPr marL="0" indent="0" algn="l">
              <a:lnSpc>
                <a:spcPts val="1620"/>
              </a:lnSpc>
              <a:buNone/>
            </a:pPr>
            <a:r>
              <a:rPr lang="en-US" sz="1200" dirty="0">
                <a:solidFill>
                  <a:srgbClr val="5A5A5A"/>
                </a:solidFill>
                <a:latin typeface="IBM Plex Mono" pitchFamily="34" charset="0"/>
                <a:ea typeface="IBM Plex Mono" pitchFamily="34" charset="-122"/>
                <a:cs typeface="IBM Plex Mono" pitchFamily="34" charset="-120"/>
              </a:rPr>
              <a:t>Investment 2025: $12.6B</a:t>
            </a:r>
            <a:endParaRPr lang="en-US" sz="1200" dirty="0"/>
          </a:p>
        </p:txBody>
      </p:sp>
      <p:sp>
        <p:nvSpPr>
          <p:cNvPr id="23" name="Text 21"/>
          <p:cNvSpPr/>
          <p:nvPr/>
        </p:nvSpPr>
        <p:spPr>
          <a:xfrm>
            <a:off x="8966200" y="3639820"/>
            <a:ext cx="24853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Sans" pitchFamily="34" charset="0"/>
                <a:ea typeface="IBM Plex Sans" pitchFamily="34" charset="-122"/>
                <a:cs typeface="IBM Plex Sans" pitchFamily="34" charset="-120"/>
              </a:rPr>
              <a:t>McKinsey QTM 2026</a:t>
            </a:r>
            <a:endParaRPr lang="en-US" sz="1200" dirty="0"/>
          </a:p>
        </p:txBody>
      </p:sp>
      <p:sp>
        <p:nvSpPr>
          <p:cNvPr id="24" name="Shape 22"/>
          <p:cNvSpPr/>
          <p:nvPr/>
        </p:nvSpPr>
        <p:spPr>
          <a:xfrm>
            <a:off x="812800" y="4157980"/>
            <a:ext cx="10566400" cy="711200"/>
          </a:xfrm>
          <a:prstGeom prst="rect">
            <a:avLst/>
          </a:prstGeom>
          <a:solidFill>
            <a:srgbClr val="ECE7DC"/>
          </a:solidFill>
          <a:ln/>
        </p:spPr>
      </p:sp>
      <p:sp>
        <p:nvSpPr>
          <p:cNvPr id="25" name="Text 23"/>
          <p:cNvSpPr/>
          <p:nvPr/>
        </p:nvSpPr>
        <p:spPr>
          <a:xfrm>
            <a:off x="1041400" y="4335780"/>
            <a:ext cx="1038701"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C83A2A"/>
                </a:solidFill>
                <a:latin typeface="IBM Plex Sans" pitchFamily="34" charset="0"/>
                <a:ea typeface="IBM Plex Sans" pitchFamily="34" charset="-122"/>
                <a:cs typeface="IBM Plex Sans" pitchFamily="34" charset="-120"/>
              </a:rPr>
              <a:t>$7.6B</a:t>
            </a:r>
            <a:endParaRPr lang="en-US" sz="2800" dirty="0"/>
          </a:p>
        </p:txBody>
      </p:sp>
      <p:sp>
        <p:nvSpPr>
          <p:cNvPr id="26" name="Text 24"/>
          <p:cNvSpPr/>
          <p:nvPr/>
        </p:nvSpPr>
        <p:spPr>
          <a:xfrm>
            <a:off x="2232501" y="4389120"/>
            <a:ext cx="882975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717"/>
                </a:solidFill>
                <a:latin typeface="IBM Plex Sans" pitchFamily="34" charset="0"/>
                <a:ea typeface="IBM Plex Sans" pitchFamily="34" charset="-122"/>
                <a:cs typeface="IBM Plex Sans" pitchFamily="34" charset="-120"/>
              </a:rPr>
              <a:t>India’s losses to floods and storms in 2021 alone, second-highest in Asia </a:t>
            </a:r>
            <a:r>
              <a:rPr lang="en-US" sz="1400" dirty="0">
                <a:solidFill>
                  <a:srgbClr val="5A5A5A"/>
                </a:solidFill>
                <a:latin typeface="IBM Plex Sans" pitchFamily="34" charset="0"/>
                <a:ea typeface="IBM Plex Sans" pitchFamily="34" charset="-122"/>
                <a:cs typeface="IBM Plex Sans" pitchFamily="34" charset="-120"/>
              </a:rPr>
              <a:t>(WMO State of the Climate in Asia)</a:t>
            </a:r>
            <a:endParaRPr lang="en-US" sz="1400" dirty="0"/>
          </a:p>
        </p:txBody>
      </p:sp>
      <p:sp>
        <p:nvSpPr>
          <p:cNvPr id="27" name="Text 25"/>
          <p:cNvSpPr/>
          <p:nvPr/>
        </p:nvSpPr>
        <p:spPr>
          <a:xfrm>
            <a:off x="812800" y="6238239"/>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28" name="Text 26"/>
          <p:cNvSpPr/>
          <p:nvPr/>
        </p:nvSpPr>
        <p:spPr>
          <a:xfrm>
            <a:off x="9804400" y="6238239"/>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A5A"/>
                </a:solidFill>
                <a:latin typeface="IBM Plex Mono" pitchFamily="34" charset="0"/>
                <a:ea typeface="IBM Plex Mono" pitchFamily="34" charset="-122"/>
                <a:cs typeface="IBM Plex Mono" pitchFamily="34" charset="-120"/>
              </a:rPr>
              <a:t>04 / 15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4A12"/>
                </a:solidFill>
                <a:latin typeface="IBM Plex Mono" pitchFamily="34" charset="0"/>
                <a:ea typeface="IBM Plex Mono" pitchFamily="34" charset="-122"/>
                <a:cs typeface="IBM Plex Mono" pitchFamily="34" charset="-120"/>
              </a:rPr>
              <a:t>04 · Landscape</a:t>
            </a:r>
            <a:endParaRPr lang="en-US" sz="1200" dirty="0"/>
          </a:p>
        </p:txBody>
      </p:sp>
      <p:sp>
        <p:nvSpPr>
          <p:cNvPr id="3" name="Text 1"/>
          <p:cNvSpPr/>
          <p:nvPr/>
        </p:nvSpPr>
        <p:spPr>
          <a:xfrm>
            <a:off x="812800" y="11277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kern="0" spc="-50" dirty="0">
                <a:solidFill>
                  <a:srgbClr val="171717"/>
                </a:solidFill>
                <a:latin typeface="IBM Plex Sans" pitchFamily="34" charset="0"/>
                <a:ea typeface="IBM Plex Sans" pitchFamily="34" charset="-122"/>
                <a:cs typeface="IBM Plex Sans" pitchFamily="34" charset="-120"/>
              </a:rPr>
              <a:t>Forecasting is well served; response placement is not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61821"/>
          <a:ext cx="10556240" cy="2684780"/>
        </p:xfrm>
        <a:graphic>
          <a:graphicData uri="http://schemas.openxmlformats.org/drawingml/2006/table">
            <a:tbl>
              <a:tblPr/>
              <a:tblGrid>
                <a:gridCol w="3589122">
                  <a:extLst>
                    <a:ext uri="{9D8B030D-6E8A-4147-A177-3AD203B41FA5}">
                      <a16:colId xmlns:a16="http://schemas.microsoft.com/office/drawing/2014/main" val="20000"/>
                    </a:ext>
                  </a:extLst>
                </a:gridCol>
                <a:gridCol w="1688998">
                  <a:extLst>
                    <a:ext uri="{9D8B030D-6E8A-4147-A177-3AD203B41FA5}">
                      <a16:colId xmlns:a16="http://schemas.microsoft.com/office/drawing/2014/main" val="20001"/>
                    </a:ext>
                  </a:extLst>
                </a:gridCol>
                <a:gridCol w="1794561">
                  <a:extLst>
                    <a:ext uri="{9D8B030D-6E8A-4147-A177-3AD203B41FA5}">
                      <a16:colId xmlns:a16="http://schemas.microsoft.com/office/drawing/2014/main" val="20002"/>
                    </a:ext>
                  </a:extLst>
                </a:gridCol>
                <a:gridCol w="1688998">
                  <a:extLst>
                    <a:ext uri="{9D8B030D-6E8A-4147-A177-3AD203B41FA5}">
                      <a16:colId xmlns:a16="http://schemas.microsoft.com/office/drawing/2014/main" val="20003"/>
                    </a:ext>
                  </a:extLst>
                </a:gridCol>
                <a:gridCol w="1794561">
                  <a:extLst>
                    <a:ext uri="{9D8B030D-6E8A-4147-A177-3AD203B41FA5}">
                      <a16:colId xmlns:a16="http://schemas.microsoft.com/office/drawing/2014/main" val="20004"/>
                    </a:ext>
                  </a:extLst>
                </a:gridCol>
              </a:tblGrid>
              <a:tr h="383540">
                <a:tc>
                  <a:txBody>
                    <a:bodyPr/>
                    <a:lstStyle/>
                    <a:p>
                      <a:pPr marL="0" indent="0">
                        <a:lnSpc>
                          <a:spcPts val="1960"/>
                        </a:lnSpc>
                        <a:buNone/>
                      </a:pPr>
                      <a:r>
                        <a:rPr lang="en-US" sz="1400" b="1" dirty="0">
                          <a:solidFill>
                            <a:srgbClr val="171717"/>
                          </a:solidFill>
                          <a:latin typeface="IBM Plex Sans" pitchFamily="34" charset="0"/>
                          <a:ea typeface="IBM Plex Sans" pitchFamily="34" charset="-122"/>
                          <a:cs typeface="IBM Plex Sans" pitchFamily="34" charset="-120"/>
                        </a:rPr>
                        <a:t>Approach</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marL="0" indent="0">
                        <a:lnSpc>
                          <a:spcPts val="1960"/>
                        </a:lnSpc>
                        <a:buNone/>
                      </a:pPr>
                      <a:r>
                        <a:rPr lang="en-US" sz="1400" b="1" dirty="0">
                          <a:solidFill>
                            <a:srgbClr val="171717"/>
                          </a:solidFill>
                          <a:latin typeface="IBM Plex Sans" pitchFamily="34" charset="0"/>
                          <a:ea typeface="IBM Plex Sans" pitchFamily="34" charset="-122"/>
                          <a:cs typeface="IBM Plex Sans" pitchFamily="34" charset="-120"/>
                        </a:rPr>
                        <a:t>Forecasts risk</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marL="0" indent="0">
                        <a:lnSpc>
                          <a:spcPts val="1960"/>
                        </a:lnSpc>
                        <a:buNone/>
                      </a:pPr>
                      <a:r>
                        <a:rPr lang="en-US" sz="1400" b="1" dirty="0">
                          <a:solidFill>
                            <a:srgbClr val="171717"/>
                          </a:solidFill>
                          <a:latin typeface="IBM Plex Sans" pitchFamily="34" charset="0"/>
                          <a:ea typeface="IBM Plex Sans" pitchFamily="34" charset="-122"/>
                          <a:cs typeface="IBM Plex Sans" pitchFamily="34" charset="-120"/>
                        </a:rPr>
                        <a:t>Plans placement</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marL="0" indent="0">
                        <a:lnSpc>
                          <a:spcPts val="1960"/>
                        </a:lnSpc>
                        <a:buNone/>
                      </a:pPr>
                      <a:r>
                        <a:rPr lang="en-US" sz="1400" b="1" dirty="0">
                          <a:solidFill>
                            <a:srgbClr val="171717"/>
                          </a:solidFill>
                          <a:latin typeface="IBM Plex Sans" pitchFamily="34" charset="0"/>
                          <a:ea typeface="IBM Plex Sans" pitchFamily="34" charset="-122"/>
                          <a:cs typeface="IBM Plex Sans" pitchFamily="34" charset="-120"/>
                        </a:rPr>
                        <a:t>Re-plans live</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marL="0" indent="0">
                        <a:lnSpc>
                          <a:spcPts val="1960"/>
                        </a:lnSpc>
                        <a:buNone/>
                      </a:pPr>
                      <a:r>
                        <a:rPr lang="en-US" sz="1400" b="1" dirty="0">
                          <a:solidFill>
                            <a:srgbClr val="171717"/>
                          </a:solidFill>
                          <a:latin typeface="IBM Plex Sans" pitchFamily="34" charset="0"/>
                          <a:ea typeface="IBM Plex Sans" pitchFamily="34" charset="-122"/>
                          <a:cs typeface="IBM Plex Sans" pitchFamily="34" charset="-120"/>
                        </a:rPr>
                        <a:t>Uses quantum</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71717"/>
                          </a:solidFill>
                          <a:latin typeface="IBM Plex Sans" pitchFamily="34" charset="0"/>
                          <a:ea typeface="IBM Plex Sans" pitchFamily="34" charset="-122"/>
                          <a:cs typeface="IBM Plex Sans" pitchFamily="34" charset="-120"/>
                        </a:rPr>
                        <a:t>Google Flood Hub</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4F7658"/>
                          </a:solidFill>
                          <a:latin typeface="IBM Plex Sans" pitchFamily="34" charset="0"/>
                          <a:ea typeface="IBM Plex Sans" pitchFamily="34" charset="-122"/>
                          <a:cs typeface="IBM Plex Sans" pitchFamily="34" charset="-120"/>
                        </a:rPr>
                        <a:t>Yes, 7-day</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5A5A5A"/>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5A5A5A"/>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5A5A5A"/>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71717"/>
                          </a:solidFill>
                          <a:latin typeface="IBM Plex Sans" pitchFamily="34" charset="0"/>
                          <a:ea typeface="IBM Plex Sans" pitchFamily="34" charset="-122"/>
                          <a:cs typeface="IBM Plex Sans" pitchFamily="34" charset="-120"/>
                        </a:rPr>
                        <a:t>CWC / IMD forecasts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4F7658"/>
                          </a:solidFill>
                          <a:latin typeface="IBM Plex Sans" pitchFamily="34" charset="0"/>
                          <a:ea typeface="IBM Plex Sans" pitchFamily="34" charset="-122"/>
                          <a:cs typeface="IBM Plex Sans" pitchFamily="34" charset="-120"/>
                        </a:rPr>
                        <a:t>Yes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5A5A5A"/>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5A5A5A"/>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5A5A5A"/>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71717"/>
                          </a:solidFill>
                          <a:latin typeface="IBM Plex Sans" pitchFamily="34" charset="0"/>
                          <a:ea typeface="IBM Plex Sans" pitchFamily="34" charset="-122"/>
                          <a:cs typeface="IBM Plex Sans" pitchFamily="34" charset="-120"/>
                        </a:rPr>
                        <a:t>Manual control-room planning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5A5A5A"/>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4F7658"/>
                          </a:solidFill>
                          <a:latin typeface="IBM Plex Sans" pitchFamily="34" charset="0"/>
                          <a:ea typeface="IBM Plex Sans" pitchFamily="34" charset="-122"/>
                          <a:cs typeface="IBM Plex Sans" pitchFamily="34" charset="-120"/>
                        </a:rPr>
                        <a:t>Yes, by hand</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B04A12"/>
                          </a:solidFill>
                          <a:latin typeface="IBM Plex Sans" pitchFamily="34" charset="0"/>
                          <a:ea typeface="IBM Plex Sans" pitchFamily="34" charset="-122"/>
                          <a:cs typeface="IBM Plex Sans" pitchFamily="34" charset="-120"/>
                        </a:rPr>
                        <a:t>Partial</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5A5A5A"/>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71717"/>
                          </a:solidFill>
                          <a:latin typeface="IBM Plex Sans" pitchFamily="34" charset="0"/>
                          <a:ea typeface="IBM Plex Sans" pitchFamily="34" charset="-122"/>
                          <a:cs typeface="IBM Plex Sans" pitchFamily="34" charset="-120"/>
                        </a:rPr>
                        <a:t>Classical MILP solvers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5A5A5A"/>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4F7658"/>
                          </a:solidFill>
                          <a:latin typeface="IBM Plex Sans" pitchFamily="34" charset="0"/>
                          <a:ea typeface="IBM Plex Sans" pitchFamily="34" charset="-122"/>
                          <a:cs typeface="IBM Plex Sans" pitchFamily="34" charset="-120"/>
                        </a:rPr>
                        <a:t>Yes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B04A12"/>
                          </a:solidFill>
                          <a:latin typeface="IBM Plex Sans" pitchFamily="34" charset="0"/>
                          <a:ea typeface="IBM Plex Sans" pitchFamily="34" charset="-122"/>
                          <a:cs typeface="IBM Plex Sans" pitchFamily="34" charset="-120"/>
                        </a:rPr>
                        <a:t>Partial</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5A5A5A"/>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71717"/>
                          </a:solidFill>
                          <a:latin typeface="IBM Plex Sans" pitchFamily="34" charset="0"/>
                          <a:ea typeface="IBM Plex Sans" pitchFamily="34" charset="-122"/>
                          <a:cs typeface="IBM Plex Sans" pitchFamily="34" charset="-120"/>
                        </a:rPr>
                        <a:t>NQCC × Mind Foundry PoC (UK)</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5A5A5A"/>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4F7658"/>
                          </a:solidFill>
                          <a:latin typeface="IBM Plex Sans" pitchFamily="34" charset="0"/>
                          <a:ea typeface="IBM Plex Sans" pitchFamily="34" charset="-122"/>
                          <a:cs typeface="IBM Plex Sans" pitchFamily="34" charset="-120"/>
                        </a:rPr>
                        <a:t>Yes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5A5A5A"/>
                          </a:solidFill>
                          <a:latin typeface="IBM Plex Sans" pitchFamily="34" charset="0"/>
                          <a:ea typeface="IBM Plex Sans" pitchFamily="34" charset="-122"/>
                          <a:cs typeface="IBM Plex Sans" pitchFamily="34" charset="-120"/>
                        </a:rPr>
                        <a:t>Not reported</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4F7658"/>
                          </a:solidFill>
                          <a:latin typeface="IBM Plex Sans" pitchFamily="34" charset="0"/>
                          <a:ea typeface="IBM Plex Sans" pitchFamily="34" charset="-122"/>
                          <a:cs typeface="IBM Plex Sans" pitchFamily="34" charset="-120"/>
                        </a:rPr>
                        <a:t>Yes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171717"/>
                          </a:solidFill>
                          <a:latin typeface="IBM Plex Sans" pitchFamily="34" charset="0"/>
                          <a:ea typeface="IBM Plex Sans" pitchFamily="34" charset="-122"/>
                          <a:cs typeface="IBM Plex Sans" pitchFamily="34" charset="-120"/>
                        </a:rPr>
                        <a:t>This project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2B0A0"/>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2B0A0"/>
                      </a:solidFill>
                      <a:prstDash val="solid"/>
                      <a:round/>
                      <a:headEnd type="none" w="med" len="med"/>
                      <a:tailEnd type="none" w="med" len="med"/>
                    </a:lnB>
                    <a:solidFill>
                      <a:srgbClr val="F3DCC8"/>
                    </a:solidFill>
                  </a:tcPr>
                </a:tc>
                <a:tc>
                  <a:txBody>
                    <a:bodyPr/>
                    <a:lstStyle/>
                    <a:p>
                      <a:pPr marL="0" indent="0">
                        <a:lnSpc>
                          <a:spcPts val="1960"/>
                        </a:lnSpc>
                        <a:buNone/>
                      </a:pPr>
                      <a:r>
                        <a:rPr lang="en-US" sz="1400" dirty="0">
                          <a:solidFill>
                            <a:srgbClr val="4F7658"/>
                          </a:solidFill>
                          <a:latin typeface="IBM Plex Sans" pitchFamily="34" charset="0"/>
                          <a:ea typeface="IBM Plex Sans" pitchFamily="34" charset="-122"/>
                          <a:cs typeface="IBM Plex Sans" pitchFamily="34" charset="-120"/>
                        </a:rPr>
                        <a:t>Yes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2B0A0"/>
                      </a:solidFill>
                      <a:prstDash val="solid"/>
                      <a:round/>
                      <a:headEnd type="none" w="med" len="med"/>
                      <a:tailEnd type="none" w="med" len="med"/>
                    </a:lnL>
                    <a:lnR w="12700" cap="flat" cmpd="sng" algn="ctr">
                      <a:solidFill>
                        <a:srgbClr val="C2B0A0"/>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2B0A0"/>
                      </a:solidFill>
                      <a:prstDash val="solid"/>
                      <a:round/>
                      <a:headEnd type="none" w="med" len="med"/>
                      <a:tailEnd type="none" w="med" len="med"/>
                    </a:lnB>
                    <a:solidFill>
                      <a:srgbClr val="F3DCC8"/>
                    </a:solidFill>
                  </a:tcPr>
                </a:tc>
                <a:tc>
                  <a:txBody>
                    <a:bodyPr/>
                    <a:lstStyle/>
                    <a:p>
                      <a:pPr marL="0" indent="0">
                        <a:lnSpc>
                          <a:spcPts val="1960"/>
                        </a:lnSpc>
                        <a:buNone/>
                      </a:pPr>
                      <a:r>
                        <a:rPr lang="en-US" sz="1400" dirty="0">
                          <a:solidFill>
                            <a:srgbClr val="4F7658"/>
                          </a:solidFill>
                          <a:latin typeface="IBM Plex Sans" pitchFamily="34" charset="0"/>
                          <a:ea typeface="IBM Plex Sans" pitchFamily="34" charset="-122"/>
                          <a:cs typeface="IBM Plex Sans" pitchFamily="34" charset="-120"/>
                        </a:rPr>
                        <a:t>Yes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2B0A0"/>
                      </a:solidFill>
                      <a:prstDash val="solid"/>
                      <a:round/>
                      <a:headEnd type="none" w="med" len="med"/>
                      <a:tailEnd type="none" w="med" len="med"/>
                    </a:lnL>
                    <a:lnR w="12700" cap="flat" cmpd="sng" algn="ctr">
                      <a:solidFill>
                        <a:srgbClr val="C2B0A0"/>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2B0A0"/>
                      </a:solidFill>
                      <a:prstDash val="solid"/>
                      <a:round/>
                      <a:headEnd type="none" w="med" len="med"/>
                      <a:tailEnd type="none" w="med" len="med"/>
                    </a:lnB>
                    <a:solidFill>
                      <a:srgbClr val="F3DCC8"/>
                    </a:solidFill>
                  </a:tcPr>
                </a:tc>
                <a:tc>
                  <a:txBody>
                    <a:bodyPr/>
                    <a:lstStyle/>
                    <a:p>
                      <a:pPr marL="0" indent="0">
                        <a:lnSpc>
                          <a:spcPts val="1960"/>
                        </a:lnSpc>
                        <a:buNone/>
                      </a:pPr>
                      <a:r>
                        <a:rPr lang="en-US" sz="1400" dirty="0">
                          <a:solidFill>
                            <a:srgbClr val="4F7658"/>
                          </a:solidFill>
                          <a:latin typeface="IBM Plex Sans" pitchFamily="34" charset="0"/>
                          <a:ea typeface="IBM Plex Sans" pitchFamily="34" charset="-122"/>
                          <a:cs typeface="IBM Plex Sans" pitchFamily="34" charset="-120"/>
                        </a:rPr>
                        <a:t>Yes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2B0A0"/>
                      </a:solidFill>
                      <a:prstDash val="solid"/>
                      <a:round/>
                      <a:headEnd type="none" w="med" len="med"/>
                      <a:tailEnd type="none" w="med" len="med"/>
                    </a:lnL>
                    <a:lnR w="12700" cap="flat" cmpd="sng" algn="ctr">
                      <a:solidFill>
                        <a:srgbClr val="C2B0A0"/>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2B0A0"/>
                      </a:solidFill>
                      <a:prstDash val="solid"/>
                      <a:round/>
                      <a:headEnd type="none" w="med" len="med"/>
                      <a:tailEnd type="none" w="med" len="med"/>
                    </a:lnB>
                    <a:solidFill>
                      <a:srgbClr val="F3DCC8"/>
                    </a:solidFill>
                  </a:tcPr>
                </a:tc>
                <a:tc>
                  <a:txBody>
                    <a:bodyPr/>
                    <a:lstStyle/>
                    <a:p>
                      <a:pPr marL="0" indent="0">
                        <a:lnSpc>
                          <a:spcPts val="1960"/>
                        </a:lnSpc>
                        <a:buNone/>
                      </a:pPr>
                      <a:r>
                        <a:rPr lang="en-US" sz="1400" dirty="0">
                          <a:solidFill>
                            <a:srgbClr val="4F7658"/>
                          </a:solidFill>
                          <a:latin typeface="IBM Plex Sans" pitchFamily="34" charset="0"/>
                          <a:ea typeface="IBM Plex Sans" pitchFamily="34" charset="-122"/>
                          <a:cs typeface="IBM Plex Sans" pitchFamily="34" charset="-120"/>
                        </a:rPr>
                        <a:t>Yes, IBM QPU</a:t>
                      </a:r>
                      <a:endParaRPr lang="en-US" sz="1400" dirty="0">
                        <a:latin typeface="IBM Plex Sans" charset="0"/>
                        <a:ea typeface="IBM Plex Sans" charset="0"/>
                        <a:cs typeface="IBM Plex Sans" charset="0"/>
                      </a:endParaRPr>
                    </a:p>
                  </a:txBody>
                  <a:tcPr marL="62230" marR="62230" marT="62230" marB="62230">
                    <a:lnL w="12700" cap="flat" cmpd="sng" algn="ctr">
                      <a:solidFill>
                        <a:srgbClr val="C2B0A0"/>
                      </a:solidFill>
                      <a:prstDash val="solid"/>
                      <a:round/>
                      <a:headEnd type="none" w="med" len="med"/>
                      <a:tailEnd type="none" w="med" len="med"/>
                    </a:lnL>
                    <a:lnR w="12700" cap="flat" cmpd="sng" algn="ctr">
                      <a:solidFill>
                        <a:srgbClr val="C2B0A0"/>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2B0A0"/>
                      </a:solidFill>
                      <a:prstDash val="solid"/>
                      <a:round/>
                      <a:headEnd type="none" w="med" len="med"/>
                      <a:tailEnd type="none" w="med" len="med"/>
                    </a:lnB>
                    <a:solidFill>
                      <a:srgbClr val="F3DCC8"/>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4851400"/>
            <a:ext cx="9810750"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A5A5A"/>
                </a:solidFill>
                <a:latin typeface="IBM Plex Sans" pitchFamily="34" charset="0"/>
                <a:ea typeface="IBM Plex Sans" pitchFamily="34" charset="-122"/>
                <a:cs typeface="IBM Plex Sans" pitchFamily="34" charset="-120"/>
              </a:rPr>
              <a:t>Flood Hub covers 460M people in 80+ countries but stops at the forecast. The UK NQCC funded a quantum sensor-network PoC for disaster response in 2025, which validates the direction. We close the loop: risk → placement → re-placement.</a:t>
            </a:r>
            <a:endParaRPr lang="en-US" sz="1400" dirty="0"/>
          </a:p>
        </p:txBody>
      </p:sp>
      <p:sp>
        <p:nvSpPr>
          <p:cNvPr id="6" name="Text 3"/>
          <p:cNvSpPr/>
          <p:nvPr/>
        </p:nvSpPr>
        <p:spPr>
          <a:xfrm>
            <a:off x="812800" y="6238239"/>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7" name="Text 4"/>
          <p:cNvSpPr/>
          <p:nvPr/>
        </p:nvSpPr>
        <p:spPr>
          <a:xfrm>
            <a:off x="9804400" y="6238239"/>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A5A"/>
                </a:solidFill>
                <a:latin typeface="IBM Plex Mono" pitchFamily="34" charset="0"/>
                <a:ea typeface="IBM Plex Mono" pitchFamily="34" charset="-122"/>
                <a:cs typeface="IBM Plex Mono" pitchFamily="34" charset="-120"/>
              </a:rPr>
              <a:t>05 / 15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4A12"/>
                </a:solidFill>
                <a:latin typeface="IBM Plex Mono" pitchFamily="34" charset="0"/>
                <a:ea typeface="IBM Plex Mono" pitchFamily="34" charset="-122"/>
                <a:cs typeface="IBM Plex Mono" pitchFamily="34" charset="-120"/>
              </a:rPr>
              <a:t>05 · System</a:t>
            </a:r>
            <a:endParaRPr lang="en-US" sz="1200" dirty="0"/>
          </a:p>
        </p:txBody>
      </p:sp>
      <p:sp>
        <p:nvSpPr>
          <p:cNvPr id="3" name="Text 1"/>
          <p:cNvSpPr/>
          <p:nvPr/>
        </p:nvSpPr>
        <p:spPr>
          <a:xfrm>
            <a:off x="812800" y="11277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kern="0" spc="-50" dirty="0">
                <a:solidFill>
                  <a:srgbClr val="171717"/>
                </a:solidFill>
                <a:latin typeface="IBM Plex Sans" pitchFamily="34" charset="0"/>
                <a:ea typeface="IBM Plex Sans" pitchFamily="34" charset="-122"/>
                <a:cs typeface="IBM Plex Sans" pitchFamily="34" charset="-120"/>
              </a:rPr>
              <a:t>One pipeline from disaster map to deployed plan</a:t>
            </a:r>
            <a:endParaRPr lang="en-US" sz="3000" dirty="0"/>
          </a:p>
        </p:txBody>
      </p:sp>
      <p:sp>
        <p:nvSpPr>
          <p:cNvPr id="4" name="Shape 2"/>
          <p:cNvSpPr/>
          <p:nvPr/>
        </p:nvSpPr>
        <p:spPr>
          <a:xfrm>
            <a:off x="3787775" y="1854836"/>
            <a:ext cx="4591050" cy="2089150"/>
          </a:xfrm>
          <a:prstGeom prst="rect">
            <a:avLst/>
          </a:prstGeom>
          <a:noFill/>
          <a:ln w="6350">
            <a:solidFill>
              <a:srgbClr val="E56A1F"/>
            </a:solidFill>
            <a:prstDash val="dash"/>
          </a:ln>
        </p:spPr>
      </p:sp>
      <p:sp>
        <p:nvSpPr>
          <p:cNvPr id="5" name="Text 3"/>
          <p:cNvSpPr/>
          <p:nvPr/>
        </p:nvSpPr>
        <p:spPr>
          <a:xfrm>
            <a:off x="3886200" y="1902461"/>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4A12"/>
                </a:solidFill>
                <a:latin typeface="IBM Plex Mono" pitchFamily="34" charset="0"/>
                <a:ea typeface="IBM Plex Mono" pitchFamily="34" charset="-122"/>
                <a:cs typeface="IBM Plex Mono" pitchFamily="34" charset="-120"/>
              </a:rPr>
              <a:t>Quantum stages</a:t>
            </a:r>
            <a:endParaRPr lang="en-US" sz="1200" dirty="0"/>
          </a:p>
        </p:txBody>
      </p:sp>
      <p:sp>
        <p:nvSpPr>
          <p:cNvPr id="6" name="Shape 4"/>
          <p:cNvSpPr/>
          <p:nvPr/>
        </p:nvSpPr>
        <p:spPr>
          <a:xfrm>
            <a:off x="819150" y="2239011"/>
            <a:ext cx="1308100" cy="1574800"/>
          </a:xfrm>
          <a:prstGeom prst="rect">
            <a:avLst/>
          </a:prstGeom>
          <a:solidFill>
            <a:srgbClr val="F5F2EA"/>
          </a:solidFill>
          <a:ln w="12700">
            <a:solidFill>
              <a:srgbClr val="171717"/>
            </a:solidFill>
            <a:prstDash val="solid"/>
          </a:ln>
        </p:spPr>
      </p:sp>
      <p:sp>
        <p:nvSpPr>
          <p:cNvPr id="7" name="Text 5"/>
          <p:cNvSpPr/>
          <p:nvPr/>
        </p:nvSpPr>
        <p:spPr>
          <a:xfrm>
            <a:off x="924560" y="2357121"/>
            <a:ext cx="11480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01</a:t>
            </a:r>
            <a:endParaRPr lang="en-US" sz="1200" dirty="0"/>
          </a:p>
        </p:txBody>
      </p:sp>
      <p:sp>
        <p:nvSpPr>
          <p:cNvPr id="8" name="Text 6"/>
          <p:cNvSpPr/>
          <p:nvPr/>
        </p:nvSpPr>
        <p:spPr>
          <a:xfrm>
            <a:off x="924560" y="2633982"/>
            <a:ext cx="1148080" cy="215265"/>
          </a:xfrm>
          <a:prstGeom prst="rect">
            <a:avLst/>
          </a:prstGeom>
          <a:noFill/>
          <a:ln/>
        </p:spPr>
        <p:txBody>
          <a:bodyPr wrap="square" lIns="0" tIns="0" rIns="0" bIns="0" rtlCol="0" anchor="t">
            <a:normAutofit/>
          </a:bodyPr>
          <a:lstStyle/>
          <a:p>
            <a:pPr marL="0" indent="0" algn="l">
              <a:lnSpc>
                <a:spcPts val="1495"/>
              </a:lnSpc>
              <a:buNone/>
            </a:pPr>
            <a:r>
              <a:rPr lang="en-US" sz="1300" b="1" dirty="0">
                <a:solidFill>
                  <a:srgbClr val="171717"/>
                </a:solidFill>
                <a:latin typeface="IBM Plex Sans" pitchFamily="34" charset="0"/>
                <a:ea typeface="IBM Plex Sans" pitchFamily="34" charset="-122"/>
                <a:cs typeface="IBM Plex Sans" pitchFamily="34" charset="-120"/>
              </a:rPr>
              <a:t>Disaster map</a:t>
            </a:r>
            <a:endParaRPr lang="en-US" sz="1300" dirty="0"/>
          </a:p>
        </p:txBody>
      </p:sp>
      <p:sp>
        <p:nvSpPr>
          <p:cNvPr id="9" name="Text 7"/>
          <p:cNvSpPr/>
          <p:nvPr/>
        </p:nvSpPr>
        <p:spPr>
          <a:xfrm>
            <a:off x="924560" y="2887346"/>
            <a:ext cx="1148080"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5A5A"/>
                </a:solidFill>
                <a:latin typeface="IBM Plex Sans" pitchFamily="34" charset="0"/>
                <a:ea typeface="IBM Plex Sans" pitchFamily="34" charset="-122"/>
                <a:cs typeface="IBM Plex Sans" pitchFamily="34" charset="-120"/>
              </a:rPr>
              <a:t>IMD · SRTM · OSM</a:t>
            </a:r>
            <a:endParaRPr lang="en-US" sz="1200" dirty="0"/>
          </a:p>
        </p:txBody>
      </p:sp>
      <p:sp>
        <p:nvSpPr>
          <p:cNvPr id="10" name="Shape 8"/>
          <p:cNvSpPr/>
          <p:nvPr/>
        </p:nvSpPr>
        <p:spPr>
          <a:xfrm>
            <a:off x="2355850" y="2239011"/>
            <a:ext cx="1308100" cy="1574800"/>
          </a:xfrm>
          <a:prstGeom prst="rect">
            <a:avLst/>
          </a:prstGeom>
          <a:solidFill>
            <a:srgbClr val="F5F2EA"/>
          </a:solidFill>
          <a:ln w="12700">
            <a:solidFill>
              <a:srgbClr val="171717"/>
            </a:solidFill>
            <a:prstDash val="solid"/>
          </a:ln>
        </p:spPr>
      </p:sp>
      <p:sp>
        <p:nvSpPr>
          <p:cNvPr id="11" name="Text 9"/>
          <p:cNvSpPr/>
          <p:nvPr/>
        </p:nvSpPr>
        <p:spPr>
          <a:xfrm>
            <a:off x="2461260" y="2357121"/>
            <a:ext cx="11480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02</a:t>
            </a:r>
            <a:endParaRPr lang="en-US" sz="1200" dirty="0"/>
          </a:p>
        </p:txBody>
      </p:sp>
      <p:sp>
        <p:nvSpPr>
          <p:cNvPr id="12" name="Text 10"/>
          <p:cNvSpPr/>
          <p:nvPr/>
        </p:nvSpPr>
        <p:spPr>
          <a:xfrm>
            <a:off x="2461260" y="2633982"/>
            <a:ext cx="1148080" cy="215265"/>
          </a:xfrm>
          <a:prstGeom prst="rect">
            <a:avLst/>
          </a:prstGeom>
          <a:noFill/>
          <a:ln/>
        </p:spPr>
        <p:txBody>
          <a:bodyPr wrap="square" lIns="0" tIns="0" rIns="0" bIns="0" rtlCol="0" anchor="t">
            <a:normAutofit/>
          </a:bodyPr>
          <a:lstStyle/>
          <a:p>
            <a:pPr marL="0" indent="0" algn="l">
              <a:lnSpc>
                <a:spcPts val="1495"/>
              </a:lnSpc>
              <a:buNone/>
            </a:pPr>
            <a:r>
              <a:rPr lang="en-US" sz="1300" b="1" dirty="0">
                <a:solidFill>
                  <a:srgbClr val="171717"/>
                </a:solidFill>
                <a:latin typeface="IBM Plex Sans" pitchFamily="34" charset="0"/>
                <a:ea typeface="IBM Plex Sans" pitchFamily="34" charset="-122"/>
                <a:cs typeface="IBM Plex Sans" pitchFamily="34" charset="-120"/>
              </a:rPr>
              <a:t>Risk model</a:t>
            </a:r>
            <a:endParaRPr lang="en-US" sz="1300" dirty="0"/>
          </a:p>
        </p:txBody>
      </p:sp>
      <p:sp>
        <p:nvSpPr>
          <p:cNvPr id="13" name="Text 11"/>
          <p:cNvSpPr/>
          <p:nvPr/>
        </p:nvSpPr>
        <p:spPr>
          <a:xfrm>
            <a:off x="2461260" y="2887346"/>
            <a:ext cx="1148080"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5A5A"/>
                </a:solidFill>
                <a:latin typeface="IBM Plex Sans" pitchFamily="34" charset="0"/>
                <a:ea typeface="IBM Plex Sans" pitchFamily="34" charset="-122"/>
                <a:cs typeface="IBM Plex Sans" pitchFamily="34" charset="-120"/>
              </a:rPr>
              <a:t>XGBoost classifier</a:t>
            </a:r>
            <a:endParaRPr lang="en-US" sz="1200" dirty="0"/>
          </a:p>
        </p:txBody>
      </p:sp>
      <p:sp>
        <p:nvSpPr>
          <p:cNvPr id="14" name="Shape 12"/>
          <p:cNvSpPr/>
          <p:nvPr/>
        </p:nvSpPr>
        <p:spPr>
          <a:xfrm>
            <a:off x="3892550" y="2239011"/>
            <a:ext cx="1308100" cy="1574800"/>
          </a:xfrm>
          <a:prstGeom prst="rect">
            <a:avLst/>
          </a:prstGeom>
          <a:solidFill>
            <a:srgbClr val="F8E0CC"/>
          </a:solidFill>
          <a:ln w="12700">
            <a:solidFill>
              <a:srgbClr val="E56A1F"/>
            </a:solidFill>
            <a:prstDash val="solid"/>
          </a:ln>
        </p:spPr>
      </p:sp>
      <p:sp>
        <p:nvSpPr>
          <p:cNvPr id="15" name="Text 13"/>
          <p:cNvSpPr/>
          <p:nvPr/>
        </p:nvSpPr>
        <p:spPr>
          <a:xfrm>
            <a:off x="3997960" y="2357121"/>
            <a:ext cx="11480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4A12"/>
                </a:solidFill>
                <a:latin typeface="IBM Plex Mono" pitchFamily="34" charset="0"/>
                <a:ea typeface="IBM Plex Mono" pitchFamily="34" charset="-122"/>
                <a:cs typeface="IBM Plex Mono" pitchFamily="34" charset="-120"/>
              </a:rPr>
              <a:t>03</a:t>
            </a:r>
            <a:endParaRPr lang="en-US" sz="1200" dirty="0"/>
          </a:p>
        </p:txBody>
      </p:sp>
      <p:sp>
        <p:nvSpPr>
          <p:cNvPr id="16" name="Text 14"/>
          <p:cNvSpPr/>
          <p:nvPr/>
        </p:nvSpPr>
        <p:spPr>
          <a:xfrm>
            <a:off x="3997960" y="2633982"/>
            <a:ext cx="1148080" cy="215265"/>
          </a:xfrm>
          <a:prstGeom prst="rect">
            <a:avLst/>
          </a:prstGeom>
          <a:noFill/>
          <a:ln/>
        </p:spPr>
        <p:txBody>
          <a:bodyPr wrap="square" lIns="0" tIns="0" rIns="0" bIns="0" rtlCol="0" anchor="t">
            <a:normAutofit/>
          </a:bodyPr>
          <a:lstStyle/>
          <a:p>
            <a:pPr marL="0" indent="0" algn="l">
              <a:lnSpc>
                <a:spcPts val="1495"/>
              </a:lnSpc>
              <a:buNone/>
            </a:pPr>
            <a:r>
              <a:rPr lang="en-US" sz="1300" b="1" dirty="0">
                <a:solidFill>
                  <a:srgbClr val="171717"/>
                </a:solidFill>
                <a:latin typeface="IBM Plex Sans" pitchFamily="34" charset="0"/>
                <a:ea typeface="IBM Plex Sans" pitchFamily="34" charset="-122"/>
                <a:cs typeface="IBM Plex Sans" pitchFamily="34" charset="-120"/>
              </a:rPr>
              <a:t>QUBO</a:t>
            </a:r>
            <a:endParaRPr lang="en-US" sz="1300" dirty="0"/>
          </a:p>
        </p:txBody>
      </p:sp>
      <p:sp>
        <p:nvSpPr>
          <p:cNvPr id="17" name="Text 15"/>
          <p:cNvSpPr/>
          <p:nvPr/>
        </p:nvSpPr>
        <p:spPr>
          <a:xfrm>
            <a:off x="3997960" y="2887346"/>
            <a:ext cx="1148080"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5A5A"/>
                </a:solidFill>
                <a:latin typeface="IBM Plex Sans" pitchFamily="34" charset="0"/>
                <a:ea typeface="IBM Plex Sans" pitchFamily="34" charset="-122"/>
                <a:cs typeface="IBM Plex Sans" pitchFamily="34" charset="-120"/>
              </a:rPr>
              <a:t>Qiskit, Ising form</a:t>
            </a:r>
            <a:endParaRPr lang="en-US" sz="1200" dirty="0"/>
          </a:p>
        </p:txBody>
      </p:sp>
      <p:sp>
        <p:nvSpPr>
          <p:cNvPr id="18" name="Shape 16"/>
          <p:cNvSpPr/>
          <p:nvPr/>
        </p:nvSpPr>
        <p:spPr>
          <a:xfrm>
            <a:off x="5429250" y="2239011"/>
            <a:ext cx="1308100" cy="1574800"/>
          </a:xfrm>
          <a:prstGeom prst="rect">
            <a:avLst/>
          </a:prstGeom>
          <a:solidFill>
            <a:srgbClr val="F8E0CC"/>
          </a:solidFill>
          <a:ln w="12700">
            <a:solidFill>
              <a:srgbClr val="E56A1F"/>
            </a:solidFill>
            <a:prstDash val="solid"/>
          </a:ln>
        </p:spPr>
      </p:sp>
      <p:sp>
        <p:nvSpPr>
          <p:cNvPr id="19" name="Text 17"/>
          <p:cNvSpPr/>
          <p:nvPr/>
        </p:nvSpPr>
        <p:spPr>
          <a:xfrm>
            <a:off x="5534660" y="2357121"/>
            <a:ext cx="11480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4A12"/>
                </a:solidFill>
                <a:latin typeface="IBM Plex Mono" pitchFamily="34" charset="0"/>
                <a:ea typeface="IBM Plex Mono" pitchFamily="34" charset="-122"/>
                <a:cs typeface="IBM Plex Mono" pitchFamily="34" charset="-120"/>
              </a:rPr>
              <a:t>04</a:t>
            </a:r>
            <a:endParaRPr lang="en-US" sz="1200" dirty="0"/>
          </a:p>
        </p:txBody>
      </p:sp>
      <p:sp>
        <p:nvSpPr>
          <p:cNvPr id="20" name="Text 18"/>
          <p:cNvSpPr/>
          <p:nvPr/>
        </p:nvSpPr>
        <p:spPr>
          <a:xfrm>
            <a:off x="5534660" y="2633982"/>
            <a:ext cx="1148080" cy="215265"/>
          </a:xfrm>
          <a:prstGeom prst="rect">
            <a:avLst/>
          </a:prstGeom>
          <a:noFill/>
          <a:ln/>
        </p:spPr>
        <p:txBody>
          <a:bodyPr wrap="square" lIns="0" tIns="0" rIns="0" bIns="0" rtlCol="0" anchor="t">
            <a:normAutofit/>
          </a:bodyPr>
          <a:lstStyle/>
          <a:p>
            <a:pPr marL="0" indent="0" algn="l">
              <a:lnSpc>
                <a:spcPts val="1495"/>
              </a:lnSpc>
              <a:buNone/>
            </a:pPr>
            <a:r>
              <a:rPr lang="en-US" sz="1300" b="1" dirty="0">
                <a:solidFill>
                  <a:srgbClr val="171717"/>
                </a:solidFill>
                <a:latin typeface="IBM Plex Sans" pitchFamily="34" charset="0"/>
                <a:ea typeface="IBM Plex Sans" pitchFamily="34" charset="-122"/>
                <a:cs typeface="IBM Plex Sans" pitchFamily="34" charset="-120"/>
              </a:rPr>
              <a:t>QAOA circuit</a:t>
            </a:r>
            <a:endParaRPr lang="en-US" sz="1300" dirty="0"/>
          </a:p>
        </p:txBody>
      </p:sp>
      <p:sp>
        <p:nvSpPr>
          <p:cNvPr id="21" name="Text 19"/>
          <p:cNvSpPr/>
          <p:nvPr/>
        </p:nvSpPr>
        <p:spPr>
          <a:xfrm>
            <a:off x="5534660" y="2887346"/>
            <a:ext cx="1148080"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5A5A"/>
                </a:solidFill>
                <a:latin typeface="IBM Plex Sans" pitchFamily="34" charset="0"/>
                <a:ea typeface="IBM Plex Sans" pitchFamily="34" charset="-122"/>
                <a:cs typeface="IBM Plex Sans" pitchFamily="34" charset="-120"/>
              </a:rPr>
              <a:t>Qiskit, p = 1–2</a:t>
            </a:r>
            <a:endParaRPr lang="en-US" sz="1200" dirty="0"/>
          </a:p>
        </p:txBody>
      </p:sp>
      <p:sp>
        <p:nvSpPr>
          <p:cNvPr id="22" name="Shape 20"/>
          <p:cNvSpPr/>
          <p:nvPr/>
        </p:nvSpPr>
        <p:spPr>
          <a:xfrm>
            <a:off x="6965950" y="2239011"/>
            <a:ext cx="1308100" cy="1574800"/>
          </a:xfrm>
          <a:prstGeom prst="rect">
            <a:avLst/>
          </a:prstGeom>
          <a:solidFill>
            <a:srgbClr val="F8E0CC"/>
          </a:solidFill>
          <a:ln w="12700">
            <a:solidFill>
              <a:srgbClr val="E56A1F"/>
            </a:solidFill>
            <a:prstDash val="solid"/>
          </a:ln>
        </p:spPr>
      </p:sp>
      <p:sp>
        <p:nvSpPr>
          <p:cNvPr id="23" name="Text 21"/>
          <p:cNvSpPr/>
          <p:nvPr/>
        </p:nvSpPr>
        <p:spPr>
          <a:xfrm>
            <a:off x="7071360" y="2357121"/>
            <a:ext cx="11480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4A12"/>
                </a:solidFill>
                <a:latin typeface="IBM Plex Mono" pitchFamily="34" charset="0"/>
                <a:ea typeface="IBM Plex Mono" pitchFamily="34" charset="-122"/>
                <a:cs typeface="IBM Plex Mono" pitchFamily="34" charset="-120"/>
              </a:rPr>
              <a:t>05</a:t>
            </a:r>
            <a:endParaRPr lang="en-US" sz="1200" dirty="0"/>
          </a:p>
        </p:txBody>
      </p:sp>
      <p:sp>
        <p:nvSpPr>
          <p:cNvPr id="24" name="Text 22"/>
          <p:cNvSpPr/>
          <p:nvPr/>
        </p:nvSpPr>
        <p:spPr>
          <a:xfrm>
            <a:off x="7071360" y="2633982"/>
            <a:ext cx="1148080" cy="215265"/>
          </a:xfrm>
          <a:prstGeom prst="rect">
            <a:avLst/>
          </a:prstGeom>
          <a:noFill/>
          <a:ln/>
        </p:spPr>
        <p:txBody>
          <a:bodyPr wrap="square" lIns="0" tIns="0" rIns="0" bIns="0" rtlCol="0" anchor="t">
            <a:normAutofit/>
          </a:bodyPr>
          <a:lstStyle/>
          <a:p>
            <a:pPr marL="0" indent="0" algn="l">
              <a:lnSpc>
                <a:spcPts val="1495"/>
              </a:lnSpc>
              <a:buNone/>
            </a:pPr>
            <a:r>
              <a:rPr lang="en-US" sz="1300" b="1" dirty="0">
                <a:solidFill>
                  <a:srgbClr val="171717"/>
                </a:solidFill>
                <a:latin typeface="IBM Plex Sans" pitchFamily="34" charset="0"/>
                <a:ea typeface="IBM Plex Sans" pitchFamily="34" charset="-122"/>
                <a:cs typeface="IBM Plex Sans" pitchFamily="34" charset="-120"/>
              </a:rPr>
              <a:t>IBM QPU</a:t>
            </a:r>
            <a:endParaRPr lang="en-US" sz="1300" dirty="0"/>
          </a:p>
        </p:txBody>
      </p:sp>
      <p:sp>
        <p:nvSpPr>
          <p:cNvPr id="25" name="Text 23"/>
          <p:cNvSpPr/>
          <p:nvPr/>
        </p:nvSpPr>
        <p:spPr>
          <a:xfrm>
            <a:off x="7071360" y="2887346"/>
            <a:ext cx="1148080"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5A5A"/>
                </a:solidFill>
                <a:latin typeface="IBM Plex Sans" pitchFamily="34" charset="0"/>
                <a:ea typeface="IBM Plex Sans" pitchFamily="34" charset="-122"/>
                <a:cs typeface="IBM Plex Sans" pitchFamily="34" charset="-120"/>
              </a:rPr>
              <a:t>Heron · Runtime</a:t>
            </a:r>
            <a:endParaRPr lang="en-US" sz="1200" dirty="0"/>
          </a:p>
        </p:txBody>
      </p:sp>
      <p:sp>
        <p:nvSpPr>
          <p:cNvPr id="26" name="Shape 24"/>
          <p:cNvSpPr/>
          <p:nvPr/>
        </p:nvSpPr>
        <p:spPr>
          <a:xfrm>
            <a:off x="8502650" y="2239011"/>
            <a:ext cx="1308100" cy="1574800"/>
          </a:xfrm>
          <a:prstGeom prst="rect">
            <a:avLst/>
          </a:prstGeom>
          <a:solidFill>
            <a:srgbClr val="F5F2EA"/>
          </a:solidFill>
          <a:ln w="12700">
            <a:solidFill>
              <a:srgbClr val="171717"/>
            </a:solidFill>
            <a:prstDash val="solid"/>
          </a:ln>
        </p:spPr>
      </p:sp>
      <p:sp>
        <p:nvSpPr>
          <p:cNvPr id="27" name="Text 25"/>
          <p:cNvSpPr/>
          <p:nvPr/>
        </p:nvSpPr>
        <p:spPr>
          <a:xfrm>
            <a:off x="8608060" y="2357121"/>
            <a:ext cx="11480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06</a:t>
            </a:r>
            <a:endParaRPr lang="en-US" sz="1200" dirty="0"/>
          </a:p>
        </p:txBody>
      </p:sp>
      <p:sp>
        <p:nvSpPr>
          <p:cNvPr id="28" name="Text 26"/>
          <p:cNvSpPr/>
          <p:nvPr/>
        </p:nvSpPr>
        <p:spPr>
          <a:xfrm>
            <a:off x="8608060" y="2633982"/>
            <a:ext cx="1148080" cy="215265"/>
          </a:xfrm>
          <a:prstGeom prst="rect">
            <a:avLst/>
          </a:prstGeom>
          <a:noFill/>
          <a:ln/>
        </p:spPr>
        <p:txBody>
          <a:bodyPr wrap="square" lIns="0" tIns="0" rIns="0" bIns="0" rtlCol="0" anchor="t">
            <a:normAutofit/>
          </a:bodyPr>
          <a:lstStyle/>
          <a:p>
            <a:pPr marL="0" indent="0" algn="l">
              <a:lnSpc>
                <a:spcPts val="1495"/>
              </a:lnSpc>
              <a:buNone/>
            </a:pPr>
            <a:r>
              <a:rPr lang="en-US" sz="1300" b="1" dirty="0">
                <a:solidFill>
                  <a:srgbClr val="171717"/>
                </a:solidFill>
                <a:latin typeface="IBM Plex Sans" pitchFamily="34" charset="0"/>
                <a:ea typeface="IBM Plex Sans" pitchFamily="34" charset="-122"/>
                <a:cs typeface="IBM Plex Sans" pitchFamily="34" charset="-120"/>
              </a:rPr>
              <a:t>Placement</a:t>
            </a:r>
            <a:endParaRPr lang="en-US" sz="1300" dirty="0"/>
          </a:p>
        </p:txBody>
      </p:sp>
      <p:sp>
        <p:nvSpPr>
          <p:cNvPr id="29" name="Text 27"/>
          <p:cNvSpPr/>
          <p:nvPr/>
        </p:nvSpPr>
        <p:spPr>
          <a:xfrm>
            <a:off x="8608060" y="2887346"/>
            <a:ext cx="1148080"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5A5A"/>
                </a:solidFill>
                <a:latin typeface="IBM Plex Sans" pitchFamily="34" charset="0"/>
                <a:ea typeface="IBM Plex Sans" pitchFamily="34" charset="-122"/>
                <a:cs typeface="IBM Plex Sans" pitchFamily="34" charset="-120"/>
              </a:rPr>
              <a:t>Decoded bitstring</a:t>
            </a:r>
            <a:endParaRPr lang="en-US" sz="1200" dirty="0"/>
          </a:p>
        </p:txBody>
      </p:sp>
      <p:sp>
        <p:nvSpPr>
          <p:cNvPr id="30" name="Shape 28"/>
          <p:cNvSpPr/>
          <p:nvPr/>
        </p:nvSpPr>
        <p:spPr>
          <a:xfrm>
            <a:off x="10039350" y="2239011"/>
            <a:ext cx="1308100" cy="1574800"/>
          </a:xfrm>
          <a:prstGeom prst="rect">
            <a:avLst/>
          </a:prstGeom>
          <a:solidFill>
            <a:srgbClr val="F5F2EA"/>
          </a:solidFill>
          <a:ln w="12700">
            <a:solidFill>
              <a:srgbClr val="171717"/>
            </a:solidFill>
            <a:prstDash val="solid"/>
          </a:ln>
        </p:spPr>
      </p:sp>
      <p:sp>
        <p:nvSpPr>
          <p:cNvPr id="31" name="Text 29"/>
          <p:cNvSpPr/>
          <p:nvPr/>
        </p:nvSpPr>
        <p:spPr>
          <a:xfrm>
            <a:off x="10144760" y="2357121"/>
            <a:ext cx="11480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07</a:t>
            </a:r>
            <a:endParaRPr lang="en-US" sz="1200" dirty="0"/>
          </a:p>
        </p:txBody>
      </p:sp>
      <p:sp>
        <p:nvSpPr>
          <p:cNvPr id="32" name="Text 30"/>
          <p:cNvSpPr/>
          <p:nvPr/>
        </p:nvSpPr>
        <p:spPr>
          <a:xfrm>
            <a:off x="10144760" y="2633982"/>
            <a:ext cx="1148080" cy="215265"/>
          </a:xfrm>
          <a:prstGeom prst="rect">
            <a:avLst/>
          </a:prstGeom>
          <a:noFill/>
          <a:ln/>
        </p:spPr>
        <p:txBody>
          <a:bodyPr wrap="square" lIns="0" tIns="0" rIns="0" bIns="0" rtlCol="0" anchor="t">
            <a:normAutofit/>
          </a:bodyPr>
          <a:lstStyle/>
          <a:p>
            <a:pPr marL="0" indent="0" algn="l">
              <a:lnSpc>
                <a:spcPts val="1495"/>
              </a:lnSpc>
              <a:buNone/>
            </a:pPr>
            <a:r>
              <a:rPr lang="en-US" sz="1300" b="1" dirty="0">
                <a:solidFill>
                  <a:srgbClr val="171717"/>
                </a:solidFill>
                <a:latin typeface="IBM Plex Sans" pitchFamily="34" charset="0"/>
                <a:ea typeface="IBM Plex Sans" pitchFamily="34" charset="-122"/>
                <a:cs typeface="IBM Plex Sans" pitchFamily="34" charset="-120"/>
              </a:rPr>
              <a:t>Adaptation</a:t>
            </a:r>
            <a:endParaRPr lang="en-US" sz="1300" dirty="0"/>
          </a:p>
        </p:txBody>
      </p:sp>
      <p:sp>
        <p:nvSpPr>
          <p:cNvPr id="33" name="Text 31"/>
          <p:cNvSpPr/>
          <p:nvPr/>
        </p:nvSpPr>
        <p:spPr>
          <a:xfrm>
            <a:off x="10144760" y="2887346"/>
            <a:ext cx="1148080"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5A5A"/>
                </a:solidFill>
                <a:latin typeface="IBM Plex Sans" pitchFamily="34" charset="0"/>
                <a:ea typeface="IBM Plex Sans" pitchFamily="34" charset="-122"/>
                <a:cs typeface="IBM Plex Sans" pitchFamily="34" charset="-120"/>
              </a:rPr>
              <a:t>Event trigger</a:t>
            </a:r>
            <a:endParaRPr lang="en-US" sz="1200" dirty="0"/>
          </a:p>
        </p:txBody>
      </p:sp>
      <p:pic>
        <p:nvPicPr>
          <p:cNvPr id="34" name="Image 0" descr="connector"/>
          <p:cNvPicPr>
            <a:picLocks noChangeAspect="1"/>
          </p:cNvPicPr>
          <p:nvPr/>
        </p:nvPicPr>
        <p:blipFill>
          <a:blip r:embed="rId3"/>
          <a:srcRect/>
          <a:stretch/>
        </p:blipFill>
        <p:spPr>
          <a:xfrm>
            <a:off x="2108200" y="2988311"/>
            <a:ext cx="266700" cy="76200"/>
          </a:xfrm>
          <a:prstGeom prst="rect">
            <a:avLst/>
          </a:prstGeom>
        </p:spPr>
      </p:pic>
      <p:pic>
        <p:nvPicPr>
          <p:cNvPr id="35" name="Image 1" descr="connector"/>
          <p:cNvPicPr>
            <a:picLocks noChangeAspect="1"/>
          </p:cNvPicPr>
          <p:nvPr/>
        </p:nvPicPr>
        <p:blipFill>
          <a:blip r:embed="rId3"/>
          <a:srcRect/>
          <a:stretch/>
        </p:blipFill>
        <p:spPr>
          <a:xfrm>
            <a:off x="3644900" y="2988311"/>
            <a:ext cx="266700" cy="76200"/>
          </a:xfrm>
          <a:prstGeom prst="rect">
            <a:avLst/>
          </a:prstGeom>
        </p:spPr>
      </p:pic>
      <p:pic>
        <p:nvPicPr>
          <p:cNvPr id="36" name="Image 2" descr="connector"/>
          <p:cNvPicPr>
            <a:picLocks noChangeAspect="1"/>
          </p:cNvPicPr>
          <p:nvPr/>
        </p:nvPicPr>
        <p:blipFill>
          <a:blip r:embed="rId3"/>
          <a:srcRect/>
          <a:stretch/>
        </p:blipFill>
        <p:spPr>
          <a:xfrm>
            <a:off x="5181600" y="2988311"/>
            <a:ext cx="266700" cy="76200"/>
          </a:xfrm>
          <a:prstGeom prst="rect">
            <a:avLst/>
          </a:prstGeom>
        </p:spPr>
      </p:pic>
      <p:pic>
        <p:nvPicPr>
          <p:cNvPr id="37" name="Image 3" descr="connector"/>
          <p:cNvPicPr>
            <a:picLocks noChangeAspect="1"/>
          </p:cNvPicPr>
          <p:nvPr/>
        </p:nvPicPr>
        <p:blipFill>
          <a:blip r:embed="rId3"/>
          <a:srcRect/>
          <a:stretch/>
        </p:blipFill>
        <p:spPr>
          <a:xfrm>
            <a:off x="6718300" y="2988311"/>
            <a:ext cx="266700" cy="76200"/>
          </a:xfrm>
          <a:prstGeom prst="rect">
            <a:avLst/>
          </a:prstGeom>
        </p:spPr>
      </p:pic>
      <p:pic>
        <p:nvPicPr>
          <p:cNvPr id="38" name="Image 4" descr="connector"/>
          <p:cNvPicPr>
            <a:picLocks noChangeAspect="1"/>
          </p:cNvPicPr>
          <p:nvPr/>
        </p:nvPicPr>
        <p:blipFill>
          <a:blip r:embed="rId3"/>
          <a:srcRect/>
          <a:stretch/>
        </p:blipFill>
        <p:spPr>
          <a:xfrm>
            <a:off x="8255000" y="2988311"/>
            <a:ext cx="266700" cy="76200"/>
          </a:xfrm>
          <a:prstGeom prst="rect">
            <a:avLst/>
          </a:prstGeom>
        </p:spPr>
      </p:pic>
      <p:pic>
        <p:nvPicPr>
          <p:cNvPr id="39" name="Image 5" descr="connector"/>
          <p:cNvPicPr>
            <a:picLocks noChangeAspect="1"/>
          </p:cNvPicPr>
          <p:nvPr/>
        </p:nvPicPr>
        <p:blipFill>
          <a:blip r:embed="rId3"/>
          <a:srcRect/>
          <a:stretch/>
        </p:blipFill>
        <p:spPr>
          <a:xfrm>
            <a:off x="9791700" y="2988311"/>
            <a:ext cx="266700" cy="76200"/>
          </a:xfrm>
          <a:prstGeom prst="rect">
            <a:avLst/>
          </a:prstGeom>
        </p:spPr>
      </p:pic>
      <p:pic>
        <p:nvPicPr>
          <p:cNvPr id="40" name="Image 6" descr="Feedback loop from adaptation back to the risk model"/>
          <p:cNvPicPr>
            <a:picLocks noChangeAspect="1"/>
          </p:cNvPicPr>
          <p:nvPr/>
        </p:nvPicPr>
        <p:blipFill>
          <a:blip r:embed="rId4"/>
          <a:srcRect t="-235" b="-235"/>
          <a:stretch/>
        </p:blipFill>
        <p:spPr>
          <a:xfrm>
            <a:off x="812800" y="3820161"/>
            <a:ext cx="10566400" cy="508000"/>
          </a:xfrm>
          <a:prstGeom prst="rect">
            <a:avLst/>
          </a:prstGeom>
        </p:spPr>
      </p:pic>
      <p:sp>
        <p:nvSpPr>
          <p:cNvPr id="41" name="Text 32"/>
          <p:cNvSpPr/>
          <p:nvPr/>
        </p:nvSpPr>
        <p:spPr>
          <a:xfrm>
            <a:off x="3136900" y="4226561"/>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Sans" pitchFamily="34" charset="0"/>
                <a:ea typeface="IBM Plex Sans" pitchFamily="34" charset="-122"/>
                <a:cs typeface="IBM Plex Sans" pitchFamily="34" charset="-120"/>
              </a:rPr>
              <a:t>Re-run when rainfall, river level or road status crosses a threshold</a:t>
            </a:r>
            <a:endParaRPr lang="en-US" sz="1200" dirty="0"/>
          </a:p>
        </p:txBody>
      </p:sp>
      <p:sp>
        <p:nvSpPr>
          <p:cNvPr id="42" name="Text 33"/>
          <p:cNvSpPr/>
          <p:nvPr/>
        </p:nvSpPr>
        <p:spPr>
          <a:xfrm>
            <a:off x="812800" y="4886961"/>
            <a:ext cx="9156700"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1717"/>
                </a:solidFill>
                <a:latin typeface="IBM Plex Sans" pitchFamily="34" charset="0"/>
                <a:ea typeface="IBM Plex Sans" pitchFamily="34" charset="-122"/>
                <a:cs typeface="IBM Plex Sans" pitchFamily="34" charset="-120"/>
              </a:rPr>
              <a:t>Classical where classical is strong: forecasting. Quantum where the problem is combinatorial: choosing sites.</a:t>
            </a:r>
            <a:endParaRPr lang="en-US" sz="1600" dirty="0"/>
          </a:p>
        </p:txBody>
      </p:sp>
      <p:sp>
        <p:nvSpPr>
          <p:cNvPr id="43" name="Text 34"/>
          <p:cNvSpPr/>
          <p:nvPr/>
        </p:nvSpPr>
        <p:spPr>
          <a:xfrm>
            <a:off x="812800" y="6238239"/>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44" name="Text 35"/>
          <p:cNvSpPr/>
          <p:nvPr/>
        </p:nvSpPr>
        <p:spPr>
          <a:xfrm>
            <a:off x="9804400" y="6238239"/>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A5A"/>
                </a:solidFill>
                <a:latin typeface="IBM Plex Mono" pitchFamily="34" charset="0"/>
                <a:ea typeface="IBM Plex Mono" pitchFamily="34" charset="-122"/>
                <a:cs typeface="IBM Plex Mono" pitchFamily="34" charset="-120"/>
              </a:rPr>
              <a:t>06 / 15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20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4A12"/>
                </a:solidFill>
                <a:latin typeface="IBM Plex Mono" pitchFamily="34" charset="0"/>
                <a:ea typeface="IBM Plex Mono" pitchFamily="34" charset="-122"/>
                <a:cs typeface="IBM Plex Mono" pitchFamily="34" charset="-120"/>
              </a:rPr>
              <a:t>06 · Stage 1 — classical ML</a:t>
            </a:r>
            <a:endParaRPr lang="en-US" sz="1200" dirty="0"/>
          </a:p>
        </p:txBody>
      </p:sp>
      <p:sp>
        <p:nvSpPr>
          <p:cNvPr id="3" name="Text 1"/>
          <p:cNvSpPr/>
          <p:nvPr/>
        </p:nvSpPr>
        <p:spPr>
          <a:xfrm>
            <a:off x="812800" y="1127206"/>
            <a:ext cx="10883392" cy="443468"/>
          </a:xfrm>
          <a:prstGeom prst="rect">
            <a:avLst/>
          </a:prstGeom>
          <a:noFill/>
          <a:ln/>
        </p:spPr>
        <p:txBody>
          <a:bodyPr wrap="square" lIns="0" tIns="0" rIns="0" bIns="0" rtlCol="0" anchor="t">
            <a:normAutofit/>
          </a:bodyPr>
          <a:lstStyle/>
          <a:p>
            <a:pPr marL="0" indent="0" algn="l">
              <a:lnSpc>
                <a:spcPts val="3300"/>
              </a:lnSpc>
              <a:buNone/>
            </a:pPr>
            <a:r>
              <a:rPr lang="en-US" sz="3000" b="1" kern="0" spc="-50" dirty="0">
                <a:solidFill>
                  <a:srgbClr val="171717"/>
                </a:solidFill>
                <a:latin typeface="IBM Plex Sans" pitchFamily="34" charset="0"/>
                <a:ea typeface="IBM Plex Sans" pitchFamily="34" charset="-122"/>
                <a:cs typeface="IBM Plex Sans" pitchFamily="34" charset="-120"/>
              </a:rPr>
              <a:t>A risk score for every grid cell</a:t>
            </a:r>
            <a:endParaRPr lang="en-US" sz="3000" dirty="0"/>
          </a:p>
        </p:txBody>
      </p:sp>
      <p:sp>
        <p:nvSpPr>
          <p:cNvPr id="4" name="Text 2"/>
          <p:cNvSpPr/>
          <p:nvPr/>
        </p:nvSpPr>
        <p:spPr>
          <a:xfrm>
            <a:off x="812800" y="1850073"/>
            <a:ext cx="4866132" cy="2082800"/>
          </a:xfrm>
          <a:prstGeom prst="rect">
            <a:avLst/>
          </a:prstGeom>
          <a:noFill/>
          <a:ln/>
        </p:spPr>
        <p:txBody>
          <a:bodyPr wrap="square" lIns="0" tIns="0" rIns="0" bIns="0" rtlCol="0" anchor="t">
            <a:normAutofit/>
          </a:bodyPr>
          <a:lstStyle/>
          <a:p>
            <a:pPr marL="228600" indent="-182880" algn="l">
              <a:lnSpc>
                <a:spcPts val="2025"/>
              </a:lnSpc>
              <a:buSzPct val="100000"/>
              <a:buChar char="•"/>
            </a:pPr>
            <a:r>
              <a:rPr lang="en-US" sz="1500" b="1" dirty="0">
                <a:solidFill>
                  <a:srgbClr val="5A5A5A"/>
                </a:solidFill>
                <a:latin typeface="IBM Plex Sans" pitchFamily="34" charset="0"/>
                <a:ea typeface="IBM Plex Sans" pitchFamily="34" charset="-122"/>
                <a:cs typeface="IBM Plex Sans" pitchFamily="34" charset="-120"/>
              </a:rPr>
              <a:t>Inputs:</a:t>
            </a:r>
            <a:r>
              <a:rPr lang="en-US" sz="1500" dirty="0">
                <a:solidFill>
                  <a:srgbClr val="5A5A5A"/>
                </a:solidFill>
                <a:latin typeface="IBM Plex Sans" pitchFamily="34" charset="0"/>
                <a:ea typeface="IBM Plex Sans" pitchFamily="34" charset="-122"/>
                <a:cs typeface="IBM Plex Sans" pitchFamily="34" charset="-120"/>
              </a:rPr>
              <a:t> IMD gridded rainfall, SRTM elevation, river distance, land use</a:t>
            </a:r>
            <a:endParaRPr lang="en-US" sz="1500" dirty="0"/>
          </a:p>
          <a:p>
            <a:pPr marL="228600" indent="-182880" algn="l">
              <a:lnSpc>
                <a:spcPts val="2025"/>
              </a:lnSpc>
              <a:buSzPct val="100000"/>
              <a:buChar char="•"/>
            </a:pPr>
            <a:r>
              <a:rPr lang="en-US" sz="1500" b="1" dirty="0">
                <a:solidFill>
                  <a:srgbClr val="5A5A5A"/>
                </a:solidFill>
                <a:latin typeface="IBM Plex Sans" pitchFamily="34" charset="0"/>
                <a:ea typeface="IBM Plex Sans" pitchFamily="34" charset="-122"/>
                <a:cs typeface="IBM Plex Sans" pitchFamily="34" charset="-120"/>
              </a:rPr>
              <a:t>Labels:</a:t>
            </a:r>
            <a:r>
              <a:rPr lang="en-US" sz="1500" dirty="0">
                <a:solidFill>
                  <a:srgbClr val="5A5A5A"/>
                </a:solidFill>
                <a:latin typeface="IBM Plex Sans" pitchFamily="34" charset="0"/>
                <a:ea typeface="IBM Plex Sans" pitchFamily="34" charset="-122"/>
                <a:cs typeface="IBM Plex Sans" pitchFamily="34" charset="-120"/>
              </a:rPr>
              <a:t> Sentinel-1 flood extents from past events, incl. Sept 2024</a:t>
            </a:r>
            <a:endParaRPr lang="en-US" sz="1500" dirty="0"/>
          </a:p>
          <a:p>
            <a:pPr marL="228600" indent="-182880" algn="l">
              <a:lnSpc>
                <a:spcPts val="2025"/>
              </a:lnSpc>
              <a:buSzPct val="100000"/>
              <a:buChar char="•"/>
            </a:pPr>
            <a:r>
              <a:rPr lang="en-US" sz="1500" b="1" dirty="0">
                <a:solidFill>
                  <a:srgbClr val="5A5A5A"/>
                </a:solidFill>
                <a:latin typeface="IBM Plex Sans" pitchFamily="34" charset="0"/>
                <a:ea typeface="IBM Plex Sans" pitchFamily="34" charset="-122"/>
                <a:cs typeface="IBM Plex Sans" pitchFamily="34" charset="-120"/>
              </a:rPr>
              <a:t>Model:</a:t>
            </a:r>
            <a:r>
              <a:rPr lang="en-US" sz="1500" dirty="0">
                <a:solidFill>
                  <a:srgbClr val="5A5A5A"/>
                </a:solidFill>
                <a:latin typeface="IBM Plex Sans" pitchFamily="34" charset="0"/>
                <a:ea typeface="IBM Plex Sans" pitchFamily="34" charset="-122"/>
                <a:cs typeface="IBM Plex Sans" pitchFamily="34" charset="-120"/>
              </a:rPr>
              <a:t> gradient-boosted trees, 1 km cells, spatial cross-validation</a:t>
            </a:r>
            <a:endParaRPr lang="en-US" sz="1500" dirty="0"/>
          </a:p>
          <a:p>
            <a:pPr marL="228600" indent="-182880" algn="l">
              <a:lnSpc>
                <a:spcPts val="2025"/>
              </a:lnSpc>
              <a:buSzPct val="100000"/>
              <a:buChar char="•"/>
            </a:pPr>
            <a:r>
              <a:rPr lang="en-US" sz="1500" b="1" dirty="0">
                <a:solidFill>
                  <a:srgbClr val="5A5A5A"/>
                </a:solidFill>
                <a:latin typeface="IBM Plex Sans" pitchFamily="34" charset="0"/>
                <a:ea typeface="IBM Plex Sans" pitchFamily="34" charset="-122"/>
                <a:cs typeface="IBM Plex Sans" pitchFamily="34" charset="-120"/>
              </a:rPr>
              <a:t>Output:</a:t>
            </a:r>
            <a:r>
              <a:rPr lang="en-US" sz="1500" dirty="0">
                <a:solidFill>
                  <a:srgbClr val="5A5A5A"/>
                </a:solidFill>
                <a:latin typeface="IBM Plex Sans" pitchFamily="34" charset="0"/>
                <a:ea typeface="IBM Plex Sans" pitchFamily="34" charset="-122"/>
                <a:cs typeface="IBM Plex Sans" pitchFamily="34" charset="-120"/>
              </a:rPr>
              <a:t> risk × population = weight w_i per candidate site</a:t>
            </a:r>
            <a:endParaRPr lang="en-US" sz="1500" dirty="0"/>
          </a:p>
        </p:txBody>
      </p:sp>
      <p:sp>
        <p:nvSpPr>
          <p:cNvPr id="5" name="Shape 3"/>
          <p:cNvSpPr/>
          <p:nvPr/>
        </p:nvSpPr>
        <p:spPr>
          <a:xfrm>
            <a:off x="812800" y="4153852"/>
            <a:ext cx="177800" cy="177800"/>
          </a:xfrm>
          <a:prstGeom prst="rect">
            <a:avLst/>
          </a:prstGeom>
          <a:solidFill>
            <a:srgbClr val="F1DDC6"/>
          </a:solidFill>
          <a:ln/>
        </p:spPr>
      </p:sp>
      <p:sp>
        <p:nvSpPr>
          <p:cNvPr id="6" name="Text 4"/>
          <p:cNvSpPr/>
          <p:nvPr/>
        </p:nvSpPr>
        <p:spPr>
          <a:xfrm>
            <a:off x="1066800" y="4136073"/>
            <a:ext cx="32726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717"/>
                </a:solidFill>
                <a:latin typeface="IBM Plex Sans" pitchFamily="34" charset="0"/>
                <a:ea typeface="IBM Plex Sans" pitchFamily="34" charset="-122"/>
                <a:cs typeface="IBM Plex Sans" pitchFamily="34" charset="-120"/>
              </a:rPr>
              <a:t>Low</a:t>
            </a:r>
            <a:endParaRPr lang="en-US" sz="1200" dirty="0"/>
          </a:p>
        </p:txBody>
      </p:sp>
      <p:sp>
        <p:nvSpPr>
          <p:cNvPr id="7" name="Shape 5"/>
          <p:cNvSpPr/>
          <p:nvPr/>
        </p:nvSpPr>
        <p:spPr>
          <a:xfrm>
            <a:off x="1521063" y="4153852"/>
            <a:ext cx="177800" cy="177800"/>
          </a:xfrm>
          <a:prstGeom prst="rect">
            <a:avLst/>
          </a:prstGeom>
          <a:solidFill>
            <a:srgbClr val="EDB185"/>
          </a:solidFill>
          <a:ln/>
        </p:spPr>
      </p:sp>
      <p:sp>
        <p:nvSpPr>
          <p:cNvPr id="8" name="Text 6"/>
          <p:cNvSpPr/>
          <p:nvPr/>
        </p:nvSpPr>
        <p:spPr>
          <a:xfrm>
            <a:off x="1775063" y="4136073"/>
            <a:ext cx="70524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717"/>
                </a:solidFill>
                <a:latin typeface="IBM Plex Sans" pitchFamily="34" charset="0"/>
                <a:ea typeface="IBM Plex Sans" pitchFamily="34" charset="-122"/>
                <a:cs typeface="IBM Plex Sans" pitchFamily="34" charset="-120"/>
              </a:rPr>
              <a:t>Moderate</a:t>
            </a:r>
            <a:endParaRPr lang="en-US" sz="1200" dirty="0"/>
          </a:p>
        </p:txBody>
      </p:sp>
      <p:sp>
        <p:nvSpPr>
          <p:cNvPr id="9" name="Shape 7"/>
          <p:cNvSpPr/>
          <p:nvPr/>
        </p:nvSpPr>
        <p:spPr>
          <a:xfrm>
            <a:off x="2607310" y="4153852"/>
            <a:ext cx="177800" cy="177800"/>
          </a:xfrm>
          <a:prstGeom prst="rect">
            <a:avLst/>
          </a:prstGeom>
          <a:solidFill>
            <a:srgbClr val="E56A1F"/>
          </a:solidFill>
          <a:ln/>
        </p:spPr>
      </p:sp>
      <p:sp>
        <p:nvSpPr>
          <p:cNvPr id="10" name="Text 8"/>
          <p:cNvSpPr/>
          <p:nvPr/>
        </p:nvSpPr>
        <p:spPr>
          <a:xfrm>
            <a:off x="2861310" y="4136073"/>
            <a:ext cx="3636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717"/>
                </a:solidFill>
                <a:latin typeface="IBM Plex Sans" pitchFamily="34" charset="0"/>
                <a:ea typeface="IBM Plex Sans" pitchFamily="34" charset="-122"/>
                <a:cs typeface="IBM Plex Sans" pitchFamily="34" charset="-120"/>
              </a:rPr>
              <a:t>High</a:t>
            </a:r>
            <a:endParaRPr lang="en-US" sz="1200" dirty="0"/>
          </a:p>
        </p:txBody>
      </p:sp>
      <p:sp>
        <p:nvSpPr>
          <p:cNvPr id="11" name="Shape 9"/>
          <p:cNvSpPr/>
          <p:nvPr/>
        </p:nvSpPr>
        <p:spPr>
          <a:xfrm>
            <a:off x="3352006" y="4153852"/>
            <a:ext cx="177800" cy="177800"/>
          </a:xfrm>
          <a:prstGeom prst="rect">
            <a:avLst/>
          </a:prstGeom>
          <a:solidFill>
            <a:srgbClr val="C83A2A"/>
          </a:solidFill>
          <a:ln/>
        </p:spPr>
      </p:sp>
      <p:sp>
        <p:nvSpPr>
          <p:cNvPr id="12" name="Text 10"/>
          <p:cNvSpPr/>
          <p:nvPr/>
        </p:nvSpPr>
        <p:spPr>
          <a:xfrm>
            <a:off x="3606006" y="4136073"/>
            <a:ext cx="5180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717"/>
                </a:solidFill>
                <a:latin typeface="IBM Plex Sans" pitchFamily="34" charset="0"/>
                <a:ea typeface="IBM Plex Sans" pitchFamily="34" charset="-122"/>
                <a:cs typeface="IBM Plex Sans" pitchFamily="34" charset="-120"/>
              </a:rPr>
              <a:t>Severe</a:t>
            </a:r>
            <a:endParaRPr lang="en-US" sz="1200" dirty="0"/>
          </a:p>
        </p:txBody>
      </p:sp>
      <p:pic>
        <p:nvPicPr>
          <p:cNvPr id="13" name="Image 0" descr="Flood-risk heat map by grid cell around Vijayawada and the Krishna delta"/>
          <p:cNvPicPr>
            <a:picLocks noChangeAspect="1"/>
          </p:cNvPicPr>
          <p:nvPr/>
        </p:nvPicPr>
        <p:blipFill>
          <a:blip r:embed="rId3"/>
          <a:srcRect/>
          <a:stretch/>
        </p:blipFill>
        <p:spPr>
          <a:xfrm>
            <a:off x="6045200" y="1850073"/>
            <a:ext cx="5334000" cy="4000500"/>
          </a:xfrm>
          <a:prstGeom prst="rect">
            <a:avLst/>
          </a:prstGeom>
        </p:spPr>
      </p:pic>
      <p:sp>
        <p:nvSpPr>
          <p:cNvPr id="14" name="Text 11"/>
          <p:cNvSpPr/>
          <p:nvPr/>
        </p:nvSpPr>
        <p:spPr>
          <a:xfrm>
            <a:off x="8432800" y="3367723"/>
            <a:ext cx="1320800" cy="208280"/>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171717"/>
                </a:solidFill>
                <a:latin typeface="IBM Plex Sans" pitchFamily="34" charset="0"/>
                <a:ea typeface="IBM Plex Sans" pitchFamily="34" charset="-122"/>
                <a:cs typeface="IBM Plex Sans" pitchFamily="34" charset="-120"/>
              </a:rPr>
              <a:t>Vijayawada</a:t>
            </a:r>
            <a:endParaRPr lang="en-US" sz="1200" dirty="0"/>
          </a:p>
        </p:txBody>
      </p:sp>
      <p:sp>
        <p:nvSpPr>
          <p:cNvPr id="15" name="Text 12"/>
          <p:cNvSpPr/>
          <p:nvPr/>
        </p:nvSpPr>
        <p:spPr>
          <a:xfrm>
            <a:off x="10109200" y="5450523"/>
            <a:ext cx="132080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A5A5A"/>
                </a:solidFill>
                <a:latin typeface="IBM Plex Sans" pitchFamily="34" charset="0"/>
                <a:ea typeface="IBM Plex Sans" pitchFamily="34" charset="-122"/>
                <a:cs typeface="IBM Plex Sans" pitchFamily="34" charset="-120"/>
              </a:rPr>
              <a:t>Bay of Bengal</a:t>
            </a:r>
            <a:endParaRPr lang="en-US" sz="1200" dirty="0"/>
          </a:p>
        </p:txBody>
      </p:sp>
      <p:sp>
        <p:nvSpPr>
          <p:cNvPr id="16" name="Text 13"/>
          <p:cNvSpPr/>
          <p:nvPr/>
        </p:nvSpPr>
        <p:spPr>
          <a:xfrm>
            <a:off x="812800" y="6238239"/>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17" name="Text 14"/>
          <p:cNvSpPr/>
          <p:nvPr/>
        </p:nvSpPr>
        <p:spPr>
          <a:xfrm>
            <a:off x="9804400" y="6238239"/>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A5A"/>
                </a:solidFill>
                <a:latin typeface="IBM Plex Mono" pitchFamily="34" charset="0"/>
                <a:ea typeface="IBM Plex Mono" pitchFamily="34" charset="-122"/>
                <a:cs typeface="IBM Plex Mono" pitchFamily="34" charset="-120"/>
              </a:rPr>
              <a:t>07 / 15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4A12"/>
                </a:solidFill>
                <a:latin typeface="IBM Plex Mono" pitchFamily="34" charset="0"/>
                <a:ea typeface="IBM Plex Mono" pitchFamily="34" charset="-122"/>
                <a:cs typeface="IBM Plex Mono" pitchFamily="34" charset="-120"/>
              </a:rPr>
              <a:t>07 · Stage 2 — formulation</a:t>
            </a:r>
            <a:endParaRPr lang="en-US" sz="1200" dirty="0"/>
          </a:p>
        </p:txBody>
      </p:sp>
      <p:sp>
        <p:nvSpPr>
          <p:cNvPr id="3" name="Text 1"/>
          <p:cNvSpPr/>
          <p:nvPr/>
        </p:nvSpPr>
        <p:spPr>
          <a:xfrm>
            <a:off x="812800" y="11277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kern="0" spc="-50" dirty="0">
                <a:solidFill>
                  <a:srgbClr val="171717"/>
                </a:solidFill>
                <a:latin typeface="IBM Plex Sans" pitchFamily="34" charset="0"/>
                <a:ea typeface="IBM Plex Sans" pitchFamily="34" charset="-122"/>
                <a:cs typeface="IBM Plex Sans" pitchFamily="34" charset="-120"/>
              </a:rPr>
              <a:t>Placement becomes a QUBO: one qubit per candidate site</a:t>
            </a:r>
            <a:endParaRPr lang="en-US" sz="3000" dirty="0"/>
          </a:p>
        </p:txBody>
      </p:sp>
      <p:sp>
        <p:nvSpPr>
          <p:cNvPr id="4" name="Shape 2"/>
          <p:cNvSpPr/>
          <p:nvPr/>
        </p:nvSpPr>
        <p:spPr>
          <a:xfrm>
            <a:off x="812800" y="1851661"/>
            <a:ext cx="6096000" cy="1553210"/>
          </a:xfrm>
          <a:prstGeom prst="rect">
            <a:avLst/>
          </a:prstGeom>
          <a:solidFill>
            <a:srgbClr val="ECE7DC"/>
          </a:solidFill>
          <a:ln/>
        </p:spPr>
      </p:sp>
      <p:sp>
        <p:nvSpPr>
          <p:cNvPr id="5" name="Text 3"/>
          <p:cNvSpPr/>
          <p:nvPr/>
        </p:nvSpPr>
        <p:spPr>
          <a:xfrm>
            <a:off x="1041400" y="2054861"/>
            <a:ext cx="5807964"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171717"/>
                </a:solidFill>
                <a:latin typeface="IBM Plex Mono" pitchFamily="34" charset="0"/>
                <a:ea typeface="IBM Plex Mono" pitchFamily="34" charset="-122"/>
                <a:cs typeface="IBM Plex Mono" pitchFamily="34" charset="-120"/>
              </a:rPr>
              <a:t>min f(x) = − Σ w_i·x_i</a:t>
            </a:r>
            <a:endParaRPr lang="en-US" sz="1500" dirty="0"/>
          </a:p>
          <a:p>
            <a:pPr marL="0" indent="0" algn="l">
              <a:lnSpc>
                <a:spcPts val="2250"/>
              </a:lnSpc>
              <a:buNone/>
            </a:pPr>
            <a:r>
              <a:rPr lang="en-US" sz="1500" dirty="0">
                <a:solidFill>
                  <a:srgbClr val="171717"/>
                </a:solidFill>
                <a:latin typeface="IBM Plex Mono" pitchFamily="34" charset="0"/>
                <a:ea typeface="IBM Plex Mono" pitchFamily="34" charset="-122"/>
                <a:cs typeface="IBM Plex Mono" pitchFamily="34" charset="-120"/>
              </a:rPr>
              <a:t>          + λ1 Σ o_ij·x_i·x_j</a:t>
            </a:r>
            <a:endParaRPr lang="en-US" sz="1500" dirty="0"/>
          </a:p>
          <a:p>
            <a:pPr marL="0" indent="0" algn="l">
              <a:lnSpc>
                <a:spcPts val="2250"/>
              </a:lnSpc>
              <a:buNone/>
            </a:pPr>
            <a:r>
              <a:rPr lang="en-US" sz="1500" dirty="0">
                <a:solidFill>
                  <a:srgbClr val="171717"/>
                </a:solidFill>
                <a:latin typeface="IBM Plex Mono" pitchFamily="34" charset="0"/>
                <a:ea typeface="IBM Plex Mono" pitchFamily="34" charset="-122"/>
                <a:cs typeface="IBM Plex Mono" pitchFamily="34" charset="-120"/>
              </a:rPr>
              <a:t>          + λ2 (Σ x_i − k)²</a:t>
            </a:r>
            <a:endParaRPr lang="en-US" sz="1500" dirty="0"/>
          </a:p>
        </p:txBody>
      </p:sp>
      <p:sp>
        <p:nvSpPr>
          <p:cNvPr id="6" name="Text 4"/>
          <p:cNvSpPr/>
          <p:nvPr/>
        </p:nvSpPr>
        <p:spPr>
          <a:xfrm>
            <a:off x="1041400" y="2988311"/>
            <a:ext cx="580796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x_i ∈ {0,1} · x_i = (1 − z_i)/2 → Ising H_C</a:t>
            </a:r>
            <a:endParaRPr lang="en-US" sz="1200" dirty="0"/>
          </a:p>
        </p:txBody>
      </p:sp>
      <p:sp>
        <p:nvSpPr>
          <p:cNvPr id="7" name="Text 5"/>
          <p:cNvSpPr/>
          <p:nvPr/>
        </p:nvSpPr>
        <p:spPr>
          <a:xfrm>
            <a:off x="812800" y="3608071"/>
            <a:ext cx="6278880" cy="1054100"/>
          </a:xfrm>
          <a:prstGeom prst="rect">
            <a:avLst/>
          </a:prstGeom>
          <a:noFill/>
          <a:ln/>
        </p:spPr>
        <p:txBody>
          <a:bodyPr wrap="square" lIns="0" tIns="0" rIns="0" bIns="0" rtlCol="0" anchor="t">
            <a:normAutofit/>
          </a:bodyPr>
          <a:lstStyle/>
          <a:p>
            <a:pPr marL="228600" indent="-182880" algn="l">
              <a:lnSpc>
                <a:spcPts val="2025"/>
              </a:lnSpc>
              <a:buSzPct val="100000"/>
              <a:buChar char="•"/>
            </a:pPr>
            <a:r>
              <a:rPr lang="en-US" sz="1500" b="1" dirty="0">
                <a:solidFill>
                  <a:srgbClr val="5A5A5A"/>
                </a:solidFill>
                <a:latin typeface="IBM Plex Sans" pitchFamily="34" charset="0"/>
                <a:ea typeface="IBM Plex Sans" pitchFamily="34" charset="-122"/>
                <a:cs typeface="IBM Plex Sans" pitchFamily="34" charset="-120"/>
              </a:rPr>
              <a:t>w_i</a:t>
            </a:r>
            <a:r>
              <a:rPr lang="en-US" sz="1500" dirty="0">
                <a:solidFill>
                  <a:srgbClr val="5A5A5A"/>
                </a:solidFill>
                <a:latin typeface="IBM Plex Sans" pitchFamily="34" charset="0"/>
                <a:ea typeface="IBM Plex Sans" pitchFamily="34" charset="-122"/>
                <a:cs typeface="IBM Plex Sans" pitchFamily="34" charset="-120"/>
              </a:rPr>
              <a:t> risk-weighted population site i covers</a:t>
            </a:r>
            <a:endParaRPr lang="en-US" sz="1500" dirty="0"/>
          </a:p>
          <a:p>
            <a:pPr marL="228600" indent="-182880" algn="l">
              <a:lnSpc>
                <a:spcPts val="2025"/>
              </a:lnSpc>
              <a:buSzPct val="100000"/>
              <a:buChar char="•"/>
            </a:pPr>
            <a:r>
              <a:rPr lang="en-US" sz="1500" b="1" dirty="0">
                <a:solidFill>
                  <a:srgbClr val="5A5A5A"/>
                </a:solidFill>
                <a:latin typeface="IBM Plex Sans" pitchFamily="34" charset="0"/>
                <a:ea typeface="IBM Plex Sans" pitchFamily="34" charset="-122"/>
                <a:cs typeface="IBM Plex Sans" pitchFamily="34" charset="-120"/>
              </a:rPr>
              <a:t>o_ij</a:t>
            </a:r>
            <a:r>
              <a:rPr lang="en-US" sz="1500" dirty="0">
                <a:solidFill>
                  <a:srgbClr val="5A5A5A"/>
                </a:solidFill>
                <a:latin typeface="IBM Plex Sans" pitchFamily="34" charset="0"/>
                <a:ea typeface="IBM Plex Sans" pitchFamily="34" charset="-122"/>
                <a:cs typeface="IBM Plex Sans" pitchFamily="34" charset="-120"/>
              </a:rPr>
              <a:t> coverage overlap between sites i and j</a:t>
            </a:r>
            <a:endParaRPr lang="en-US" sz="1500" dirty="0"/>
          </a:p>
          <a:p>
            <a:pPr marL="228600" indent="-182880" algn="l">
              <a:lnSpc>
                <a:spcPts val="2025"/>
              </a:lnSpc>
              <a:buSzPct val="100000"/>
              <a:buChar char="•"/>
            </a:pPr>
            <a:r>
              <a:rPr lang="en-US" sz="1500" b="1" dirty="0">
                <a:solidFill>
                  <a:srgbClr val="5A5A5A"/>
                </a:solidFill>
                <a:latin typeface="IBM Plex Sans" pitchFamily="34" charset="0"/>
                <a:ea typeface="IBM Plex Sans" pitchFamily="34" charset="-122"/>
                <a:cs typeface="IBM Plex Sans" pitchFamily="34" charset="-120"/>
              </a:rPr>
              <a:t>k</a:t>
            </a:r>
            <a:r>
              <a:rPr lang="en-US" sz="1500" dirty="0">
                <a:solidFill>
                  <a:srgbClr val="5A5A5A"/>
                </a:solidFill>
                <a:latin typeface="IBM Plex Sans" pitchFamily="34" charset="0"/>
                <a:ea typeface="IBM Plex Sans" pitchFamily="34" charset="-122"/>
                <a:cs typeface="IBM Plex Sans" pitchFamily="34" charset="-120"/>
              </a:rPr>
              <a:t> sensors or teams available; λ tuned so k holds</a:t>
            </a:r>
            <a:endParaRPr lang="en-US" sz="1500" dirty="0"/>
          </a:p>
          <a:p>
            <a:pPr marL="228600" indent="-182880" algn="l">
              <a:lnSpc>
                <a:spcPts val="2025"/>
              </a:lnSpc>
              <a:buSzPct val="100000"/>
              <a:buChar char="•"/>
            </a:pPr>
            <a:r>
              <a:rPr lang="en-US" sz="1500" dirty="0">
                <a:solidFill>
                  <a:srgbClr val="5A5A5A"/>
                </a:solidFill>
                <a:latin typeface="IBM Plex Sans" pitchFamily="34" charset="0"/>
                <a:ea typeface="IBM Plex Sans" pitchFamily="34" charset="-122"/>
                <a:cs typeface="IBM Plex Sans" pitchFamily="34" charset="-120"/>
              </a:rPr>
              <a:t>Built with Qiskit Optimization; checked by exact solver</a:t>
            </a:r>
            <a:endParaRPr lang="en-US" sz="1500" dirty="0"/>
          </a:p>
        </p:txBody>
      </p:sp>
      <p:pic>
        <p:nvPicPr>
          <p:cNvPr id="8" name="Image 0" descr="10 by 10 QUBO matrix heat map: orange diagonal rewards, grey off-diagonal overlap and cardinality penalties"/>
          <p:cNvPicPr>
            <a:picLocks noChangeAspect="1"/>
          </p:cNvPicPr>
          <p:nvPr/>
        </p:nvPicPr>
        <p:blipFill>
          <a:blip r:embed="rId3"/>
          <a:srcRect/>
          <a:stretch/>
        </p:blipFill>
        <p:spPr>
          <a:xfrm>
            <a:off x="7518400" y="1851661"/>
            <a:ext cx="3302000" cy="3302000"/>
          </a:xfrm>
          <a:prstGeom prst="rect">
            <a:avLst/>
          </a:prstGeom>
        </p:spPr>
      </p:pic>
      <p:sp>
        <p:nvSpPr>
          <p:cNvPr id="9" name="Shape 6"/>
          <p:cNvSpPr/>
          <p:nvPr/>
        </p:nvSpPr>
        <p:spPr>
          <a:xfrm>
            <a:off x="7518400" y="5298442"/>
            <a:ext cx="177800" cy="177800"/>
          </a:xfrm>
          <a:prstGeom prst="rect">
            <a:avLst/>
          </a:prstGeom>
          <a:solidFill>
            <a:srgbClr val="E56A1F"/>
          </a:solidFill>
          <a:ln/>
        </p:spPr>
      </p:sp>
      <p:sp>
        <p:nvSpPr>
          <p:cNvPr id="10" name="Text 7"/>
          <p:cNvSpPr/>
          <p:nvPr/>
        </p:nvSpPr>
        <p:spPr>
          <a:xfrm>
            <a:off x="7772400" y="5280664"/>
            <a:ext cx="128968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717"/>
                </a:solidFill>
                <a:latin typeface="IBM Plex Sans" pitchFamily="34" charset="0"/>
                <a:ea typeface="IBM Plex Sans" pitchFamily="34" charset="-122"/>
                <a:cs typeface="IBM Plex Sans" pitchFamily="34" charset="-120"/>
              </a:rPr>
              <a:t>Reward (diagonal)</a:t>
            </a:r>
            <a:endParaRPr lang="en-US" sz="1200" dirty="0"/>
          </a:p>
        </p:txBody>
      </p:sp>
      <p:sp>
        <p:nvSpPr>
          <p:cNvPr id="11" name="Shape 8"/>
          <p:cNvSpPr/>
          <p:nvPr/>
        </p:nvSpPr>
        <p:spPr>
          <a:xfrm>
            <a:off x="9189085" y="5298442"/>
            <a:ext cx="177800" cy="177800"/>
          </a:xfrm>
          <a:prstGeom prst="rect">
            <a:avLst/>
          </a:prstGeom>
          <a:solidFill>
            <a:srgbClr val="4A4845"/>
          </a:solidFill>
          <a:ln/>
        </p:spPr>
      </p:sp>
      <p:sp>
        <p:nvSpPr>
          <p:cNvPr id="12" name="Text 9"/>
          <p:cNvSpPr/>
          <p:nvPr/>
        </p:nvSpPr>
        <p:spPr>
          <a:xfrm>
            <a:off x="9443085" y="5280664"/>
            <a:ext cx="5619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717"/>
                </a:solidFill>
                <a:latin typeface="IBM Plex Sans" pitchFamily="34" charset="0"/>
                <a:ea typeface="IBM Plex Sans" pitchFamily="34" charset="-122"/>
                <a:cs typeface="IBM Plex Sans" pitchFamily="34" charset="-120"/>
              </a:rPr>
              <a:t>Penalty</a:t>
            </a:r>
            <a:endParaRPr lang="en-US" sz="1200" dirty="0"/>
          </a:p>
        </p:txBody>
      </p:sp>
      <p:sp>
        <p:nvSpPr>
          <p:cNvPr id="13" name="Text 10"/>
          <p:cNvSpPr/>
          <p:nvPr/>
        </p:nvSpPr>
        <p:spPr>
          <a:xfrm>
            <a:off x="812800" y="6238242"/>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14" name="Text 11"/>
          <p:cNvSpPr/>
          <p:nvPr/>
        </p:nvSpPr>
        <p:spPr>
          <a:xfrm>
            <a:off x="9804400" y="6238242"/>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A5A"/>
                </a:solidFill>
                <a:latin typeface="IBM Plex Mono" pitchFamily="34" charset="0"/>
                <a:ea typeface="IBM Plex Mono" pitchFamily="34" charset="-122"/>
                <a:cs typeface="IBM Plex Mono" pitchFamily="34" charset="-120"/>
              </a:rPr>
              <a:t>08 / 15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4A12"/>
                </a:solidFill>
                <a:latin typeface="IBM Plex Mono" pitchFamily="34" charset="0"/>
                <a:ea typeface="IBM Plex Mono" pitchFamily="34" charset="-122"/>
                <a:cs typeface="IBM Plex Mono" pitchFamily="34" charset="-120"/>
              </a:rPr>
              <a:t>08 · Stage 3 — quantum</a:t>
            </a:r>
            <a:endParaRPr lang="en-US" sz="1200" dirty="0"/>
          </a:p>
        </p:txBody>
      </p:sp>
      <p:sp>
        <p:nvSpPr>
          <p:cNvPr id="3" name="Text 1"/>
          <p:cNvSpPr/>
          <p:nvPr/>
        </p:nvSpPr>
        <p:spPr>
          <a:xfrm>
            <a:off x="812800" y="11277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kern="0" spc="-50" dirty="0">
                <a:solidFill>
                  <a:srgbClr val="171717"/>
                </a:solidFill>
                <a:latin typeface="IBM Plex Sans" pitchFamily="34" charset="0"/>
                <a:ea typeface="IBM Plex Sans" pitchFamily="34" charset="-122"/>
                <a:cs typeface="IBM Plex Sans" pitchFamily="34" charset="-120"/>
              </a:rPr>
              <a:t>QAOA searches the placement space on the QPU</a:t>
            </a:r>
            <a:endParaRPr lang="en-US" sz="3000" dirty="0"/>
          </a:p>
        </p:txBody>
      </p:sp>
      <p:pic>
        <p:nvPicPr>
          <p:cNvPr id="4" name="Image 0" descr="QAOA circuit: Hadamards, cost layer of ZZ and Z rotations, mixer of X rotations, repeated p times, then measurement feeding a classical optimiser"/>
          <p:cNvPicPr>
            <a:picLocks noChangeAspect="1"/>
          </p:cNvPicPr>
          <p:nvPr/>
        </p:nvPicPr>
        <p:blipFill>
          <a:blip r:embed="rId3"/>
          <a:srcRect l="-43" r="-43"/>
          <a:stretch/>
        </p:blipFill>
        <p:spPr>
          <a:xfrm>
            <a:off x="812800" y="1851664"/>
            <a:ext cx="10566400" cy="2794000"/>
          </a:xfrm>
          <a:prstGeom prst="rect">
            <a:avLst/>
          </a:prstGeom>
        </p:spPr>
      </p:pic>
      <p:sp>
        <p:nvSpPr>
          <p:cNvPr id="5" name="Text 2"/>
          <p:cNvSpPr/>
          <p:nvPr/>
        </p:nvSpPr>
        <p:spPr>
          <a:xfrm>
            <a:off x="812800" y="2194564"/>
            <a:ext cx="558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q0</a:t>
            </a:r>
            <a:endParaRPr lang="en-US" sz="1200" dirty="0"/>
          </a:p>
        </p:txBody>
      </p:sp>
      <p:sp>
        <p:nvSpPr>
          <p:cNvPr id="6" name="Text 3"/>
          <p:cNvSpPr/>
          <p:nvPr/>
        </p:nvSpPr>
        <p:spPr>
          <a:xfrm>
            <a:off x="812800" y="2651764"/>
            <a:ext cx="558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q1</a:t>
            </a:r>
            <a:endParaRPr lang="en-US" sz="1200" dirty="0"/>
          </a:p>
        </p:txBody>
      </p:sp>
      <p:sp>
        <p:nvSpPr>
          <p:cNvPr id="7" name="Text 4"/>
          <p:cNvSpPr/>
          <p:nvPr/>
        </p:nvSpPr>
        <p:spPr>
          <a:xfrm>
            <a:off x="812800" y="3108964"/>
            <a:ext cx="558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q2</a:t>
            </a:r>
            <a:endParaRPr lang="en-US" sz="1200" dirty="0"/>
          </a:p>
        </p:txBody>
      </p:sp>
      <p:sp>
        <p:nvSpPr>
          <p:cNvPr id="8" name="Text 5"/>
          <p:cNvSpPr/>
          <p:nvPr/>
        </p:nvSpPr>
        <p:spPr>
          <a:xfrm>
            <a:off x="812800" y="3566164"/>
            <a:ext cx="558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q3</a:t>
            </a:r>
            <a:endParaRPr lang="en-US" sz="1200" dirty="0"/>
          </a:p>
        </p:txBody>
      </p:sp>
      <p:sp>
        <p:nvSpPr>
          <p:cNvPr id="9" name="Text 6"/>
          <p:cNvSpPr/>
          <p:nvPr/>
        </p:nvSpPr>
        <p:spPr>
          <a:xfrm>
            <a:off x="812800" y="4023364"/>
            <a:ext cx="558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q4</a:t>
            </a:r>
            <a:endParaRPr lang="en-US" sz="1200" dirty="0"/>
          </a:p>
        </p:txBody>
      </p:sp>
      <p:sp>
        <p:nvSpPr>
          <p:cNvPr id="10" name="Text 7"/>
          <p:cNvSpPr/>
          <p:nvPr/>
        </p:nvSpPr>
        <p:spPr>
          <a:xfrm>
            <a:off x="1765300" y="4378964"/>
            <a:ext cx="876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717"/>
                </a:solidFill>
                <a:latin typeface="IBM Plex Mono" pitchFamily="34" charset="0"/>
                <a:ea typeface="IBM Plex Mono" pitchFamily="34" charset="-122"/>
                <a:cs typeface="IBM Plex Mono" pitchFamily="34" charset="-120"/>
              </a:rPr>
              <a:t>Hadamard</a:t>
            </a:r>
            <a:endParaRPr lang="en-US" sz="1200" dirty="0"/>
          </a:p>
        </p:txBody>
      </p:sp>
      <p:sp>
        <p:nvSpPr>
          <p:cNvPr id="11" name="Text 8"/>
          <p:cNvSpPr/>
          <p:nvPr/>
        </p:nvSpPr>
        <p:spPr>
          <a:xfrm>
            <a:off x="2717800" y="4378964"/>
            <a:ext cx="23545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4A12"/>
                </a:solidFill>
                <a:latin typeface="IBM Plex Mono" pitchFamily="34" charset="0"/>
                <a:ea typeface="IBM Plex Mono" pitchFamily="34" charset="-122"/>
                <a:cs typeface="IBM Plex Mono" pitchFamily="34" charset="-120"/>
              </a:rPr>
              <a:t>Cost e^(−iγH_C)</a:t>
            </a:r>
            <a:endParaRPr lang="en-US" sz="1200" dirty="0"/>
          </a:p>
        </p:txBody>
      </p:sp>
      <p:sp>
        <p:nvSpPr>
          <p:cNvPr id="12" name="Text 9"/>
          <p:cNvSpPr/>
          <p:nvPr/>
        </p:nvSpPr>
        <p:spPr>
          <a:xfrm>
            <a:off x="5257800" y="4378964"/>
            <a:ext cx="19621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717"/>
                </a:solidFill>
                <a:latin typeface="IBM Plex Mono" pitchFamily="34" charset="0"/>
                <a:ea typeface="IBM Plex Mono" pitchFamily="34" charset="-122"/>
                <a:cs typeface="IBM Plex Mono" pitchFamily="34" charset="-120"/>
              </a:rPr>
              <a:t>Mixer e^(−iβH_B)</a:t>
            </a:r>
            <a:endParaRPr lang="en-US" sz="1200" dirty="0"/>
          </a:p>
        </p:txBody>
      </p:sp>
      <p:sp>
        <p:nvSpPr>
          <p:cNvPr id="13" name="Text 10"/>
          <p:cNvSpPr/>
          <p:nvPr/>
        </p:nvSpPr>
        <p:spPr>
          <a:xfrm>
            <a:off x="6845300" y="4378964"/>
            <a:ext cx="1320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717"/>
                </a:solidFill>
                <a:latin typeface="IBM Plex Mono" pitchFamily="34" charset="0"/>
                <a:ea typeface="IBM Plex Mono" pitchFamily="34" charset="-122"/>
                <a:cs typeface="IBM Plex Mono" pitchFamily="34" charset="-120"/>
              </a:rPr>
              <a:t>Measure</a:t>
            </a:r>
            <a:endParaRPr lang="en-US" sz="1200" dirty="0"/>
          </a:p>
        </p:txBody>
      </p:sp>
      <p:sp>
        <p:nvSpPr>
          <p:cNvPr id="14" name="Text 11"/>
          <p:cNvSpPr/>
          <p:nvPr/>
        </p:nvSpPr>
        <p:spPr>
          <a:xfrm>
            <a:off x="8496300" y="2613664"/>
            <a:ext cx="2550795"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1717"/>
                </a:solidFill>
                <a:latin typeface="IBM Plex Sans" pitchFamily="34" charset="0"/>
                <a:ea typeface="IBM Plex Sans" pitchFamily="34" charset="-122"/>
                <a:cs typeface="IBM Plex Sans" pitchFamily="34" charset="-120"/>
              </a:rPr>
              <a:t>Classical optimiser</a:t>
            </a:r>
            <a:endParaRPr lang="en-US" sz="1400" dirty="0"/>
          </a:p>
        </p:txBody>
      </p:sp>
      <p:sp>
        <p:nvSpPr>
          <p:cNvPr id="15" name="Text 12"/>
          <p:cNvSpPr/>
          <p:nvPr/>
        </p:nvSpPr>
        <p:spPr>
          <a:xfrm>
            <a:off x="8496300" y="2899414"/>
            <a:ext cx="2550795"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5A5A"/>
                </a:solidFill>
                <a:latin typeface="IBM Plex Sans" pitchFamily="34" charset="0"/>
                <a:ea typeface="IBM Plex Sans" pitchFamily="34" charset="-122"/>
                <a:cs typeface="IBM Plex Sans" pitchFamily="34" charset="-120"/>
              </a:rPr>
              <a:t>COBYLA on CVaR of sampled energies; returns new γ, β</a:t>
            </a:r>
            <a:endParaRPr lang="en-US" sz="1200" dirty="0"/>
          </a:p>
        </p:txBody>
      </p:sp>
      <p:sp>
        <p:nvSpPr>
          <p:cNvPr id="16" name="Text 13"/>
          <p:cNvSpPr/>
          <p:nvPr/>
        </p:nvSpPr>
        <p:spPr>
          <a:xfrm>
            <a:off x="2755900" y="2004064"/>
            <a:ext cx="18313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4A12"/>
                </a:solidFill>
                <a:latin typeface="IBM Plex Mono" pitchFamily="34" charset="0"/>
                <a:ea typeface="IBM Plex Mono" pitchFamily="34" charset="-122"/>
                <a:cs typeface="IBM Plex Mono" pitchFamily="34" charset="-120"/>
              </a:rPr>
              <a:t>× p layers, p = 1–2</a:t>
            </a:r>
            <a:endParaRPr lang="en-US" sz="1200" dirty="0"/>
          </a:p>
        </p:txBody>
      </p:sp>
      <p:sp>
        <p:nvSpPr>
          <p:cNvPr id="17" name="Text 14"/>
          <p:cNvSpPr/>
          <p:nvPr/>
        </p:nvSpPr>
        <p:spPr>
          <a:xfrm>
            <a:off x="812800" y="4950464"/>
            <a:ext cx="3348736"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A5A5A"/>
                </a:solidFill>
                <a:latin typeface="IBM Plex Sans" pitchFamily="34" charset="0"/>
                <a:ea typeface="IBM Plex Sans" pitchFamily="34" charset="-122"/>
                <a:cs typeface="IBM Plex Sans" pitchFamily="34" charset="-120"/>
              </a:rPr>
              <a:t>Cost layer</a:t>
            </a:r>
            <a:r>
              <a:rPr lang="en-US" sz="1400" dirty="0">
                <a:solidFill>
                  <a:srgbClr val="5A5A5A"/>
                </a:solidFill>
                <a:latin typeface="IBM Plex Sans" pitchFamily="34" charset="0"/>
                <a:ea typeface="IBM Plex Sans" pitchFamily="34" charset="-122"/>
                <a:cs typeface="IBM Plex Sans" pitchFamily="34" charset="-120"/>
              </a:rPr>
              <a:t> encodes the QUBO: ZZ for overlaps, Z for site rewards</a:t>
            </a:r>
            <a:endParaRPr lang="en-US" sz="1400" dirty="0"/>
          </a:p>
        </p:txBody>
      </p:sp>
      <p:sp>
        <p:nvSpPr>
          <p:cNvPr id="18" name="Text 15"/>
          <p:cNvSpPr/>
          <p:nvPr/>
        </p:nvSpPr>
        <p:spPr>
          <a:xfrm>
            <a:off x="4470400" y="4950464"/>
            <a:ext cx="3348736"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A5A5A"/>
                </a:solidFill>
                <a:latin typeface="IBM Plex Sans" pitchFamily="34" charset="0"/>
                <a:ea typeface="IBM Plex Sans" pitchFamily="34" charset="-122"/>
                <a:cs typeface="IBM Plex Sans" pitchFamily="34" charset="-120"/>
              </a:rPr>
              <a:t>Mixer</a:t>
            </a:r>
            <a:r>
              <a:rPr lang="en-US" sz="1400" dirty="0">
                <a:solidFill>
                  <a:srgbClr val="5A5A5A"/>
                </a:solidFill>
                <a:latin typeface="IBM Plex Sans" pitchFamily="34" charset="0"/>
                <a:ea typeface="IBM Plex Sans" pitchFamily="34" charset="-122"/>
                <a:cs typeface="IBM Plex Sans" pitchFamily="34" charset="-120"/>
              </a:rPr>
              <a:t> moves amplitude between placements</a:t>
            </a:r>
            <a:endParaRPr lang="en-US" sz="1400" dirty="0"/>
          </a:p>
        </p:txBody>
      </p:sp>
      <p:sp>
        <p:nvSpPr>
          <p:cNvPr id="19" name="Text 16"/>
          <p:cNvSpPr/>
          <p:nvPr/>
        </p:nvSpPr>
        <p:spPr>
          <a:xfrm>
            <a:off x="8128000" y="4950464"/>
            <a:ext cx="3348736"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A5A5A"/>
                </a:solidFill>
                <a:latin typeface="IBM Plex Sans" pitchFamily="34" charset="0"/>
                <a:ea typeface="IBM Plex Sans" pitchFamily="34" charset="-122"/>
                <a:cs typeface="IBM Plex Sans" pitchFamily="34" charset="-120"/>
              </a:rPr>
              <a:t>Warm start</a:t>
            </a:r>
            <a:r>
              <a:rPr lang="en-US" sz="1400" dirty="0">
                <a:solidFill>
                  <a:srgbClr val="5A5A5A"/>
                </a:solidFill>
                <a:latin typeface="IBM Plex Sans" pitchFamily="34" charset="0"/>
                <a:ea typeface="IBM Plex Sans" pitchFamily="34" charset="-122"/>
                <a:cs typeface="IBM Plex Sans" pitchFamily="34" charset="-120"/>
              </a:rPr>
              <a:t> reuses γ, β from the last run when inputs change</a:t>
            </a:r>
            <a:endParaRPr lang="en-US" sz="1400" dirty="0"/>
          </a:p>
        </p:txBody>
      </p:sp>
      <p:sp>
        <p:nvSpPr>
          <p:cNvPr id="20" name="Text 17"/>
          <p:cNvSpPr/>
          <p:nvPr/>
        </p:nvSpPr>
        <p:spPr>
          <a:xfrm>
            <a:off x="812800" y="6238242"/>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21" name="Text 18"/>
          <p:cNvSpPr/>
          <p:nvPr/>
        </p:nvSpPr>
        <p:spPr>
          <a:xfrm>
            <a:off x="9804400" y="6238242"/>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A5A"/>
                </a:solidFill>
                <a:latin typeface="IBM Plex Mono" pitchFamily="34" charset="0"/>
                <a:ea typeface="IBM Plex Mono" pitchFamily="34" charset="-122"/>
                <a:cs typeface="IBM Plex Mono" pitchFamily="34" charset="-120"/>
              </a:rPr>
              <a:t>09 / 15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4A12"/>
                </a:solidFill>
                <a:latin typeface="IBM Plex Mono" pitchFamily="34" charset="0"/>
                <a:ea typeface="IBM Plex Mono" pitchFamily="34" charset="-122"/>
                <a:cs typeface="IBM Plex Mono" pitchFamily="34" charset="-120"/>
              </a:rPr>
              <a:t>09 · Execution</a:t>
            </a:r>
            <a:endParaRPr lang="en-US" sz="1200" dirty="0"/>
          </a:p>
        </p:txBody>
      </p:sp>
      <p:sp>
        <p:nvSpPr>
          <p:cNvPr id="3" name="Text 1"/>
          <p:cNvSpPr/>
          <p:nvPr/>
        </p:nvSpPr>
        <p:spPr>
          <a:xfrm>
            <a:off x="812800" y="11277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kern="0" spc="-50" dirty="0">
                <a:solidFill>
                  <a:srgbClr val="171717"/>
                </a:solidFill>
                <a:latin typeface="IBM Plex Sans" pitchFamily="34" charset="0"/>
                <a:ea typeface="IBM Plex Sans" pitchFamily="34" charset="-122"/>
                <a:cs typeface="IBM Plex Sans" pitchFamily="34" charset="-120"/>
              </a:rPr>
              <a:t>Running on IBM Heron, engineered for noise</a:t>
            </a:r>
            <a:endParaRPr lang="en-US" sz="3000" dirty="0"/>
          </a:p>
        </p:txBody>
      </p:sp>
      <p:sp>
        <p:nvSpPr>
          <p:cNvPr id="4" name="Shape 2"/>
          <p:cNvSpPr/>
          <p:nvPr/>
        </p:nvSpPr>
        <p:spPr>
          <a:xfrm>
            <a:off x="819150" y="1858014"/>
            <a:ext cx="5702300" cy="635000"/>
          </a:xfrm>
          <a:prstGeom prst="rect">
            <a:avLst/>
          </a:prstGeom>
          <a:solidFill>
            <a:srgbClr val="F5F2EA"/>
          </a:solidFill>
          <a:ln w="12700">
            <a:solidFill>
              <a:srgbClr val="171717"/>
            </a:solidFill>
            <a:prstDash val="solid"/>
          </a:ln>
        </p:spPr>
      </p:sp>
      <p:sp>
        <p:nvSpPr>
          <p:cNvPr id="5" name="Text 3"/>
          <p:cNvSpPr/>
          <p:nvPr/>
        </p:nvSpPr>
        <p:spPr>
          <a:xfrm>
            <a:off x="1000760" y="2068829"/>
            <a:ext cx="355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01</a:t>
            </a:r>
            <a:endParaRPr lang="en-US" sz="1200" dirty="0"/>
          </a:p>
        </p:txBody>
      </p:sp>
      <p:sp>
        <p:nvSpPr>
          <p:cNvPr id="6" name="Text 4"/>
          <p:cNvSpPr/>
          <p:nvPr/>
        </p:nvSpPr>
        <p:spPr>
          <a:xfrm>
            <a:off x="1457960" y="1938021"/>
            <a:ext cx="251286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1717"/>
                </a:solidFill>
                <a:latin typeface="IBM Plex Sans" pitchFamily="34" charset="0"/>
                <a:ea typeface="IBM Plex Sans" pitchFamily="34" charset="-122"/>
                <a:cs typeface="IBM Plex Sans" pitchFamily="34" charset="-120"/>
              </a:rPr>
              <a:t>Qiskit</a:t>
            </a:r>
            <a:endParaRPr lang="en-US" sz="1400" dirty="0"/>
          </a:p>
        </p:txBody>
      </p:sp>
      <p:sp>
        <p:nvSpPr>
          <p:cNvPr id="7" name="Text 5"/>
          <p:cNvSpPr/>
          <p:nvPr/>
        </p:nvSpPr>
        <p:spPr>
          <a:xfrm>
            <a:off x="1457960" y="2199642"/>
            <a:ext cx="25128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Sans" pitchFamily="34" charset="0"/>
                <a:ea typeface="IBM Plex Sans" pitchFamily="34" charset="-122"/>
                <a:cs typeface="IBM Plex Sans" pitchFamily="34" charset="-120"/>
              </a:rPr>
              <a:t>QuadraticProgram → Ising operator</a:t>
            </a:r>
            <a:endParaRPr lang="en-US" sz="1200" dirty="0"/>
          </a:p>
        </p:txBody>
      </p:sp>
      <p:sp>
        <p:nvSpPr>
          <p:cNvPr id="8" name="Shape 6"/>
          <p:cNvSpPr/>
          <p:nvPr/>
        </p:nvSpPr>
        <p:spPr>
          <a:xfrm>
            <a:off x="812800" y="2499364"/>
            <a:ext cx="5715000" cy="637540"/>
          </a:xfrm>
          <a:prstGeom prst="rect">
            <a:avLst/>
          </a:prstGeom>
          <a:solidFill>
            <a:srgbClr val="F5F2EA"/>
          </a:solidFill>
          <a:ln/>
        </p:spPr>
      </p:sp>
      <p:sp>
        <p:nvSpPr>
          <p:cNvPr id="9" name="Shape 7"/>
          <p:cNvSpPr/>
          <p:nvPr/>
        </p:nvSpPr>
        <p:spPr>
          <a:xfrm>
            <a:off x="6521450" y="2499364"/>
            <a:ext cx="0" cy="637540"/>
          </a:xfrm>
          <a:prstGeom prst="line">
            <a:avLst/>
          </a:prstGeom>
          <a:noFill/>
          <a:ln w="12700">
            <a:solidFill>
              <a:srgbClr val="171717"/>
            </a:solidFill>
            <a:prstDash val="solid"/>
          </a:ln>
        </p:spPr>
      </p:sp>
      <p:sp>
        <p:nvSpPr>
          <p:cNvPr id="10" name="Shape 8"/>
          <p:cNvSpPr/>
          <p:nvPr/>
        </p:nvSpPr>
        <p:spPr>
          <a:xfrm>
            <a:off x="812800" y="3130554"/>
            <a:ext cx="5715000" cy="0"/>
          </a:xfrm>
          <a:prstGeom prst="line">
            <a:avLst/>
          </a:prstGeom>
          <a:noFill/>
          <a:ln w="12700">
            <a:solidFill>
              <a:srgbClr val="171717"/>
            </a:solidFill>
            <a:prstDash val="solid"/>
          </a:ln>
        </p:spPr>
      </p:sp>
      <p:sp>
        <p:nvSpPr>
          <p:cNvPr id="11" name="Shape 9"/>
          <p:cNvSpPr/>
          <p:nvPr/>
        </p:nvSpPr>
        <p:spPr>
          <a:xfrm>
            <a:off x="819150" y="2499364"/>
            <a:ext cx="0" cy="637540"/>
          </a:xfrm>
          <a:prstGeom prst="line">
            <a:avLst/>
          </a:prstGeom>
          <a:noFill/>
          <a:ln w="12700">
            <a:solidFill>
              <a:srgbClr val="171717"/>
            </a:solidFill>
            <a:prstDash val="solid"/>
          </a:ln>
        </p:spPr>
      </p:sp>
      <p:sp>
        <p:nvSpPr>
          <p:cNvPr id="12" name="Text 10"/>
          <p:cNvSpPr/>
          <p:nvPr/>
        </p:nvSpPr>
        <p:spPr>
          <a:xfrm>
            <a:off x="1000760" y="2706371"/>
            <a:ext cx="355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02</a:t>
            </a:r>
            <a:endParaRPr lang="en-US" sz="1200" dirty="0"/>
          </a:p>
        </p:txBody>
      </p:sp>
      <p:sp>
        <p:nvSpPr>
          <p:cNvPr id="13" name="Text 11"/>
          <p:cNvSpPr/>
          <p:nvPr/>
        </p:nvSpPr>
        <p:spPr>
          <a:xfrm>
            <a:off x="1457960" y="2575564"/>
            <a:ext cx="2810616"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1717"/>
                </a:solidFill>
                <a:latin typeface="IBM Plex Sans" pitchFamily="34" charset="0"/>
                <a:ea typeface="IBM Plex Sans" pitchFamily="34" charset="-122"/>
                <a:cs typeface="IBM Plex Sans" pitchFamily="34" charset="-120"/>
              </a:rPr>
              <a:t>Decompose</a:t>
            </a:r>
            <a:endParaRPr lang="en-US" sz="1400" dirty="0"/>
          </a:p>
        </p:txBody>
      </p:sp>
      <p:sp>
        <p:nvSpPr>
          <p:cNvPr id="14" name="Text 12"/>
          <p:cNvSpPr/>
          <p:nvPr/>
        </p:nvSpPr>
        <p:spPr>
          <a:xfrm>
            <a:off x="1457960" y="2837179"/>
            <a:ext cx="28106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Sans" pitchFamily="34" charset="0"/>
                <a:ea typeface="IBM Plex Sans" pitchFamily="34" charset="-122"/>
                <a:cs typeface="IBM Plex Sans" pitchFamily="34" charset="-120"/>
              </a:rPr>
              <a:t>Split region into ≤20-qubit subproblems</a:t>
            </a:r>
            <a:endParaRPr lang="en-US" sz="1200" dirty="0"/>
          </a:p>
        </p:txBody>
      </p:sp>
      <p:sp>
        <p:nvSpPr>
          <p:cNvPr id="15" name="Shape 13"/>
          <p:cNvSpPr/>
          <p:nvPr/>
        </p:nvSpPr>
        <p:spPr>
          <a:xfrm>
            <a:off x="812800" y="3136900"/>
            <a:ext cx="5715000" cy="637540"/>
          </a:xfrm>
          <a:prstGeom prst="rect">
            <a:avLst/>
          </a:prstGeom>
          <a:solidFill>
            <a:srgbClr val="F5F2EA"/>
          </a:solidFill>
          <a:ln/>
        </p:spPr>
      </p:sp>
      <p:sp>
        <p:nvSpPr>
          <p:cNvPr id="16" name="Shape 14"/>
          <p:cNvSpPr/>
          <p:nvPr/>
        </p:nvSpPr>
        <p:spPr>
          <a:xfrm>
            <a:off x="6521450" y="3136900"/>
            <a:ext cx="0" cy="637540"/>
          </a:xfrm>
          <a:prstGeom prst="line">
            <a:avLst/>
          </a:prstGeom>
          <a:noFill/>
          <a:ln w="12700">
            <a:solidFill>
              <a:srgbClr val="171717"/>
            </a:solidFill>
            <a:prstDash val="solid"/>
          </a:ln>
        </p:spPr>
      </p:sp>
      <p:sp>
        <p:nvSpPr>
          <p:cNvPr id="17" name="Shape 15"/>
          <p:cNvSpPr/>
          <p:nvPr/>
        </p:nvSpPr>
        <p:spPr>
          <a:xfrm>
            <a:off x="812800" y="3768090"/>
            <a:ext cx="5715000" cy="0"/>
          </a:xfrm>
          <a:prstGeom prst="line">
            <a:avLst/>
          </a:prstGeom>
          <a:noFill/>
          <a:ln w="12700">
            <a:solidFill>
              <a:srgbClr val="171717"/>
            </a:solidFill>
            <a:prstDash val="solid"/>
          </a:ln>
        </p:spPr>
      </p:sp>
      <p:sp>
        <p:nvSpPr>
          <p:cNvPr id="18" name="Shape 16"/>
          <p:cNvSpPr/>
          <p:nvPr/>
        </p:nvSpPr>
        <p:spPr>
          <a:xfrm>
            <a:off x="819150" y="3136900"/>
            <a:ext cx="0" cy="637540"/>
          </a:xfrm>
          <a:prstGeom prst="line">
            <a:avLst/>
          </a:prstGeom>
          <a:noFill/>
          <a:ln w="12700">
            <a:solidFill>
              <a:srgbClr val="171717"/>
            </a:solidFill>
            <a:prstDash val="solid"/>
          </a:ln>
        </p:spPr>
      </p:sp>
      <p:sp>
        <p:nvSpPr>
          <p:cNvPr id="19" name="Text 17"/>
          <p:cNvSpPr/>
          <p:nvPr/>
        </p:nvSpPr>
        <p:spPr>
          <a:xfrm>
            <a:off x="1000760" y="3343914"/>
            <a:ext cx="355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03</a:t>
            </a:r>
            <a:endParaRPr lang="en-US" sz="1200" dirty="0"/>
          </a:p>
        </p:txBody>
      </p:sp>
      <p:sp>
        <p:nvSpPr>
          <p:cNvPr id="20" name="Text 18"/>
          <p:cNvSpPr/>
          <p:nvPr/>
        </p:nvSpPr>
        <p:spPr>
          <a:xfrm>
            <a:off x="1457960" y="3213100"/>
            <a:ext cx="3151213"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1717"/>
                </a:solidFill>
                <a:latin typeface="IBM Plex Sans" pitchFamily="34" charset="0"/>
                <a:ea typeface="IBM Plex Sans" pitchFamily="34" charset="-122"/>
                <a:cs typeface="IBM Plex Sans" pitchFamily="34" charset="-120"/>
              </a:rPr>
              <a:t>Transpile</a:t>
            </a:r>
            <a:endParaRPr lang="en-US" sz="1400" dirty="0"/>
          </a:p>
        </p:txBody>
      </p:sp>
      <p:sp>
        <p:nvSpPr>
          <p:cNvPr id="21" name="Text 19"/>
          <p:cNvSpPr/>
          <p:nvPr/>
        </p:nvSpPr>
        <p:spPr>
          <a:xfrm>
            <a:off x="1457960" y="3474721"/>
            <a:ext cx="315121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Sans" pitchFamily="34" charset="0"/>
                <a:ea typeface="IBM Plex Sans" pitchFamily="34" charset="-122"/>
                <a:cs typeface="IBM Plex Sans" pitchFamily="34" charset="-120"/>
              </a:rPr>
              <a:t>ISA circuit for heavy-hex, noise-aware layout</a:t>
            </a:r>
            <a:endParaRPr lang="en-US" sz="1200" dirty="0"/>
          </a:p>
        </p:txBody>
      </p:sp>
      <p:sp>
        <p:nvSpPr>
          <p:cNvPr id="22" name="Shape 20"/>
          <p:cNvSpPr/>
          <p:nvPr/>
        </p:nvSpPr>
        <p:spPr>
          <a:xfrm>
            <a:off x="812800" y="3774442"/>
            <a:ext cx="5715000" cy="637540"/>
          </a:xfrm>
          <a:prstGeom prst="rect">
            <a:avLst/>
          </a:prstGeom>
          <a:solidFill>
            <a:srgbClr val="F5F2EA"/>
          </a:solidFill>
          <a:ln/>
        </p:spPr>
      </p:sp>
      <p:sp>
        <p:nvSpPr>
          <p:cNvPr id="23" name="Shape 21"/>
          <p:cNvSpPr/>
          <p:nvPr/>
        </p:nvSpPr>
        <p:spPr>
          <a:xfrm>
            <a:off x="6521450" y="3774442"/>
            <a:ext cx="0" cy="637540"/>
          </a:xfrm>
          <a:prstGeom prst="line">
            <a:avLst/>
          </a:prstGeom>
          <a:noFill/>
          <a:ln w="12700">
            <a:solidFill>
              <a:srgbClr val="171717"/>
            </a:solidFill>
            <a:prstDash val="solid"/>
          </a:ln>
        </p:spPr>
      </p:sp>
      <p:sp>
        <p:nvSpPr>
          <p:cNvPr id="24" name="Shape 22"/>
          <p:cNvSpPr/>
          <p:nvPr/>
        </p:nvSpPr>
        <p:spPr>
          <a:xfrm>
            <a:off x="812800" y="4405632"/>
            <a:ext cx="5715000" cy="0"/>
          </a:xfrm>
          <a:prstGeom prst="line">
            <a:avLst/>
          </a:prstGeom>
          <a:noFill/>
          <a:ln w="12700">
            <a:solidFill>
              <a:srgbClr val="171717"/>
            </a:solidFill>
            <a:prstDash val="solid"/>
          </a:ln>
        </p:spPr>
      </p:sp>
      <p:sp>
        <p:nvSpPr>
          <p:cNvPr id="25" name="Shape 23"/>
          <p:cNvSpPr/>
          <p:nvPr/>
        </p:nvSpPr>
        <p:spPr>
          <a:xfrm>
            <a:off x="819150" y="3774442"/>
            <a:ext cx="0" cy="637540"/>
          </a:xfrm>
          <a:prstGeom prst="line">
            <a:avLst/>
          </a:prstGeom>
          <a:noFill/>
          <a:ln w="12700">
            <a:solidFill>
              <a:srgbClr val="171717"/>
            </a:solidFill>
            <a:prstDash val="solid"/>
          </a:ln>
        </p:spPr>
      </p:sp>
      <p:sp>
        <p:nvSpPr>
          <p:cNvPr id="26" name="Text 24"/>
          <p:cNvSpPr/>
          <p:nvPr/>
        </p:nvSpPr>
        <p:spPr>
          <a:xfrm>
            <a:off x="1000760" y="3981450"/>
            <a:ext cx="355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04</a:t>
            </a:r>
            <a:endParaRPr lang="en-US" sz="1200" dirty="0"/>
          </a:p>
        </p:txBody>
      </p:sp>
      <p:sp>
        <p:nvSpPr>
          <p:cNvPr id="27" name="Text 25"/>
          <p:cNvSpPr/>
          <p:nvPr/>
        </p:nvSpPr>
        <p:spPr>
          <a:xfrm>
            <a:off x="1457960" y="3850642"/>
            <a:ext cx="1733153"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1717"/>
                </a:solidFill>
                <a:latin typeface="IBM Plex Sans" pitchFamily="34" charset="0"/>
                <a:ea typeface="IBM Plex Sans" pitchFamily="34" charset="-122"/>
                <a:cs typeface="IBM Plex Sans" pitchFamily="34" charset="-120"/>
              </a:rPr>
              <a:t>Qiskit Runtime</a:t>
            </a:r>
            <a:endParaRPr lang="en-US" sz="1400" dirty="0"/>
          </a:p>
        </p:txBody>
      </p:sp>
      <p:sp>
        <p:nvSpPr>
          <p:cNvPr id="28" name="Text 26"/>
          <p:cNvSpPr/>
          <p:nvPr/>
        </p:nvSpPr>
        <p:spPr>
          <a:xfrm>
            <a:off x="1457960" y="4112264"/>
            <a:ext cx="17331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Sans" pitchFamily="34" charset="0"/>
                <a:ea typeface="IBM Plex Sans" pitchFamily="34" charset="-122"/>
                <a:cs typeface="IBM Plex Sans" pitchFamily="34" charset="-120"/>
              </a:rPr>
              <a:t>Sampler V2, batch mode</a:t>
            </a:r>
            <a:endParaRPr lang="en-US" sz="1200" dirty="0"/>
          </a:p>
        </p:txBody>
      </p:sp>
      <p:sp>
        <p:nvSpPr>
          <p:cNvPr id="29" name="Shape 27"/>
          <p:cNvSpPr/>
          <p:nvPr/>
        </p:nvSpPr>
        <p:spPr>
          <a:xfrm>
            <a:off x="812800" y="4411979"/>
            <a:ext cx="5715000" cy="637540"/>
          </a:xfrm>
          <a:prstGeom prst="rect">
            <a:avLst/>
          </a:prstGeom>
          <a:solidFill>
            <a:srgbClr val="E56A1F"/>
          </a:solidFill>
          <a:ln/>
        </p:spPr>
      </p:sp>
      <p:sp>
        <p:nvSpPr>
          <p:cNvPr id="30" name="Shape 28"/>
          <p:cNvSpPr/>
          <p:nvPr/>
        </p:nvSpPr>
        <p:spPr>
          <a:xfrm>
            <a:off x="6521450" y="4411979"/>
            <a:ext cx="0" cy="637540"/>
          </a:xfrm>
          <a:prstGeom prst="line">
            <a:avLst/>
          </a:prstGeom>
          <a:noFill/>
          <a:ln w="12700">
            <a:solidFill>
              <a:srgbClr val="171717"/>
            </a:solidFill>
            <a:prstDash val="solid"/>
          </a:ln>
        </p:spPr>
      </p:sp>
      <p:sp>
        <p:nvSpPr>
          <p:cNvPr id="31" name="Shape 29"/>
          <p:cNvSpPr/>
          <p:nvPr/>
        </p:nvSpPr>
        <p:spPr>
          <a:xfrm>
            <a:off x="812800" y="5043169"/>
            <a:ext cx="5715000" cy="0"/>
          </a:xfrm>
          <a:prstGeom prst="line">
            <a:avLst/>
          </a:prstGeom>
          <a:noFill/>
          <a:ln w="12700">
            <a:solidFill>
              <a:srgbClr val="171717"/>
            </a:solidFill>
            <a:prstDash val="solid"/>
          </a:ln>
        </p:spPr>
      </p:sp>
      <p:sp>
        <p:nvSpPr>
          <p:cNvPr id="32" name="Shape 30"/>
          <p:cNvSpPr/>
          <p:nvPr/>
        </p:nvSpPr>
        <p:spPr>
          <a:xfrm>
            <a:off x="819150" y="4411979"/>
            <a:ext cx="0" cy="637540"/>
          </a:xfrm>
          <a:prstGeom prst="line">
            <a:avLst/>
          </a:prstGeom>
          <a:noFill/>
          <a:ln w="12700">
            <a:solidFill>
              <a:srgbClr val="171717"/>
            </a:solidFill>
            <a:prstDash val="solid"/>
          </a:ln>
        </p:spPr>
      </p:sp>
      <p:sp>
        <p:nvSpPr>
          <p:cNvPr id="33" name="Text 31"/>
          <p:cNvSpPr/>
          <p:nvPr/>
        </p:nvSpPr>
        <p:spPr>
          <a:xfrm>
            <a:off x="1000760" y="4618992"/>
            <a:ext cx="355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717"/>
                </a:solidFill>
                <a:latin typeface="IBM Plex Mono" pitchFamily="34" charset="0"/>
                <a:ea typeface="IBM Plex Mono" pitchFamily="34" charset="-122"/>
                <a:cs typeface="IBM Plex Mono" pitchFamily="34" charset="-120"/>
              </a:rPr>
              <a:t>05</a:t>
            </a:r>
            <a:endParaRPr lang="en-US" sz="1200" dirty="0"/>
          </a:p>
        </p:txBody>
      </p:sp>
      <p:sp>
        <p:nvSpPr>
          <p:cNvPr id="34" name="Text 32"/>
          <p:cNvSpPr/>
          <p:nvPr/>
        </p:nvSpPr>
        <p:spPr>
          <a:xfrm>
            <a:off x="1457960" y="4488179"/>
            <a:ext cx="291828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1717"/>
                </a:solidFill>
                <a:latin typeface="IBM Plex Sans" pitchFamily="34" charset="0"/>
                <a:ea typeface="IBM Plex Sans" pitchFamily="34" charset="-122"/>
                <a:cs typeface="IBM Plex Sans" pitchFamily="34" charset="-120"/>
              </a:rPr>
              <a:t>IBM Heron QPU</a:t>
            </a:r>
            <a:endParaRPr lang="en-US" sz="1400" dirty="0"/>
          </a:p>
        </p:txBody>
      </p:sp>
      <p:sp>
        <p:nvSpPr>
          <p:cNvPr id="35" name="Text 33"/>
          <p:cNvSpPr/>
          <p:nvPr/>
        </p:nvSpPr>
        <p:spPr>
          <a:xfrm>
            <a:off x="1457960" y="4749800"/>
            <a:ext cx="29182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717"/>
                </a:solidFill>
                <a:latin typeface="IBM Plex Sans" pitchFamily="34" charset="0"/>
                <a:ea typeface="IBM Plex Sans" pitchFamily="34" charset="-122"/>
                <a:cs typeface="IBM Plex Sans" pitchFamily="34" charset="-120"/>
              </a:rPr>
              <a:t>Real hardware via IBM Quantum Platform</a:t>
            </a:r>
            <a:endParaRPr lang="en-US" sz="1200" dirty="0"/>
          </a:p>
        </p:txBody>
      </p:sp>
      <p:sp>
        <p:nvSpPr>
          <p:cNvPr id="36" name="Shape 34"/>
          <p:cNvSpPr/>
          <p:nvPr/>
        </p:nvSpPr>
        <p:spPr>
          <a:xfrm>
            <a:off x="812800" y="5049521"/>
            <a:ext cx="5715000" cy="637540"/>
          </a:xfrm>
          <a:prstGeom prst="rect">
            <a:avLst/>
          </a:prstGeom>
          <a:solidFill>
            <a:srgbClr val="F5F2EA"/>
          </a:solidFill>
          <a:ln/>
        </p:spPr>
      </p:sp>
      <p:sp>
        <p:nvSpPr>
          <p:cNvPr id="37" name="Shape 35"/>
          <p:cNvSpPr/>
          <p:nvPr/>
        </p:nvSpPr>
        <p:spPr>
          <a:xfrm>
            <a:off x="6521450" y="5049521"/>
            <a:ext cx="0" cy="637540"/>
          </a:xfrm>
          <a:prstGeom prst="line">
            <a:avLst/>
          </a:prstGeom>
          <a:noFill/>
          <a:ln w="12700">
            <a:solidFill>
              <a:srgbClr val="171717"/>
            </a:solidFill>
            <a:prstDash val="solid"/>
          </a:ln>
        </p:spPr>
      </p:sp>
      <p:sp>
        <p:nvSpPr>
          <p:cNvPr id="38" name="Shape 36"/>
          <p:cNvSpPr/>
          <p:nvPr/>
        </p:nvSpPr>
        <p:spPr>
          <a:xfrm>
            <a:off x="812800" y="5680711"/>
            <a:ext cx="5715000" cy="0"/>
          </a:xfrm>
          <a:prstGeom prst="line">
            <a:avLst/>
          </a:prstGeom>
          <a:noFill/>
          <a:ln w="12700">
            <a:solidFill>
              <a:srgbClr val="171717"/>
            </a:solidFill>
            <a:prstDash val="solid"/>
          </a:ln>
        </p:spPr>
      </p:sp>
      <p:sp>
        <p:nvSpPr>
          <p:cNvPr id="39" name="Shape 37"/>
          <p:cNvSpPr/>
          <p:nvPr/>
        </p:nvSpPr>
        <p:spPr>
          <a:xfrm>
            <a:off x="819150" y="5049521"/>
            <a:ext cx="0" cy="637540"/>
          </a:xfrm>
          <a:prstGeom prst="line">
            <a:avLst/>
          </a:prstGeom>
          <a:noFill/>
          <a:ln w="12700">
            <a:solidFill>
              <a:srgbClr val="171717"/>
            </a:solidFill>
            <a:prstDash val="solid"/>
          </a:ln>
        </p:spPr>
      </p:sp>
      <p:sp>
        <p:nvSpPr>
          <p:cNvPr id="40" name="Text 38"/>
          <p:cNvSpPr/>
          <p:nvPr/>
        </p:nvSpPr>
        <p:spPr>
          <a:xfrm>
            <a:off x="1000760" y="5256529"/>
            <a:ext cx="355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06</a:t>
            </a:r>
            <a:endParaRPr lang="en-US" sz="1200" dirty="0"/>
          </a:p>
        </p:txBody>
      </p:sp>
      <p:sp>
        <p:nvSpPr>
          <p:cNvPr id="41" name="Text 39"/>
          <p:cNvSpPr/>
          <p:nvPr/>
        </p:nvSpPr>
        <p:spPr>
          <a:xfrm>
            <a:off x="1457960" y="5125721"/>
            <a:ext cx="300102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1717"/>
                </a:solidFill>
                <a:latin typeface="IBM Plex Sans" pitchFamily="34" charset="0"/>
                <a:ea typeface="IBM Plex Sans" pitchFamily="34" charset="-122"/>
                <a:cs typeface="IBM Plex Sans" pitchFamily="34" charset="-120"/>
              </a:rPr>
              <a:t>Mitigate &amp; decode</a:t>
            </a:r>
            <a:endParaRPr lang="en-US" sz="1400" dirty="0"/>
          </a:p>
        </p:txBody>
      </p:sp>
      <p:sp>
        <p:nvSpPr>
          <p:cNvPr id="42" name="Text 40"/>
          <p:cNvSpPr/>
          <p:nvPr/>
        </p:nvSpPr>
        <p:spPr>
          <a:xfrm>
            <a:off x="1457960" y="5387342"/>
            <a:ext cx="300102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Sans" pitchFamily="34" charset="0"/>
                <a:ea typeface="IBM Plex Sans" pitchFamily="34" charset="-122"/>
                <a:cs typeface="IBM Plex Sans" pitchFamily="34" charset="-120"/>
              </a:rPr>
              <a:t>Dynamical decoupling, Pauli twirling, CVaR</a:t>
            </a:r>
            <a:endParaRPr lang="en-US" sz="1200" dirty="0"/>
          </a:p>
        </p:txBody>
      </p:sp>
      <p:sp>
        <p:nvSpPr>
          <p:cNvPr id="43" name="Shape 41"/>
          <p:cNvSpPr/>
          <p:nvPr/>
        </p:nvSpPr>
        <p:spPr>
          <a:xfrm>
            <a:off x="7137400" y="1858014"/>
            <a:ext cx="4241800" cy="0"/>
          </a:xfrm>
          <a:prstGeom prst="line">
            <a:avLst/>
          </a:prstGeom>
          <a:noFill/>
          <a:ln w="12700">
            <a:solidFill>
              <a:srgbClr val="171717"/>
            </a:solidFill>
            <a:prstDash val="solid"/>
          </a:ln>
        </p:spPr>
      </p:sp>
      <p:sp>
        <p:nvSpPr>
          <p:cNvPr id="44" name="Text 42"/>
          <p:cNvSpPr/>
          <p:nvPr/>
        </p:nvSpPr>
        <p:spPr>
          <a:xfrm>
            <a:off x="7137400" y="1988821"/>
            <a:ext cx="4369054"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171717"/>
                </a:solidFill>
                <a:latin typeface="IBM Plex Sans" pitchFamily="34" charset="0"/>
                <a:ea typeface="IBM Plex Sans" pitchFamily="34" charset="-122"/>
                <a:cs typeface="IBM Plex Sans" pitchFamily="34" charset="-120"/>
              </a:rPr>
              <a:t>156</a:t>
            </a:r>
            <a:endParaRPr lang="en-US" sz="4000" dirty="0"/>
          </a:p>
        </p:txBody>
      </p:sp>
      <p:sp>
        <p:nvSpPr>
          <p:cNvPr id="45" name="Text 43"/>
          <p:cNvSpPr/>
          <p:nvPr/>
        </p:nvSpPr>
        <p:spPr>
          <a:xfrm>
            <a:off x="7137400" y="2534921"/>
            <a:ext cx="4369054"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A5A5A"/>
                </a:solidFill>
                <a:latin typeface="IBM Plex Sans" pitchFamily="34" charset="0"/>
                <a:ea typeface="IBM Plex Sans" pitchFamily="34" charset="-122"/>
                <a:cs typeface="IBM Plex Sans" pitchFamily="34" charset="-120"/>
              </a:rPr>
              <a:t>qubits on IBM Heron r2, the same class as Amaravati’s System Two</a:t>
            </a:r>
            <a:endParaRPr lang="en-US" sz="1300" dirty="0"/>
          </a:p>
        </p:txBody>
      </p:sp>
      <p:sp>
        <p:nvSpPr>
          <p:cNvPr id="46" name="Shape 44"/>
          <p:cNvSpPr/>
          <p:nvPr/>
        </p:nvSpPr>
        <p:spPr>
          <a:xfrm>
            <a:off x="7137400" y="3215642"/>
            <a:ext cx="4241800" cy="0"/>
          </a:xfrm>
          <a:prstGeom prst="line">
            <a:avLst/>
          </a:prstGeom>
          <a:noFill/>
          <a:ln w="12700">
            <a:solidFill>
              <a:srgbClr val="171717"/>
            </a:solidFill>
            <a:prstDash val="solid"/>
          </a:ln>
        </p:spPr>
      </p:sp>
      <p:sp>
        <p:nvSpPr>
          <p:cNvPr id="47" name="Text 45"/>
          <p:cNvSpPr/>
          <p:nvPr/>
        </p:nvSpPr>
        <p:spPr>
          <a:xfrm>
            <a:off x="7137400" y="3346450"/>
            <a:ext cx="4369054"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E56A1F"/>
                </a:solidFill>
                <a:latin typeface="IBM Plex Sans" pitchFamily="34" charset="0"/>
                <a:ea typeface="IBM Plex Sans" pitchFamily="34" charset="-122"/>
                <a:cs typeface="IBM Plex Sans" pitchFamily="34" charset="-120"/>
              </a:rPr>
              <a:t>≤20</a:t>
            </a:r>
            <a:endParaRPr lang="en-US" sz="4000" dirty="0"/>
          </a:p>
        </p:txBody>
      </p:sp>
      <p:sp>
        <p:nvSpPr>
          <p:cNvPr id="48" name="Text 46"/>
          <p:cNvSpPr/>
          <p:nvPr/>
        </p:nvSpPr>
        <p:spPr>
          <a:xfrm>
            <a:off x="7137400" y="3892550"/>
            <a:ext cx="4369054"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A5A5A"/>
                </a:solidFill>
                <a:latin typeface="IBM Plex Sans" pitchFamily="34" charset="0"/>
                <a:ea typeface="IBM Plex Sans" pitchFamily="34" charset="-122"/>
                <a:cs typeface="IBM Plex Sans" pitchFamily="34" charset="-120"/>
              </a:rPr>
              <a:t>qubits per subproblem: our design bound for usable fidelity</a:t>
            </a:r>
            <a:endParaRPr lang="en-US" sz="1300" dirty="0"/>
          </a:p>
        </p:txBody>
      </p:sp>
      <p:sp>
        <p:nvSpPr>
          <p:cNvPr id="49" name="Shape 47"/>
          <p:cNvSpPr/>
          <p:nvPr/>
        </p:nvSpPr>
        <p:spPr>
          <a:xfrm>
            <a:off x="7137400" y="4573271"/>
            <a:ext cx="4241800" cy="0"/>
          </a:xfrm>
          <a:prstGeom prst="line">
            <a:avLst/>
          </a:prstGeom>
          <a:noFill/>
          <a:ln w="12700">
            <a:solidFill>
              <a:srgbClr val="171717"/>
            </a:solidFill>
            <a:prstDash val="solid"/>
          </a:ln>
        </p:spPr>
      </p:sp>
      <p:sp>
        <p:nvSpPr>
          <p:cNvPr id="50" name="Text 48"/>
          <p:cNvSpPr/>
          <p:nvPr/>
        </p:nvSpPr>
        <p:spPr>
          <a:xfrm>
            <a:off x="7137400" y="4704079"/>
            <a:ext cx="4369054"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C83A2A"/>
                </a:solidFill>
                <a:latin typeface="IBM Plex Sans" pitchFamily="34" charset="0"/>
                <a:ea typeface="IBM Plex Sans" pitchFamily="34" charset="-122"/>
                <a:cs typeface="IBM Plex Sans" pitchFamily="34" charset="-120"/>
              </a:rPr>
              <a:t>20,000+</a:t>
            </a:r>
            <a:endParaRPr lang="en-US" sz="4000" dirty="0"/>
          </a:p>
        </p:txBody>
      </p:sp>
      <p:sp>
        <p:nvSpPr>
          <p:cNvPr id="51" name="Text 49"/>
          <p:cNvSpPr/>
          <p:nvPr/>
        </p:nvSpPr>
        <p:spPr>
          <a:xfrm>
            <a:off x="7137400" y="5250179"/>
            <a:ext cx="4369054"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A5A5A"/>
                </a:solidFill>
                <a:latin typeface="IBM Plex Sans" pitchFamily="34" charset="0"/>
                <a:ea typeface="IBM Plex Sans" pitchFamily="34" charset="-122"/>
                <a:cs typeface="IBM Plex Sans" pitchFamily="34" charset="-120"/>
              </a:rPr>
              <a:t>two-qubit gates when large QAOA is transpiled naively, noise-dominated (arXiv 2607.11637)</a:t>
            </a:r>
            <a:endParaRPr lang="en-US" sz="1300" dirty="0"/>
          </a:p>
        </p:txBody>
      </p:sp>
      <p:sp>
        <p:nvSpPr>
          <p:cNvPr id="52" name="Text 50"/>
          <p:cNvSpPr/>
          <p:nvPr/>
        </p:nvSpPr>
        <p:spPr>
          <a:xfrm>
            <a:off x="812800" y="6238242"/>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53" name="Text 51"/>
          <p:cNvSpPr/>
          <p:nvPr/>
        </p:nvSpPr>
        <p:spPr>
          <a:xfrm>
            <a:off x="9804400" y="6238242"/>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A5A"/>
                </a:solidFill>
                <a:latin typeface="IBM Plex Mono" pitchFamily="34" charset="0"/>
                <a:ea typeface="IBM Plex Mono" pitchFamily="34" charset="-122"/>
                <a:cs typeface="IBM Plex Mono" pitchFamily="34" charset="-120"/>
              </a:rPr>
              <a:t>10 / 15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C1B1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56A1F"/>
                </a:solidFill>
                <a:latin typeface="IBM Plex Mono" pitchFamily="34" charset="0"/>
                <a:ea typeface="IBM Plex Mono" pitchFamily="34" charset="-122"/>
                <a:cs typeface="IBM Plex Mono" pitchFamily="34" charset="-120"/>
              </a:rPr>
              <a:t>10 · Adaptation</a:t>
            </a:r>
            <a:endParaRPr lang="en-US" sz="1200" dirty="0"/>
          </a:p>
        </p:txBody>
      </p:sp>
      <p:sp>
        <p:nvSpPr>
          <p:cNvPr id="3" name="Text 1"/>
          <p:cNvSpPr/>
          <p:nvPr/>
        </p:nvSpPr>
        <p:spPr>
          <a:xfrm>
            <a:off x="812800" y="11277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kern="0" spc="-50" dirty="0">
                <a:solidFill>
                  <a:srgbClr val="F5F2EA"/>
                </a:solidFill>
                <a:latin typeface="IBM Plex Sans" pitchFamily="34" charset="0"/>
                <a:ea typeface="IBM Plex Sans" pitchFamily="34" charset="-122"/>
                <a:cs typeface="IBM Plex Sans" pitchFamily="34" charset="-120"/>
              </a:rPr>
              <a:t>The plan follows the flood as it moves</a:t>
            </a:r>
            <a:endParaRPr lang="en-US" sz="3000" dirty="0"/>
          </a:p>
        </p:txBody>
      </p:sp>
      <p:sp>
        <p:nvSpPr>
          <p:cNvPr id="4" name="Text 2"/>
          <p:cNvSpPr/>
          <p:nvPr/>
        </p:nvSpPr>
        <p:spPr>
          <a:xfrm>
            <a:off x="812800" y="1851664"/>
            <a:ext cx="32702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56A1F"/>
                </a:solidFill>
                <a:latin typeface="IBM Plex Mono" pitchFamily="34" charset="0"/>
                <a:ea typeface="IBM Plex Mono" pitchFamily="34" charset="-122"/>
                <a:cs typeface="IBM Plex Mono" pitchFamily="34" charset="-120"/>
              </a:rPr>
              <a:t>T0 · forecast issued</a:t>
            </a:r>
            <a:endParaRPr lang="en-US" sz="1200" dirty="0"/>
          </a:p>
        </p:txBody>
      </p:sp>
      <p:pic>
        <p:nvPicPr>
          <p:cNvPr id="5" name="Image 0" descr="Map at T0 · forecast issued: risk layer and re-optimised sites"/>
          <p:cNvPicPr>
            <a:picLocks noChangeAspect="1"/>
          </p:cNvPicPr>
          <p:nvPr/>
        </p:nvPicPr>
        <p:blipFill>
          <a:blip r:embed="rId3"/>
          <a:srcRect/>
          <a:stretch/>
        </p:blipFill>
        <p:spPr>
          <a:xfrm>
            <a:off x="812800" y="2166621"/>
            <a:ext cx="3175000" cy="2381250"/>
          </a:xfrm>
          <a:prstGeom prst="rect">
            <a:avLst/>
          </a:prstGeom>
        </p:spPr>
      </p:pic>
      <p:sp>
        <p:nvSpPr>
          <p:cNvPr id="6" name="Text 3"/>
          <p:cNvSpPr/>
          <p:nvPr/>
        </p:nvSpPr>
        <p:spPr>
          <a:xfrm>
            <a:off x="812800" y="4649471"/>
            <a:ext cx="327025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9A59C"/>
                </a:solidFill>
                <a:latin typeface="IBM Plex Sans" pitchFamily="34" charset="0"/>
                <a:ea typeface="IBM Plex Sans" pitchFamily="34" charset="-122"/>
                <a:cs typeface="IBM Plex Sans" pitchFamily="34" charset="-120"/>
              </a:rPr>
              <a:t>Baseline risk; initial solve</a:t>
            </a:r>
            <a:endParaRPr lang="en-US" sz="1300" dirty="0"/>
          </a:p>
        </p:txBody>
      </p:sp>
      <p:sp>
        <p:nvSpPr>
          <p:cNvPr id="7" name="Text 4"/>
          <p:cNvSpPr/>
          <p:nvPr/>
        </p:nvSpPr>
        <p:spPr>
          <a:xfrm>
            <a:off x="4508500" y="1851664"/>
            <a:ext cx="32702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56A1F"/>
                </a:solidFill>
                <a:latin typeface="IBM Plex Mono" pitchFamily="34" charset="0"/>
                <a:ea typeface="IBM Plex Mono" pitchFamily="34" charset="-122"/>
                <a:cs typeface="IBM Plex Mono" pitchFamily="34" charset="-120"/>
              </a:rPr>
              <a:t>T+6 h · Budameru surge</a:t>
            </a:r>
            <a:endParaRPr lang="en-US" sz="1200" dirty="0"/>
          </a:p>
        </p:txBody>
      </p:sp>
      <p:pic>
        <p:nvPicPr>
          <p:cNvPr id="8" name="Image 1" descr="Map at T+6 h · Budameru surge: risk layer and re-optimised sites"/>
          <p:cNvPicPr>
            <a:picLocks noChangeAspect="1"/>
          </p:cNvPicPr>
          <p:nvPr/>
        </p:nvPicPr>
        <p:blipFill>
          <a:blip r:embed="rId4"/>
          <a:srcRect/>
          <a:stretch/>
        </p:blipFill>
        <p:spPr>
          <a:xfrm>
            <a:off x="4508500" y="2166621"/>
            <a:ext cx="3175000" cy="2381250"/>
          </a:xfrm>
          <a:prstGeom prst="rect">
            <a:avLst/>
          </a:prstGeom>
        </p:spPr>
      </p:pic>
      <p:sp>
        <p:nvSpPr>
          <p:cNvPr id="9" name="Text 5"/>
          <p:cNvSpPr/>
          <p:nvPr/>
        </p:nvSpPr>
        <p:spPr>
          <a:xfrm>
            <a:off x="4508500" y="4649471"/>
            <a:ext cx="327025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9A59C"/>
                </a:solidFill>
                <a:latin typeface="IBM Plex Sans" pitchFamily="34" charset="0"/>
                <a:ea typeface="IBM Plex Sans" pitchFamily="34" charset="-122"/>
                <a:cs typeface="IBM Plex Sans" pitchFamily="34" charset="-120"/>
              </a:rPr>
              <a:t>Risk shifts north; sites re-solved</a:t>
            </a:r>
            <a:endParaRPr lang="en-US" sz="1300" dirty="0"/>
          </a:p>
        </p:txBody>
      </p:sp>
      <p:sp>
        <p:nvSpPr>
          <p:cNvPr id="10" name="Text 6"/>
          <p:cNvSpPr/>
          <p:nvPr/>
        </p:nvSpPr>
        <p:spPr>
          <a:xfrm>
            <a:off x="8204200" y="1851664"/>
            <a:ext cx="32702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56A1F"/>
                </a:solidFill>
                <a:latin typeface="IBM Plex Mono" pitchFamily="34" charset="0"/>
                <a:ea typeface="IBM Plex Mono" pitchFamily="34" charset="-122"/>
                <a:cs typeface="IBM Plex Mono" pitchFamily="34" charset="-120"/>
              </a:rPr>
              <a:t>T+12 h · delta flooding</a:t>
            </a:r>
            <a:endParaRPr lang="en-US" sz="1200" dirty="0"/>
          </a:p>
        </p:txBody>
      </p:sp>
      <p:pic>
        <p:nvPicPr>
          <p:cNvPr id="11" name="Image 2" descr="Map at T+12 h · delta flooding: risk layer and re-optimised sites"/>
          <p:cNvPicPr>
            <a:picLocks noChangeAspect="1"/>
          </p:cNvPicPr>
          <p:nvPr/>
        </p:nvPicPr>
        <p:blipFill>
          <a:blip r:embed="rId5"/>
          <a:srcRect/>
          <a:stretch/>
        </p:blipFill>
        <p:spPr>
          <a:xfrm>
            <a:off x="8204200" y="2166621"/>
            <a:ext cx="3175000" cy="2381250"/>
          </a:xfrm>
          <a:prstGeom prst="rect">
            <a:avLst/>
          </a:prstGeom>
        </p:spPr>
      </p:pic>
      <p:sp>
        <p:nvSpPr>
          <p:cNvPr id="12" name="Text 7"/>
          <p:cNvSpPr/>
          <p:nvPr/>
        </p:nvSpPr>
        <p:spPr>
          <a:xfrm>
            <a:off x="8204200" y="4649471"/>
            <a:ext cx="327025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9A59C"/>
                </a:solidFill>
                <a:latin typeface="IBM Plex Sans" pitchFamily="34" charset="0"/>
                <a:ea typeface="IBM Plex Sans" pitchFamily="34" charset="-122"/>
                <a:cs typeface="IBM Plex Sans" pitchFamily="34" charset="-120"/>
              </a:rPr>
              <a:t>Delta at risk; sites re-solved</a:t>
            </a:r>
            <a:endParaRPr lang="en-US" sz="1300" dirty="0"/>
          </a:p>
        </p:txBody>
      </p:sp>
      <p:sp>
        <p:nvSpPr>
          <p:cNvPr id="13" name="Text 8"/>
          <p:cNvSpPr/>
          <p:nvPr/>
        </p:nvSpPr>
        <p:spPr>
          <a:xfrm>
            <a:off x="812800" y="5185414"/>
            <a:ext cx="3348736"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56A1F"/>
                </a:solidFill>
                <a:latin typeface="IBM Plex Sans" pitchFamily="34" charset="0"/>
                <a:ea typeface="IBM Plex Sans" pitchFamily="34" charset="-122"/>
                <a:cs typeface="IBM Plex Sans" pitchFamily="34" charset="-120"/>
              </a:rPr>
              <a:t>Trigger:</a:t>
            </a:r>
            <a:r>
              <a:rPr lang="en-US" sz="1400" dirty="0">
                <a:solidFill>
                  <a:srgbClr val="F5F2EA"/>
                </a:solidFill>
                <a:latin typeface="IBM Plex Sans" pitchFamily="34" charset="0"/>
                <a:ea typeface="IBM Plex Sans" pitchFamily="34" charset="-122"/>
                <a:cs typeface="IBM Plex Sans" pitchFamily="34" charset="-120"/>
              </a:rPr>
              <a:t> new rainfall, gauge or road data past a threshold</a:t>
            </a:r>
            <a:endParaRPr lang="en-US" sz="1400" dirty="0"/>
          </a:p>
        </p:txBody>
      </p:sp>
      <p:sp>
        <p:nvSpPr>
          <p:cNvPr id="14" name="Text 9"/>
          <p:cNvSpPr/>
          <p:nvPr/>
        </p:nvSpPr>
        <p:spPr>
          <a:xfrm>
            <a:off x="4470400" y="5185414"/>
            <a:ext cx="3348736"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56A1F"/>
                </a:solidFill>
                <a:latin typeface="IBM Plex Sans" pitchFamily="34" charset="0"/>
                <a:ea typeface="IBM Plex Sans" pitchFamily="34" charset="-122"/>
                <a:cs typeface="IBM Plex Sans" pitchFamily="34" charset="-120"/>
              </a:rPr>
              <a:t>Local re-solve:</a:t>
            </a:r>
            <a:r>
              <a:rPr lang="en-US" sz="1400" dirty="0">
                <a:solidFill>
                  <a:srgbClr val="F5F2EA"/>
                </a:solidFill>
                <a:latin typeface="IBM Plex Sans" pitchFamily="34" charset="0"/>
                <a:ea typeface="IBM Plex Sans" pitchFamily="34" charset="-122"/>
                <a:cs typeface="IBM Plex Sans" pitchFamily="34" charset="-120"/>
              </a:rPr>
              <a:t> only subregions whose risk changed go back to the QPU</a:t>
            </a:r>
            <a:endParaRPr lang="en-US" sz="1400" dirty="0"/>
          </a:p>
        </p:txBody>
      </p:sp>
      <p:sp>
        <p:nvSpPr>
          <p:cNvPr id="15" name="Text 10"/>
          <p:cNvSpPr/>
          <p:nvPr/>
        </p:nvSpPr>
        <p:spPr>
          <a:xfrm>
            <a:off x="8128000" y="5185414"/>
            <a:ext cx="3348736"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56A1F"/>
                </a:solidFill>
                <a:latin typeface="IBM Plex Sans" pitchFamily="34" charset="0"/>
                <a:ea typeface="IBM Plex Sans" pitchFamily="34" charset="-122"/>
                <a:cs typeface="IBM Plex Sans" pitchFamily="34" charset="-120"/>
              </a:rPr>
              <a:t>Warm start:</a:t>
            </a:r>
            <a:r>
              <a:rPr lang="en-US" sz="1400" dirty="0">
                <a:solidFill>
                  <a:srgbClr val="F5F2EA"/>
                </a:solidFill>
                <a:latin typeface="IBM Plex Sans" pitchFamily="34" charset="0"/>
                <a:ea typeface="IBM Plex Sans" pitchFamily="34" charset="-122"/>
                <a:cs typeface="IBM Plex Sans" pitchFamily="34" charset="-120"/>
              </a:rPr>
              <a:t> previous γ, β cut optimiser iterations</a:t>
            </a:r>
            <a:endParaRPr lang="en-US" sz="1400" dirty="0"/>
          </a:p>
        </p:txBody>
      </p:sp>
      <p:sp>
        <p:nvSpPr>
          <p:cNvPr id="16" name="Text 11"/>
          <p:cNvSpPr/>
          <p:nvPr/>
        </p:nvSpPr>
        <p:spPr>
          <a:xfrm>
            <a:off x="812800" y="6238242"/>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A59C"/>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17" name="Text 12"/>
          <p:cNvSpPr/>
          <p:nvPr/>
        </p:nvSpPr>
        <p:spPr>
          <a:xfrm>
            <a:off x="9804400" y="6238242"/>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A59C"/>
                </a:solidFill>
                <a:latin typeface="IBM Plex Mono" pitchFamily="34" charset="0"/>
                <a:ea typeface="IBM Plex Mono" pitchFamily="34" charset="-122"/>
                <a:cs typeface="IBM Plex Mono" pitchFamily="34" charset="-120"/>
              </a:rPr>
              <a:t>11 / 15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0426"/>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B04A12"/>
                </a:solidFill>
                <a:latin typeface="IBM Plex Mono" pitchFamily="34" charset="0"/>
                <a:ea typeface="IBM Plex Mono" pitchFamily="34" charset="-122"/>
                <a:cs typeface="IBM Plex Mono" pitchFamily="34" charset="-120"/>
              </a:rPr>
              <a:t>11 · Result</a:t>
            </a:r>
            <a:endParaRPr lang="en-US" sz="1159" dirty="0"/>
          </a:p>
        </p:txBody>
      </p:sp>
      <p:sp>
        <p:nvSpPr>
          <p:cNvPr id="3" name="Text 1"/>
          <p:cNvSpPr/>
          <p:nvPr/>
        </p:nvSpPr>
        <p:spPr>
          <a:xfrm>
            <a:off x="812800" y="1119429"/>
            <a:ext cx="10883392" cy="428069"/>
          </a:xfrm>
          <a:prstGeom prst="rect">
            <a:avLst/>
          </a:prstGeom>
          <a:noFill/>
          <a:ln/>
        </p:spPr>
        <p:txBody>
          <a:bodyPr wrap="square" lIns="0" tIns="0" rIns="0" bIns="0" rtlCol="0" anchor="t">
            <a:normAutofit/>
          </a:bodyPr>
          <a:lstStyle/>
          <a:p>
            <a:pPr marL="0" indent="0" algn="l">
              <a:lnSpc>
                <a:spcPts val="3166"/>
              </a:lnSpc>
              <a:buNone/>
            </a:pPr>
            <a:r>
              <a:rPr lang="en-US" sz="2878" b="1" kern="0" spc="-50" dirty="0">
                <a:solidFill>
                  <a:srgbClr val="171717"/>
                </a:solidFill>
                <a:latin typeface="IBM Plex Sans" pitchFamily="34" charset="0"/>
                <a:ea typeface="IBM Plex Sans" pitchFamily="34" charset="-122"/>
                <a:cs typeface="IBM Plex Sans" pitchFamily="34" charset="-120"/>
              </a:rPr>
              <a:t>Same six units, placed where the risk is</a:t>
            </a:r>
            <a:endParaRPr lang="en-US" sz="2878" dirty="0"/>
          </a:p>
        </p:txBody>
      </p:sp>
      <p:sp>
        <p:nvSpPr>
          <p:cNvPr id="4" name="Text 2"/>
          <p:cNvSpPr/>
          <p:nvPr/>
        </p:nvSpPr>
        <p:spPr>
          <a:xfrm>
            <a:off x="812800" y="1789354"/>
            <a:ext cx="220586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71717"/>
                </a:solidFill>
                <a:latin typeface="IBM Plex Sans" pitchFamily="34" charset="0"/>
                <a:ea typeface="IBM Plex Sans" pitchFamily="34" charset="-122"/>
                <a:cs typeface="IBM Plex Sans" pitchFamily="34" charset="-120"/>
              </a:rPr>
              <a:t>Before: uniform spacing</a:t>
            </a:r>
            <a:endParaRPr lang="en-US" sz="1500" dirty="0"/>
          </a:p>
        </p:txBody>
      </p:sp>
      <p:sp>
        <p:nvSpPr>
          <p:cNvPr id="5" name="Shape 3"/>
          <p:cNvSpPr/>
          <p:nvPr/>
        </p:nvSpPr>
        <p:spPr>
          <a:xfrm>
            <a:off x="4475480" y="1790619"/>
            <a:ext cx="909320" cy="264160"/>
          </a:xfrm>
          <a:prstGeom prst="rect">
            <a:avLst/>
          </a:prstGeom>
          <a:solidFill>
            <a:srgbClr val="5A5A5A"/>
          </a:solidFill>
          <a:ln/>
        </p:spPr>
      </p:sp>
      <p:sp>
        <p:nvSpPr>
          <p:cNvPr id="6" name="Text 4"/>
          <p:cNvSpPr/>
          <p:nvPr/>
        </p:nvSpPr>
        <p:spPr>
          <a:xfrm>
            <a:off x="4564380" y="1816019"/>
            <a:ext cx="7823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2EA"/>
                </a:solidFill>
                <a:latin typeface="IBM Plex Mono" pitchFamily="34" charset="0"/>
                <a:ea typeface="IBM Plex Mono" pitchFamily="34" charset="-122"/>
                <a:cs typeface="IBM Plex Mono" pitchFamily="34" charset="-120"/>
              </a:rPr>
              <a:t>Baseline</a:t>
            </a:r>
            <a:endParaRPr lang="en-US" sz="1200" dirty="0"/>
          </a:p>
        </p:txBody>
      </p:sp>
      <p:pic>
        <p:nvPicPr>
          <p:cNvPr id="7" name="Image 0" descr="Uniform placement ignoring risk"/>
          <p:cNvPicPr>
            <a:picLocks noChangeAspect="1"/>
          </p:cNvPicPr>
          <p:nvPr/>
        </p:nvPicPr>
        <p:blipFill>
          <a:blip r:embed="rId3"/>
          <a:srcRect/>
          <a:stretch/>
        </p:blipFill>
        <p:spPr>
          <a:xfrm>
            <a:off x="812800" y="2132726"/>
            <a:ext cx="4572000" cy="3429000"/>
          </a:xfrm>
          <a:prstGeom prst="rect">
            <a:avLst/>
          </a:prstGeom>
        </p:spPr>
      </p:pic>
      <p:sp>
        <p:nvSpPr>
          <p:cNvPr id="8" name="Text 5"/>
          <p:cNvSpPr/>
          <p:nvPr/>
        </p:nvSpPr>
        <p:spPr>
          <a:xfrm>
            <a:off x="812800" y="5676026"/>
            <a:ext cx="4709160" cy="191373"/>
          </a:xfrm>
          <a:prstGeom prst="rect">
            <a:avLst/>
          </a:prstGeom>
          <a:noFill/>
          <a:ln/>
        </p:spPr>
        <p:txBody>
          <a:bodyPr wrap="square" lIns="0" tIns="0" rIns="0" bIns="0" rtlCol="0" anchor="t">
            <a:normAutofit/>
          </a:bodyPr>
          <a:lstStyle/>
          <a:p>
            <a:pPr marL="0" indent="0" algn="l">
              <a:lnSpc>
                <a:spcPts val="1319"/>
              </a:lnSpc>
              <a:buNone/>
            </a:pPr>
            <a:r>
              <a:rPr lang="en-US" sz="942" dirty="0">
                <a:solidFill>
                  <a:srgbClr val="5A5A5A"/>
                </a:solidFill>
                <a:latin typeface="IBM Plex Sans" pitchFamily="34" charset="0"/>
                <a:ea typeface="IBM Plex Sans" pitchFamily="34" charset="-122"/>
                <a:cs typeface="IBM Plex Sans" pitchFamily="34" charset="-120"/>
              </a:rPr>
              <a:t>High-risk pop. covered: </a:t>
            </a:r>
            <a:r>
              <a:rPr lang="en-US" sz="942" b="1" dirty="0">
                <a:solidFill>
                  <a:srgbClr val="5A5A5A"/>
                </a:solidFill>
                <a:latin typeface="IBM Plex Sans" pitchFamily="34" charset="0"/>
                <a:ea typeface="IBM Plex Sans" pitchFamily="34" charset="-122"/>
                <a:cs typeface="IBM Plex Sans" pitchFamily="34" charset="-120"/>
              </a:rPr>
              <a:t>[__]%</a:t>
            </a:r>
            <a:endParaRPr lang="en-US" sz="942" dirty="0"/>
          </a:p>
        </p:txBody>
      </p:sp>
      <p:sp>
        <p:nvSpPr>
          <p:cNvPr id="9" name="Text 6"/>
          <p:cNvSpPr/>
          <p:nvPr/>
        </p:nvSpPr>
        <p:spPr>
          <a:xfrm>
            <a:off x="6807200" y="1789354"/>
            <a:ext cx="241270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71717"/>
                </a:solidFill>
                <a:latin typeface="IBM Plex Sans" pitchFamily="34" charset="0"/>
                <a:ea typeface="IBM Plex Sans" pitchFamily="34" charset="-122"/>
                <a:cs typeface="IBM Plex Sans" pitchFamily="34" charset="-120"/>
              </a:rPr>
              <a:t>After: QAOA on IBM Heron</a:t>
            </a:r>
            <a:endParaRPr lang="en-US" sz="1500" dirty="0"/>
          </a:p>
        </p:txBody>
      </p:sp>
      <p:sp>
        <p:nvSpPr>
          <p:cNvPr id="10" name="Shape 7"/>
          <p:cNvSpPr/>
          <p:nvPr/>
        </p:nvSpPr>
        <p:spPr>
          <a:xfrm>
            <a:off x="10378440" y="1790619"/>
            <a:ext cx="1000760" cy="264160"/>
          </a:xfrm>
          <a:prstGeom prst="rect">
            <a:avLst/>
          </a:prstGeom>
          <a:solidFill>
            <a:srgbClr val="4F7658"/>
          </a:solidFill>
          <a:ln/>
        </p:spPr>
      </p:sp>
      <p:sp>
        <p:nvSpPr>
          <p:cNvPr id="11" name="Text 8"/>
          <p:cNvSpPr/>
          <p:nvPr/>
        </p:nvSpPr>
        <p:spPr>
          <a:xfrm>
            <a:off x="10467340" y="1816019"/>
            <a:ext cx="8737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2EA"/>
                </a:solidFill>
                <a:latin typeface="IBM Plex Mono" pitchFamily="34" charset="0"/>
                <a:ea typeface="IBM Plex Mono" pitchFamily="34" charset="-122"/>
                <a:cs typeface="IBM Plex Mono" pitchFamily="34" charset="-120"/>
              </a:rPr>
              <a:t>Optimised</a:t>
            </a:r>
            <a:endParaRPr lang="en-US" sz="1200" dirty="0"/>
          </a:p>
        </p:txBody>
      </p:sp>
      <p:pic>
        <p:nvPicPr>
          <p:cNvPr id="12" name="Image 1" descr="Risk-optimised placement from QAOA"/>
          <p:cNvPicPr>
            <a:picLocks noChangeAspect="1"/>
          </p:cNvPicPr>
          <p:nvPr/>
        </p:nvPicPr>
        <p:blipFill>
          <a:blip r:embed="rId4"/>
          <a:srcRect/>
          <a:stretch/>
        </p:blipFill>
        <p:spPr>
          <a:xfrm>
            <a:off x="6807200" y="2132726"/>
            <a:ext cx="4572000" cy="3429000"/>
          </a:xfrm>
          <a:prstGeom prst="rect">
            <a:avLst/>
          </a:prstGeom>
        </p:spPr>
      </p:pic>
      <p:sp>
        <p:nvSpPr>
          <p:cNvPr id="13" name="Text 9"/>
          <p:cNvSpPr/>
          <p:nvPr/>
        </p:nvSpPr>
        <p:spPr>
          <a:xfrm>
            <a:off x="6807200" y="5676026"/>
            <a:ext cx="4709160" cy="191373"/>
          </a:xfrm>
          <a:prstGeom prst="rect">
            <a:avLst/>
          </a:prstGeom>
          <a:noFill/>
          <a:ln/>
        </p:spPr>
        <p:txBody>
          <a:bodyPr wrap="square" lIns="0" tIns="0" rIns="0" bIns="0" rtlCol="0" anchor="t">
            <a:normAutofit/>
          </a:bodyPr>
          <a:lstStyle/>
          <a:p>
            <a:pPr marL="0" indent="0" algn="l">
              <a:lnSpc>
                <a:spcPts val="1319"/>
              </a:lnSpc>
              <a:buNone/>
            </a:pPr>
            <a:r>
              <a:rPr lang="en-US" sz="942" dirty="0">
                <a:solidFill>
                  <a:srgbClr val="5A5A5A"/>
                </a:solidFill>
                <a:latin typeface="IBM Plex Sans" pitchFamily="34" charset="0"/>
                <a:ea typeface="IBM Plex Sans" pitchFamily="34" charset="-122"/>
                <a:cs typeface="IBM Plex Sans" pitchFamily="34" charset="-120"/>
              </a:rPr>
              <a:t>High-risk pop. covered: </a:t>
            </a:r>
            <a:r>
              <a:rPr lang="en-US" sz="942" b="1" dirty="0">
                <a:solidFill>
                  <a:srgbClr val="5A5A5A"/>
                </a:solidFill>
                <a:latin typeface="IBM Plex Sans" pitchFamily="34" charset="0"/>
                <a:ea typeface="IBM Plex Sans" pitchFamily="34" charset="-122"/>
                <a:cs typeface="IBM Plex Sans" pitchFamily="34" charset="-120"/>
              </a:rPr>
              <a:t>[__]%</a:t>
            </a:r>
            <a:r>
              <a:rPr lang="en-US" sz="942" dirty="0">
                <a:solidFill>
                  <a:srgbClr val="5A5A5A"/>
                </a:solidFill>
                <a:latin typeface="IBM Plex Sans" pitchFamily="34" charset="0"/>
                <a:ea typeface="IBM Plex Sans" pitchFamily="34" charset="-122"/>
                <a:cs typeface="IBM Plex Sans" pitchFamily="34" charset="-120"/>
              </a:rPr>
              <a:t> · ratio </a:t>
            </a:r>
            <a:r>
              <a:rPr lang="en-US" sz="942" b="1" dirty="0">
                <a:solidFill>
                  <a:srgbClr val="5A5A5A"/>
                </a:solidFill>
                <a:latin typeface="IBM Plex Sans" pitchFamily="34" charset="0"/>
                <a:ea typeface="IBM Plex Sans" pitchFamily="34" charset="-122"/>
                <a:cs typeface="IBM Plex Sans" pitchFamily="34" charset="-120"/>
              </a:rPr>
              <a:t>[__]</a:t>
            </a:r>
            <a:endParaRPr lang="en-US" sz="942" dirty="0"/>
          </a:p>
        </p:txBody>
      </p:sp>
      <p:sp>
        <p:nvSpPr>
          <p:cNvPr id="14" name="Text 10"/>
          <p:cNvSpPr/>
          <p:nvPr/>
        </p:nvSpPr>
        <p:spPr>
          <a:xfrm>
            <a:off x="812800" y="6238242"/>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15" name="Text 11"/>
          <p:cNvSpPr/>
          <p:nvPr/>
        </p:nvSpPr>
        <p:spPr>
          <a:xfrm>
            <a:off x="9804400" y="6238242"/>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A5A"/>
                </a:solidFill>
                <a:latin typeface="IBM Plex Mono" pitchFamily="34" charset="0"/>
                <a:ea typeface="IBM Plex Mono" pitchFamily="34" charset="-122"/>
                <a:cs typeface="IBM Plex Mono" pitchFamily="34" charset="-120"/>
              </a:rPr>
              <a:t>12 / 15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6617"/>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B04A12"/>
                </a:solidFill>
                <a:latin typeface="IBM Plex Mono" pitchFamily="34" charset="0"/>
                <a:ea typeface="IBM Plex Mono" pitchFamily="34" charset="-122"/>
                <a:cs typeface="IBM Plex Mono" pitchFamily="34" charset="-120"/>
              </a:rPr>
              <a:t>12 · Demo</a:t>
            </a:r>
            <a:endParaRPr lang="en-US" sz="1196" dirty="0"/>
          </a:p>
        </p:txBody>
      </p:sp>
      <p:sp>
        <p:nvSpPr>
          <p:cNvPr id="3" name="Text 1"/>
          <p:cNvSpPr/>
          <p:nvPr/>
        </p:nvSpPr>
        <p:spPr>
          <a:xfrm>
            <a:off x="812800" y="1125618"/>
            <a:ext cx="10883392" cy="440372"/>
          </a:xfrm>
          <a:prstGeom prst="rect">
            <a:avLst/>
          </a:prstGeom>
          <a:noFill/>
          <a:ln/>
        </p:spPr>
        <p:txBody>
          <a:bodyPr wrap="square" lIns="0" tIns="0" rIns="0" bIns="0" rtlCol="0" anchor="t">
            <a:normAutofit/>
          </a:bodyPr>
          <a:lstStyle/>
          <a:p>
            <a:pPr marL="0" indent="0" algn="l">
              <a:lnSpc>
                <a:spcPts val="3269"/>
              </a:lnSpc>
              <a:buNone/>
            </a:pPr>
            <a:r>
              <a:rPr lang="en-US" sz="2972" b="1" kern="0" spc="-50" dirty="0">
                <a:solidFill>
                  <a:srgbClr val="171717"/>
                </a:solidFill>
                <a:latin typeface="IBM Plex Sans" pitchFamily="34" charset="0"/>
                <a:ea typeface="IBM Plex Sans" pitchFamily="34" charset="-122"/>
                <a:cs typeface="IBM Plex Sans" pitchFamily="34" charset="-120"/>
              </a:rPr>
              <a:t>The operator view: a map, a QPU job, a plan</a:t>
            </a:r>
            <a:endParaRPr lang="en-US" sz="2972" dirty="0"/>
          </a:p>
        </p:txBody>
      </p:sp>
      <p:sp>
        <p:nvSpPr>
          <p:cNvPr id="4" name="Shape 2"/>
          <p:cNvSpPr/>
          <p:nvPr/>
        </p:nvSpPr>
        <p:spPr>
          <a:xfrm>
            <a:off x="819150" y="1851738"/>
            <a:ext cx="10553700" cy="3417253"/>
          </a:xfrm>
          <a:prstGeom prst="rect">
            <a:avLst/>
          </a:prstGeom>
          <a:noFill/>
          <a:ln w="12700">
            <a:solidFill>
              <a:srgbClr val="171717"/>
            </a:solidFill>
            <a:prstDash val="solid"/>
          </a:ln>
        </p:spPr>
      </p:sp>
      <p:sp>
        <p:nvSpPr>
          <p:cNvPr id="5" name="Shape 3"/>
          <p:cNvSpPr/>
          <p:nvPr/>
        </p:nvSpPr>
        <p:spPr>
          <a:xfrm>
            <a:off x="822960" y="1855552"/>
            <a:ext cx="10546080" cy="363617"/>
          </a:xfrm>
          <a:prstGeom prst="rect">
            <a:avLst/>
          </a:prstGeom>
          <a:solidFill>
            <a:srgbClr val="171717"/>
          </a:solidFill>
          <a:ln/>
        </p:spPr>
      </p:sp>
      <p:sp>
        <p:nvSpPr>
          <p:cNvPr id="6" name="Text 4"/>
          <p:cNvSpPr/>
          <p:nvPr/>
        </p:nvSpPr>
        <p:spPr>
          <a:xfrm>
            <a:off x="975360" y="1930716"/>
            <a:ext cx="273131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2EA"/>
                </a:solidFill>
                <a:latin typeface="IBM Plex Mono" pitchFamily="34" charset="0"/>
                <a:ea typeface="IBM Plex Mono" pitchFamily="34" charset="-122"/>
                <a:cs typeface="IBM Plex Mono" pitchFamily="34" charset="-120"/>
              </a:rPr>
              <a:t>Q-ADR console · Krishna basin</a:t>
            </a:r>
            <a:endParaRPr lang="en-US" sz="1200" dirty="0"/>
          </a:p>
        </p:txBody>
      </p:sp>
      <p:sp>
        <p:nvSpPr>
          <p:cNvPr id="7" name="Text 5"/>
          <p:cNvSpPr/>
          <p:nvPr/>
        </p:nvSpPr>
        <p:spPr>
          <a:xfrm>
            <a:off x="9113441" y="1930716"/>
            <a:ext cx="216629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BFA5"/>
                </a:solidFill>
                <a:latin typeface="IBM Plex Mono" pitchFamily="34" charset="0"/>
                <a:ea typeface="IBM Plex Mono" pitchFamily="34" charset="-122"/>
                <a:cs typeface="IBM Plex Mono" pitchFamily="34" charset="-120"/>
              </a:rPr>
              <a:t>● IBM Quantum connected</a:t>
            </a:r>
            <a:endParaRPr lang="en-US" sz="1200" dirty="0"/>
          </a:p>
        </p:txBody>
      </p:sp>
      <p:pic>
        <p:nvPicPr>
          <p:cNvPr id="8" name="Image 0" descr="Dashboard map view: live risk and current placement"/>
          <p:cNvPicPr>
            <a:picLocks noChangeAspect="1"/>
          </p:cNvPicPr>
          <p:nvPr/>
        </p:nvPicPr>
        <p:blipFill>
          <a:blip r:embed="rId3"/>
          <a:srcRect/>
          <a:stretch/>
        </p:blipFill>
        <p:spPr>
          <a:xfrm>
            <a:off x="975360" y="2371570"/>
            <a:ext cx="3683000" cy="2762250"/>
          </a:xfrm>
          <a:prstGeom prst="rect">
            <a:avLst/>
          </a:prstGeom>
        </p:spPr>
      </p:pic>
      <p:sp>
        <p:nvSpPr>
          <p:cNvPr id="9" name="Text 6"/>
          <p:cNvSpPr/>
          <p:nvPr/>
        </p:nvSpPr>
        <p:spPr>
          <a:xfrm>
            <a:off x="4912360" y="2371570"/>
            <a:ext cx="6493408" cy="287973"/>
          </a:xfrm>
          <a:prstGeom prst="rect">
            <a:avLst/>
          </a:prstGeom>
          <a:noFill/>
          <a:ln/>
        </p:spPr>
        <p:txBody>
          <a:bodyPr wrap="square" lIns="0" tIns="0" rIns="0" bIns="0" rtlCol="0" anchor="t">
            <a:normAutofit/>
          </a:bodyPr>
          <a:lstStyle/>
          <a:p>
            <a:pPr marL="0" indent="0" algn="l">
              <a:lnSpc>
                <a:spcPts val="2074"/>
              </a:lnSpc>
              <a:buNone/>
            </a:pPr>
            <a:r>
              <a:rPr lang="en-US" sz="1481" b="1" dirty="0">
                <a:solidFill>
                  <a:srgbClr val="171717"/>
                </a:solidFill>
                <a:latin typeface="IBM Plex Sans" pitchFamily="34" charset="0"/>
                <a:ea typeface="IBM Plex Sans" pitchFamily="34" charset="-122"/>
                <a:cs typeface="IBM Plex Sans" pitchFamily="34" charset="-120"/>
              </a:rPr>
              <a:t>QPU job</a:t>
            </a:r>
            <a:endParaRPr lang="en-US" sz="1481" dirty="0"/>
          </a:p>
        </p:txBody>
      </p:sp>
      <p:sp>
        <p:nvSpPr>
          <p:cNvPr id="10" name="Text 7"/>
          <p:cNvSpPr/>
          <p:nvPr/>
        </p:nvSpPr>
        <p:spPr>
          <a:xfrm>
            <a:off x="4912360" y="2735740"/>
            <a:ext cx="508000" cy="23550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Event</a:t>
            </a:r>
            <a:endParaRPr lang="en-US" sz="1200" dirty="0"/>
          </a:p>
        </p:txBody>
      </p:sp>
      <p:sp>
        <p:nvSpPr>
          <p:cNvPr id="11" name="Text 8"/>
          <p:cNvSpPr/>
          <p:nvPr/>
        </p:nvSpPr>
        <p:spPr>
          <a:xfrm>
            <a:off x="9204960" y="2735740"/>
            <a:ext cx="2072031" cy="23550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717"/>
                </a:solidFill>
                <a:latin typeface="IBM Plex Mono" pitchFamily="34" charset="0"/>
                <a:ea typeface="IBM Plex Mono" pitchFamily="34" charset="-122"/>
                <a:cs typeface="IBM Plex Mono" pitchFamily="34" charset="-120"/>
              </a:rPr>
              <a:t>Budameru surge · T+6 h</a:t>
            </a:r>
            <a:endParaRPr lang="en-US" sz="1200" dirty="0"/>
          </a:p>
        </p:txBody>
      </p:sp>
      <p:sp>
        <p:nvSpPr>
          <p:cNvPr id="12" name="Shape 9"/>
          <p:cNvSpPr/>
          <p:nvPr/>
        </p:nvSpPr>
        <p:spPr>
          <a:xfrm>
            <a:off x="4912360" y="3050623"/>
            <a:ext cx="6304280" cy="0"/>
          </a:xfrm>
          <a:prstGeom prst="line">
            <a:avLst/>
          </a:prstGeom>
          <a:noFill/>
          <a:ln w="6350">
            <a:solidFill>
              <a:srgbClr val="D8D5CE"/>
            </a:solidFill>
            <a:prstDash val="solid"/>
          </a:ln>
        </p:spPr>
      </p:sp>
      <p:sp>
        <p:nvSpPr>
          <p:cNvPr id="13" name="Text 10"/>
          <p:cNvSpPr/>
          <p:nvPr/>
        </p:nvSpPr>
        <p:spPr>
          <a:xfrm>
            <a:off x="4912360" y="3103327"/>
            <a:ext cx="690880" cy="2354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Backend</a:t>
            </a:r>
            <a:endParaRPr lang="en-US" sz="1200" dirty="0"/>
          </a:p>
        </p:txBody>
      </p:sp>
      <p:sp>
        <p:nvSpPr>
          <p:cNvPr id="14" name="Text 11"/>
          <p:cNvSpPr/>
          <p:nvPr/>
        </p:nvSpPr>
        <p:spPr>
          <a:xfrm>
            <a:off x="9022080" y="3103327"/>
            <a:ext cx="2260397" cy="2354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717"/>
                </a:solidFill>
                <a:latin typeface="IBM Plex Mono" pitchFamily="34" charset="0"/>
                <a:ea typeface="IBM Plex Mono" pitchFamily="34" charset="-122"/>
                <a:cs typeface="IBM Plex Mono" pitchFamily="34" charset="-120"/>
              </a:rPr>
              <a:t>ibm_[backend] · Heron r2</a:t>
            </a:r>
            <a:endParaRPr lang="en-US" sz="1200" dirty="0"/>
          </a:p>
        </p:txBody>
      </p:sp>
      <p:sp>
        <p:nvSpPr>
          <p:cNvPr id="15" name="Shape 12"/>
          <p:cNvSpPr/>
          <p:nvPr/>
        </p:nvSpPr>
        <p:spPr>
          <a:xfrm>
            <a:off x="4912360" y="3418129"/>
            <a:ext cx="6304280" cy="0"/>
          </a:xfrm>
          <a:prstGeom prst="line">
            <a:avLst/>
          </a:prstGeom>
          <a:noFill/>
          <a:ln w="6350">
            <a:solidFill>
              <a:srgbClr val="D8D5CE"/>
            </a:solidFill>
            <a:prstDash val="solid"/>
          </a:ln>
        </p:spPr>
      </p:sp>
      <p:sp>
        <p:nvSpPr>
          <p:cNvPr id="16" name="Text 13"/>
          <p:cNvSpPr/>
          <p:nvPr/>
        </p:nvSpPr>
        <p:spPr>
          <a:xfrm>
            <a:off x="4912360" y="3470833"/>
            <a:ext cx="1056640" cy="23550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Subproblems</a:t>
            </a:r>
            <a:endParaRPr lang="en-US" sz="1200" dirty="0"/>
          </a:p>
        </p:txBody>
      </p:sp>
      <p:sp>
        <p:nvSpPr>
          <p:cNvPr id="17" name="Text 14"/>
          <p:cNvSpPr/>
          <p:nvPr/>
        </p:nvSpPr>
        <p:spPr>
          <a:xfrm>
            <a:off x="9662081" y="3470833"/>
            <a:ext cx="1605359" cy="23550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717"/>
                </a:solidFill>
                <a:latin typeface="IBM Plex Mono" pitchFamily="34" charset="0"/>
                <a:ea typeface="IBM Plex Mono" pitchFamily="34" charset="-122"/>
                <a:cs typeface="IBM Plex Mono" pitchFamily="34" charset="-120"/>
              </a:rPr>
              <a:t>[__] × ≤20 qubits</a:t>
            </a:r>
            <a:endParaRPr lang="en-US" sz="1200" dirty="0"/>
          </a:p>
        </p:txBody>
      </p:sp>
      <p:sp>
        <p:nvSpPr>
          <p:cNvPr id="18" name="Shape 15"/>
          <p:cNvSpPr/>
          <p:nvPr/>
        </p:nvSpPr>
        <p:spPr>
          <a:xfrm>
            <a:off x="4912360" y="3785710"/>
            <a:ext cx="6304280" cy="0"/>
          </a:xfrm>
          <a:prstGeom prst="line">
            <a:avLst/>
          </a:prstGeom>
          <a:noFill/>
          <a:ln w="6350">
            <a:solidFill>
              <a:srgbClr val="D8D5CE"/>
            </a:solidFill>
            <a:prstDash val="solid"/>
          </a:ln>
        </p:spPr>
      </p:sp>
      <p:sp>
        <p:nvSpPr>
          <p:cNvPr id="19" name="Text 16"/>
          <p:cNvSpPr/>
          <p:nvPr/>
        </p:nvSpPr>
        <p:spPr>
          <a:xfrm>
            <a:off x="4912360" y="3838420"/>
            <a:ext cx="508000" cy="2354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Shots</a:t>
            </a:r>
            <a:endParaRPr lang="en-US" sz="1200" dirty="0"/>
          </a:p>
        </p:txBody>
      </p:sp>
      <p:sp>
        <p:nvSpPr>
          <p:cNvPr id="20" name="Text 17"/>
          <p:cNvSpPr/>
          <p:nvPr/>
        </p:nvSpPr>
        <p:spPr>
          <a:xfrm>
            <a:off x="9753600" y="3838420"/>
            <a:ext cx="1513840" cy="2354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717"/>
                </a:solidFill>
                <a:latin typeface="IBM Plex Mono" pitchFamily="34" charset="0"/>
                <a:ea typeface="IBM Plex Mono" pitchFamily="34" charset="-122"/>
                <a:cs typeface="IBM Plex Mono" pitchFamily="34" charset="-120"/>
              </a:rPr>
              <a:t>[__] per circuit</a:t>
            </a:r>
            <a:endParaRPr lang="en-US" sz="1200" dirty="0"/>
          </a:p>
        </p:txBody>
      </p:sp>
      <p:sp>
        <p:nvSpPr>
          <p:cNvPr id="21" name="Shape 18"/>
          <p:cNvSpPr/>
          <p:nvPr/>
        </p:nvSpPr>
        <p:spPr>
          <a:xfrm>
            <a:off x="4912360" y="4153216"/>
            <a:ext cx="6304280" cy="0"/>
          </a:xfrm>
          <a:prstGeom prst="line">
            <a:avLst/>
          </a:prstGeom>
          <a:noFill/>
          <a:ln w="6350">
            <a:solidFill>
              <a:srgbClr val="D8D5CE"/>
            </a:solidFill>
            <a:prstDash val="solid"/>
          </a:ln>
        </p:spPr>
      </p:sp>
      <p:sp>
        <p:nvSpPr>
          <p:cNvPr id="22" name="Text 19"/>
          <p:cNvSpPr/>
          <p:nvPr/>
        </p:nvSpPr>
        <p:spPr>
          <a:xfrm>
            <a:off x="4912360" y="4205926"/>
            <a:ext cx="782320" cy="23550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QPU time</a:t>
            </a:r>
            <a:endParaRPr lang="en-US" sz="1200" dirty="0"/>
          </a:p>
        </p:txBody>
      </p:sp>
      <p:sp>
        <p:nvSpPr>
          <p:cNvPr id="23" name="Text 20"/>
          <p:cNvSpPr/>
          <p:nvPr/>
        </p:nvSpPr>
        <p:spPr>
          <a:xfrm>
            <a:off x="10668000" y="4205926"/>
            <a:ext cx="599440" cy="23550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717"/>
                </a:solidFill>
                <a:latin typeface="IBM Plex Mono" pitchFamily="34" charset="0"/>
                <a:ea typeface="IBM Plex Mono" pitchFamily="34" charset="-122"/>
                <a:cs typeface="IBM Plex Mono" pitchFamily="34" charset="-120"/>
              </a:rPr>
              <a:t>[__] s</a:t>
            </a:r>
            <a:endParaRPr lang="en-US" sz="1200" dirty="0"/>
          </a:p>
        </p:txBody>
      </p:sp>
      <p:sp>
        <p:nvSpPr>
          <p:cNvPr id="24" name="Shape 21"/>
          <p:cNvSpPr/>
          <p:nvPr/>
        </p:nvSpPr>
        <p:spPr>
          <a:xfrm>
            <a:off x="4912360" y="4520803"/>
            <a:ext cx="6304280" cy="0"/>
          </a:xfrm>
          <a:prstGeom prst="line">
            <a:avLst/>
          </a:prstGeom>
          <a:noFill/>
          <a:ln w="6350">
            <a:solidFill>
              <a:srgbClr val="D8D5CE"/>
            </a:solidFill>
            <a:prstDash val="solid"/>
          </a:ln>
        </p:spPr>
      </p:sp>
      <p:sp>
        <p:nvSpPr>
          <p:cNvPr id="25" name="Text 22"/>
          <p:cNvSpPr/>
          <p:nvPr/>
        </p:nvSpPr>
        <p:spPr>
          <a:xfrm>
            <a:off x="4912360" y="4573507"/>
            <a:ext cx="599440" cy="23550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Status</a:t>
            </a:r>
            <a:endParaRPr lang="en-US" sz="1200" dirty="0"/>
          </a:p>
        </p:txBody>
      </p:sp>
      <p:sp>
        <p:nvSpPr>
          <p:cNvPr id="26" name="Text 23"/>
          <p:cNvSpPr/>
          <p:nvPr/>
        </p:nvSpPr>
        <p:spPr>
          <a:xfrm>
            <a:off x="10485120" y="4573507"/>
            <a:ext cx="782320" cy="23550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F7658"/>
                </a:solidFill>
                <a:latin typeface="IBM Plex Mono" pitchFamily="34" charset="0"/>
                <a:ea typeface="IBM Plex Mono" pitchFamily="34" charset="-122"/>
                <a:cs typeface="IBM Plex Mono" pitchFamily="34" charset="-120"/>
              </a:rPr>
              <a:t>Complete</a:t>
            </a:r>
            <a:endParaRPr lang="en-US" sz="1200" dirty="0"/>
          </a:p>
        </p:txBody>
      </p:sp>
      <p:sp>
        <p:nvSpPr>
          <p:cNvPr id="27" name="Text 24"/>
          <p:cNvSpPr/>
          <p:nvPr/>
        </p:nvSpPr>
        <p:spPr>
          <a:xfrm>
            <a:off x="4912360" y="4885215"/>
            <a:ext cx="6493408" cy="25296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A5A5A"/>
                </a:solidFill>
                <a:latin typeface="IBM Plex Sans" pitchFamily="34" charset="0"/>
                <a:ea typeface="IBM Plex Sans" pitchFamily="34" charset="-122"/>
                <a:cs typeface="IBM Plex Sans" pitchFamily="34" charset="-120"/>
              </a:rPr>
              <a:t>6 units re-assigned · plan pushed to field teams</a:t>
            </a:r>
            <a:endParaRPr lang="en-US" sz="1300" dirty="0"/>
          </a:p>
        </p:txBody>
      </p:sp>
      <p:sp>
        <p:nvSpPr>
          <p:cNvPr id="28" name="Shape 25"/>
          <p:cNvSpPr/>
          <p:nvPr/>
        </p:nvSpPr>
        <p:spPr>
          <a:xfrm>
            <a:off x="812800" y="5579033"/>
            <a:ext cx="243840" cy="264160"/>
          </a:xfrm>
          <a:prstGeom prst="rect">
            <a:avLst/>
          </a:prstGeom>
          <a:solidFill>
            <a:srgbClr val="171717"/>
          </a:solidFill>
          <a:ln/>
        </p:spPr>
      </p:sp>
      <p:sp>
        <p:nvSpPr>
          <p:cNvPr id="29" name="Text 26"/>
          <p:cNvSpPr/>
          <p:nvPr/>
        </p:nvSpPr>
        <p:spPr>
          <a:xfrm>
            <a:off x="889000" y="5604433"/>
            <a:ext cx="1422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2EA"/>
                </a:solidFill>
                <a:latin typeface="IBM Plex Mono" pitchFamily="34" charset="0"/>
                <a:ea typeface="IBM Plex Mono" pitchFamily="34" charset="-122"/>
                <a:cs typeface="IBM Plex Mono" pitchFamily="34" charset="-120"/>
              </a:rPr>
              <a:t>1</a:t>
            </a:r>
            <a:endParaRPr lang="en-US" sz="1200" dirty="0"/>
          </a:p>
        </p:txBody>
      </p:sp>
      <p:sp>
        <p:nvSpPr>
          <p:cNvPr id="30" name="Text 27"/>
          <p:cNvSpPr/>
          <p:nvPr/>
        </p:nvSpPr>
        <p:spPr>
          <a:xfrm>
            <a:off x="1158240" y="5595460"/>
            <a:ext cx="115450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1717"/>
                </a:solidFill>
                <a:latin typeface="IBM Plex Sans" pitchFamily="34" charset="0"/>
                <a:ea typeface="IBM Plex Sans" pitchFamily="34" charset="-122"/>
                <a:cs typeface="IBM Plex Sans" pitchFamily="34" charset="-120"/>
              </a:rPr>
              <a:t>Load live event</a:t>
            </a:r>
            <a:endParaRPr lang="en-US" sz="1300" dirty="0"/>
          </a:p>
        </p:txBody>
      </p:sp>
      <p:sp>
        <p:nvSpPr>
          <p:cNvPr id="31" name="Shape 28"/>
          <p:cNvSpPr/>
          <p:nvPr/>
        </p:nvSpPr>
        <p:spPr>
          <a:xfrm>
            <a:off x="3492500" y="5579033"/>
            <a:ext cx="243840" cy="264160"/>
          </a:xfrm>
          <a:prstGeom prst="rect">
            <a:avLst/>
          </a:prstGeom>
          <a:solidFill>
            <a:srgbClr val="171717"/>
          </a:solidFill>
          <a:ln/>
        </p:spPr>
      </p:sp>
      <p:sp>
        <p:nvSpPr>
          <p:cNvPr id="32" name="Text 29"/>
          <p:cNvSpPr/>
          <p:nvPr/>
        </p:nvSpPr>
        <p:spPr>
          <a:xfrm>
            <a:off x="3568700" y="5604433"/>
            <a:ext cx="1422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2EA"/>
                </a:solidFill>
                <a:latin typeface="IBM Plex Mono" pitchFamily="34" charset="0"/>
                <a:ea typeface="IBM Plex Mono" pitchFamily="34" charset="-122"/>
                <a:cs typeface="IBM Plex Mono" pitchFamily="34" charset="-120"/>
              </a:rPr>
              <a:t>2</a:t>
            </a:r>
            <a:endParaRPr lang="en-US" sz="1200" dirty="0"/>
          </a:p>
        </p:txBody>
      </p:sp>
      <p:sp>
        <p:nvSpPr>
          <p:cNvPr id="33" name="Text 30"/>
          <p:cNvSpPr/>
          <p:nvPr/>
        </p:nvSpPr>
        <p:spPr>
          <a:xfrm>
            <a:off x="3837940" y="5595460"/>
            <a:ext cx="779939"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1717"/>
                </a:solidFill>
                <a:latin typeface="IBM Plex Sans" pitchFamily="34" charset="0"/>
                <a:ea typeface="IBM Plex Sans" pitchFamily="34" charset="-122"/>
                <a:cs typeface="IBM Plex Sans" pitchFamily="34" charset="-120"/>
              </a:rPr>
              <a:t>Score risk</a:t>
            </a:r>
            <a:endParaRPr lang="en-US" sz="1300" dirty="0"/>
          </a:p>
        </p:txBody>
      </p:sp>
      <p:sp>
        <p:nvSpPr>
          <p:cNvPr id="34" name="Shape 31"/>
          <p:cNvSpPr/>
          <p:nvPr/>
        </p:nvSpPr>
        <p:spPr>
          <a:xfrm>
            <a:off x="6172200" y="5579033"/>
            <a:ext cx="243840" cy="264160"/>
          </a:xfrm>
          <a:prstGeom prst="rect">
            <a:avLst/>
          </a:prstGeom>
          <a:solidFill>
            <a:srgbClr val="171717"/>
          </a:solidFill>
          <a:ln/>
        </p:spPr>
      </p:sp>
      <p:sp>
        <p:nvSpPr>
          <p:cNvPr id="35" name="Text 32"/>
          <p:cNvSpPr/>
          <p:nvPr/>
        </p:nvSpPr>
        <p:spPr>
          <a:xfrm>
            <a:off x="6248400" y="5604433"/>
            <a:ext cx="1422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2EA"/>
                </a:solidFill>
                <a:latin typeface="IBM Plex Mono" pitchFamily="34" charset="0"/>
                <a:ea typeface="IBM Plex Mono" pitchFamily="34" charset="-122"/>
                <a:cs typeface="IBM Plex Mono" pitchFamily="34" charset="-120"/>
              </a:rPr>
              <a:t>3</a:t>
            </a:r>
            <a:endParaRPr lang="en-US" sz="1200" dirty="0"/>
          </a:p>
        </p:txBody>
      </p:sp>
      <p:sp>
        <p:nvSpPr>
          <p:cNvPr id="36" name="Text 33"/>
          <p:cNvSpPr/>
          <p:nvPr/>
        </p:nvSpPr>
        <p:spPr>
          <a:xfrm>
            <a:off x="6517640" y="5595460"/>
            <a:ext cx="132738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1717"/>
                </a:solidFill>
                <a:latin typeface="IBM Plex Sans" pitchFamily="34" charset="0"/>
                <a:ea typeface="IBM Plex Sans" pitchFamily="34" charset="-122"/>
                <a:cs typeface="IBM Plex Sans" pitchFamily="34" charset="-120"/>
              </a:rPr>
              <a:t>Solve on the QPU</a:t>
            </a:r>
            <a:endParaRPr lang="en-US" sz="1300" dirty="0"/>
          </a:p>
        </p:txBody>
      </p:sp>
      <p:sp>
        <p:nvSpPr>
          <p:cNvPr id="37" name="Shape 34"/>
          <p:cNvSpPr/>
          <p:nvPr/>
        </p:nvSpPr>
        <p:spPr>
          <a:xfrm>
            <a:off x="8851900" y="5579033"/>
            <a:ext cx="243840" cy="264160"/>
          </a:xfrm>
          <a:prstGeom prst="rect">
            <a:avLst/>
          </a:prstGeom>
          <a:solidFill>
            <a:srgbClr val="171717"/>
          </a:solidFill>
          <a:ln/>
        </p:spPr>
      </p:sp>
      <p:sp>
        <p:nvSpPr>
          <p:cNvPr id="38" name="Text 35"/>
          <p:cNvSpPr/>
          <p:nvPr/>
        </p:nvSpPr>
        <p:spPr>
          <a:xfrm>
            <a:off x="8928100" y="5604433"/>
            <a:ext cx="1422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2EA"/>
                </a:solidFill>
                <a:latin typeface="IBM Plex Mono" pitchFamily="34" charset="0"/>
                <a:ea typeface="IBM Plex Mono" pitchFamily="34" charset="-122"/>
                <a:cs typeface="IBM Plex Mono" pitchFamily="34" charset="-120"/>
              </a:rPr>
              <a:t>4</a:t>
            </a:r>
            <a:endParaRPr lang="en-US" sz="1200" dirty="0"/>
          </a:p>
        </p:txBody>
      </p:sp>
      <p:sp>
        <p:nvSpPr>
          <p:cNvPr id="39" name="Text 36"/>
          <p:cNvSpPr/>
          <p:nvPr/>
        </p:nvSpPr>
        <p:spPr>
          <a:xfrm>
            <a:off x="9197340" y="5595460"/>
            <a:ext cx="142033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1717"/>
                </a:solidFill>
                <a:latin typeface="IBM Plex Sans" pitchFamily="34" charset="0"/>
                <a:ea typeface="IBM Plex Sans" pitchFamily="34" charset="-122"/>
                <a:cs typeface="IBM Plex Sans" pitchFamily="34" charset="-120"/>
              </a:rPr>
              <a:t>Re-plan on update</a:t>
            </a:r>
            <a:endParaRPr lang="en-US" sz="1300" dirty="0"/>
          </a:p>
        </p:txBody>
      </p:sp>
      <p:sp>
        <p:nvSpPr>
          <p:cNvPr id="40" name="Text 37"/>
          <p:cNvSpPr/>
          <p:nvPr/>
        </p:nvSpPr>
        <p:spPr>
          <a:xfrm>
            <a:off x="812800" y="6238242"/>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41" name="Text 38"/>
          <p:cNvSpPr/>
          <p:nvPr/>
        </p:nvSpPr>
        <p:spPr>
          <a:xfrm>
            <a:off x="9804400" y="6238242"/>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A5A"/>
                </a:solidFill>
                <a:latin typeface="IBM Plex Mono" pitchFamily="34" charset="0"/>
                <a:ea typeface="IBM Plex Mono" pitchFamily="34" charset="-122"/>
                <a:cs typeface="IBM Plex Mono" pitchFamily="34" charset="-120"/>
              </a:rPr>
              <a:t>13 / 15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4A12"/>
                </a:solidFill>
                <a:latin typeface="IBM Plex Mono" pitchFamily="34" charset="0"/>
                <a:ea typeface="IBM Plex Mono" pitchFamily="34" charset="-122"/>
                <a:cs typeface="IBM Plex Mono" pitchFamily="34" charset="-120"/>
              </a:rPr>
              <a:t>13 · Fit and roadmap</a:t>
            </a:r>
            <a:endParaRPr lang="en-US" sz="1200" dirty="0"/>
          </a:p>
        </p:txBody>
      </p:sp>
      <p:sp>
        <p:nvSpPr>
          <p:cNvPr id="3" name="Text 1"/>
          <p:cNvSpPr/>
          <p:nvPr/>
        </p:nvSpPr>
        <p:spPr>
          <a:xfrm>
            <a:off x="812800" y="11277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kern="0" spc="-50" dirty="0">
                <a:solidFill>
                  <a:srgbClr val="171717"/>
                </a:solidFill>
                <a:latin typeface="IBM Plex Sans" pitchFamily="34" charset="0"/>
                <a:ea typeface="IBM Plex Sans" pitchFamily="34" charset="-122"/>
                <a:cs typeface="IBM Plex Sans" pitchFamily="34" charset="-120"/>
              </a:rPr>
              <a:t>Built for Andhra’s QPU, honest about its limits</a:t>
            </a:r>
            <a:endParaRPr lang="en-US" sz="3000" dirty="0"/>
          </a:p>
        </p:txBody>
      </p:sp>
      <p:sp>
        <p:nvSpPr>
          <p:cNvPr id="4" name="Shape 2"/>
          <p:cNvSpPr/>
          <p:nvPr/>
        </p:nvSpPr>
        <p:spPr>
          <a:xfrm>
            <a:off x="812800" y="1864364"/>
            <a:ext cx="3251200" cy="0"/>
          </a:xfrm>
          <a:prstGeom prst="line">
            <a:avLst/>
          </a:prstGeom>
          <a:noFill/>
          <a:ln w="25400">
            <a:solidFill>
              <a:srgbClr val="E56A1F"/>
            </a:solidFill>
            <a:prstDash val="solid"/>
          </a:ln>
        </p:spPr>
      </p:sp>
      <p:sp>
        <p:nvSpPr>
          <p:cNvPr id="5" name="Text 3"/>
          <p:cNvSpPr/>
          <p:nvPr/>
        </p:nvSpPr>
        <p:spPr>
          <a:xfrm>
            <a:off x="812800" y="2029464"/>
            <a:ext cx="3348736"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1717"/>
                </a:solidFill>
                <a:latin typeface="IBM Plex Sans" pitchFamily="34" charset="0"/>
                <a:ea typeface="IBM Plex Sans" pitchFamily="34" charset="-122"/>
                <a:cs typeface="IBM Plex Sans" pitchFamily="34" charset="-120"/>
              </a:rPr>
              <a:t>What is new</a:t>
            </a:r>
            <a:endParaRPr lang="en-US" sz="1700" dirty="0"/>
          </a:p>
        </p:txBody>
      </p:sp>
      <p:sp>
        <p:nvSpPr>
          <p:cNvPr id="6" name="Text 4"/>
          <p:cNvSpPr/>
          <p:nvPr/>
        </p:nvSpPr>
        <p:spPr>
          <a:xfrm>
            <a:off x="812800" y="2415542"/>
            <a:ext cx="3348736" cy="1139825"/>
          </a:xfrm>
          <a:prstGeom prst="rect">
            <a:avLst/>
          </a:prstGeom>
          <a:noFill/>
          <a:ln/>
        </p:spPr>
        <p:txBody>
          <a:bodyPr wrap="square" lIns="0" tIns="0" rIns="0" bIns="0" rtlCol="0" anchor="t">
            <a:normAutofit/>
          </a:bodyPr>
          <a:lstStyle/>
          <a:p>
            <a:pPr marL="198120" indent="-168656" algn="l">
              <a:lnSpc>
                <a:spcPts val="1755"/>
              </a:lnSpc>
              <a:buSzPct val="100000"/>
              <a:buChar char="•"/>
            </a:pPr>
            <a:r>
              <a:rPr lang="en-US" sz="1300" dirty="0">
                <a:solidFill>
                  <a:srgbClr val="5A5A5A"/>
                </a:solidFill>
                <a:latin typeface="IBM Plex Sans" pitchFamily="34" charset="0"/>
                <a:ea typeface="IBM Plex Sans" pitchFamily="34" charset="-122"/>
                <a:cs typeface="IBM Plex Sans" pitchFamily="34" charset="-120"/>
              </a:rPr>
              <a:t>Closed loop: ML risk feeds QAOA automatically</a:t>
            </a:r>
            <a:endParaRPr lang="en-US" sz="1300" dirty="0"/>
          </a:p>
          <a:p>
            <a:pPr marL="198120" indent="-168656" algn="l">
              <a:lnSpc>
                <a:spcPts val="1755"/>
              </a:lnSpc>
              <a:buSzPct val="100000"/>
              <a:buChar char="•"/>
            </a:pPr>
            <a:r>
              <a:rPr lang="en-US" sz="1300" dirty="0">
                <a:solidFill>
                  <a:srgbClr val="5A5A5A"/>
                </a:solidFill>
                <a:latin typeface="IBM Plex Sans" pitchFamily="34" charset="0"/>
                <a:ea typeface="IBM Plex Sans" pitchFamily="34" charset="-122"/>
                <a:cs typeface="IBM Plex Sans" pitchFamily="34" charset="-120"/>
              </a:rPr>
              <a:t>Event-triggered, warm-started re-optimisation</a:t>
            </a:r>
            <a:endParaRPr lang="en-US" sz="1300" dirty="0"/>
          </a:p>
          <a:p>
            <a:pPr marL="198120" indent="-168656" algn="l">
              <a:lnSpc>
                <a:spcPts val="1755"/>
              </a:lnSpc>
              <a:buSzPct val="100000"/>
              <a:buChar char="•"/>
            </a:pPr>
            <a:r>
              <a:rPr lang="en-US" sz="1300" dirty="0">
                <a:solidFill>
                  <a:srgbClr val="5A5A5A"/>
                </a:solidFill>
                <a:latin typeface="IBM Plex Sans" pitchFamily="34" charset="0"/>
                <a:ea typeface="IBM Plex Sans" pitchFamily="34" charset="-122"/>
                <a:cs typeface="IBM Plex Sans" pitchFamily="34" charset="-120"/>
              </a:rPr>
              <a:t>Decomposition sized to real QPU fidelity</a:t>
            </a:r>
            <a:endParaRPr lang="en-US" sz="1300" dirty="0"/>
          </a:p>
        </p:txBody>
      </p:sp>
      <p:sp>
        <p:nvSpPr>
          <p:cNvPr id="7" name="Shape 5"/>
          <p:cNvSpPr/>
          <p:nvPr/>
        </p:nvSpPr>
        <p:spPr>
          <a:xfrm>
            <a:off x="4470400" y="1864364"/>
            <a:ext cx="3251200" cy="0"/>
          </a:xfrm>
          <a:prstGeom prst="line">
            <a:avLst/>
          </a:prstGeom>
          <a:noFill/>
          <a:ln w="25400">
            <a:solidFill>
              <a:srgbClr val="4F7658"/>
            </a:solidFill>
            <a:prstDash val="solid"/>
          </a:ln>
        </p:spPr>
      </p:sp>
      <p:sp>
        <p:nvSpPr>
          <p:cNvPr id="8" name="Text 6"/>
          <p:cNvSpPr/>
          <p:nvPr/>
        </p:nvSpPr>
        <p:spPr>
          <a:xfrm>
            <a:off x="4470400" y="2029464"/>
            <a:ext cx="3348736"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1717"/>
                </a:solidFill>
                <a:latin typeface="IBM Plex Sans" pitchFamily="34" charset="0"/>
                <a:ea typeface="IBM Plex Sans" pitchFamily="34" charset="-122"/>
                <a:cs typeface="IBM Plex Sans" pitchFamily="34" charset="-120"/>
              </a:rPr>
              <a:t>Fit to QAIC</a:t>
            </a:r>
            <a:endParaRPr lang="en-US" sz="1700" dirty="0"/>
          </a:p>
        </p:txBody>
      </p:sp>
      <p:sp>
        <p:nvSpPr>
          <p:cNvPr id="9" name="Text 7"/>
          <p:cNvSpPr/>
          <p:nvPr/>
        </p:nvSpPr>
        <p:spPr>
          <a:xfrm>
            <a:off x="4470400" y="2415542"/>
            <a:ext cx="3348736" cy="694055"/>
          </a:xfrm>
          <a:prstGeom prst="rect">
            <a:avLst/>
          </a:prstGeom>
          <a:noFill/>
          <a:ln/>
        </p:spPr>
        <p:txBody>
          <a:bodyPr wrap="square" lIns="0" tIns="0" rIns="0" bIns="0" rtlCol="0" anchor="t">
            <a:normAutofit/>
          </a:bodyPr>
          <a:lstStyle/>
          <a:p>
            <a:pPr marL="198120" indent="-168656" algn="l">
              <a:lnSpc>
                <a:spcPts val="1755"/>
              </a:lnSpc>
              <a:buSzPct val="100000"/>
              <a:buChar char="•"/>
            </a:pPr>
            <a:r>
              <a:rPr lang="en-US" sz="1300" dirty="0">
                <a:solidFill>
                  <a:srgbClr val="5A5A5A"/>
                </a:solidFill>
                <a:latin typeface="IBM Plex Sans" pitchFamily="34" charset="0"/>
                <a:ea typeface="IBM Plex Sans" pitchFamily="34" charset="-122"/>
                <a:cs typeface="IBM Plex Sans" pitchFamily="34" charset="-120"/>
              </a:rPr>
              <a:t>Solves UC-067 and extends to UC-077</a:t>
            </a:r>
            <a:endParaRPr lang="en-US" sz="1300" dirty="0"/>
          </a:p>
          <a:p>
            <a:pPr marL="198120" indent="-168656" algn="l">
              <a:lnSpc>
                <a:spcPts val="1755"/>
              </a:lnSpc>
              <a:buSzPct val="100000"/>
              <a:buChar char="•"/>
            </a:pPr>
            <a:r>
              <a:rPr lang="en-US" sz="1300" dirty="0">
                <a:solidFill>
                  <a:srgbClr val="5A5A5A"/>
                </a:solidFill>
                <a:latin typeface="IBM Plex Sans" pitchFamily="34" charset="0"/>
                <a:ea typeface="IBM Plex Sans" pitchFamily="34" charset="-122"/>
                <a:cs typeface="IBM Plex Sans" pitchFamily="34" charset="-120"/>
              </a:rPr>
              <a:t>Builds on DST-NQM proposals 03 and 04</a:t>
            </a:r>
            <a:endParaRPr lang="en-US" sz="1300" dirty="0"/>
          </a:p>
          <a:p>
            <a:pPr marL="198120" indent="-168656" algn="l">
              <a:lnSpc>
                <a:spcPts val="1755"/>
              </a:lnSpc>
              <a:buSzPct val="100000"/>
              <a:buChar char="•"/>
            </a:pPr>
            <a:r>
              <a:rPr lang="en-US" sz="1300" dirty="0">
                <a:solidFill>
                  <a:srgbClr val="5A5A5A"/>
                </a:solidFill>
                <a:latin typeface="IBM Plex Sans" pitchFamily="34" charset="0"/>
                <a:ea typeface="IBM Plex Sans" pitchFamily="34" charset="-122"/>
                <a:cs typeface="IBM Plex Sans" pitchFamily="34" charset="-120"/>
              </a:rPr>
              <a:t>Targets AQV’s IBM System Two</a:t>
            </a:r>
            <a:endParaRPr lang="en-US" sz="1300" dirty="0"/>
          </a:p>
        </p:txBody>
      </p:sp>
      <p:sp>
        <p:nvSpPr>
          <p:cNvPr id="10" name="Shape 8"/>
          <p:cNvSpPr/>
          <p:nvPr/>
        </p:nvSpPr>
        <p:spPr>
          <a:xfrm>
            <a:off x="8128000" y="1864364"/>
            <a:ext cx="3251200" cy="0"/>
          </a:xfrm>
          <a:prstGeom prst="line">
            <a:avLst/>
          </a:prstGeom>
          <a:noFill/>
          <a:ln w="25400">
            <a:solidFill>
              <a:srgbClr val="C83A2A"/>
            </a:solidFill>
            <a:prstDash val="solid"/>
          </a:ln>
        </p:spPr>
      </p:sp>
      <p:sp>
        <p:nvSpPr>
          <p:cNvPr id="11" name="Text 9"/>
          <p:cNvSpPr/>
          <p:nvPr/>
        </p:nvSpPr>
        <p:spPr>
          <a:xfrm>
            <a:off x="8128000" y="2029464"/>
            <a:ext cx="3348736"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1717"/>
                </a:solidFill>
                <a:latin typeface="IBM Plex Sans" pitchFamily="34" charset="0"/>
                <a:ea typeface="IBM Plex Sans" pitchFamily="34" charset="-122"/>
                <a:cs typeface="IBM Plex Sans" pitchFamily="34" charset="-120"/>
              </a:rPr>
              <a:t>Honest limits</a:t>
            </a:r>
            <a:endParaRPr lang="en-US" sz="1700" dirty="0"/>
          </a:p>
        </p:txBody>
      </p:sp>
      <p:sp>
        <p:nvSpPr>
          <p:cNvPr id="12" name="Text 10"/>
          <p:cNvSpPr/>
          <p:nvPr/>
        </p:nvSpPr>
        <p:spPr>
          <a:xfrm>
            <a:off x="8128000" y="2415542"/>
            <a:ext cx="3348736" cy="1362710"/>
          </a:xfrm>
          <a:prstGeom prst="rect">
            <a:avLst/>
          </a:prstGeom>
          <a:noFill/>
          <a:ln/>
        </p:spPr>
        <p:txBody>
          <a:bodyPr wrap="square" lIns="0" tIns="0" rIns="0" bIns="0" rtlCol="0" anchor="t">
            <a:normAutofit/>
          </a:bodyPr>
          <a:lstStyle/>
          <a:p>
            <a:pPr marL="198120" indent="-168656" algn="l">
              <a:lnSpc>
                <a:spcPts val="1755"/>
              </a:lnSpc>
              <a:buSzPct val="100000"/>
              <a:buChar char="•"/>
            </a:pPr>
            <a:r>
              <a:rPr lang="en-US" sz="1300" dirty="0">
                <a:solidFill>
                  <a:srgbClr val="5A5A5A"/>
                </a:solidFill>
                <a:latin typeface="IBM Plex Sans" pitchFamily="34" charset="0"/>
                <a:ea typeface="IBM Plex Sans" pitchFamily="34" charset="-122"/>
                <a:cs typeface="IBM Plex Sans" pitchFamily="34" charset="-120"/>
              </a:rPr>
              <a:t>No quantum advantage claimed at this scale</a:t>
            </a:r>
            <a:endParaRPr lang="en-US" sz="1300" dirty="0"/>
          </a:p>
          <a:p>
            <a:pPr marL="198120" indent="-168656" algn="l">
              <a:lnSpc>
                <a:spcPts val="1755"/>
              </a:lnSpc>
              <a:buSzPct val="100000"/>
              <a:buChar char="•"/>
            </a:pPr>
            <a:r>
              <a:rPr lang="en-US" sz="1300" dirty="0">
                <a:solidFill>
                  <a:srgbClr val="5A5A5A"/>
                </a:solidFill>
                <a:latin typeface="IBM Plex Sans" pitchFamily="34" charset="0"/>
                <a:ea typeface="IBM Plex Sans" pitchFamily="34" charset="-122"/>
                <a:cs typeface="IBM Plex Sans" pitchFamily="34" charset="-120"/>
              </a:rPr>
              <a:t>Subproblems capped near 20 qubits by noise</a:t>
            </a:r>
            <a:endParaRPr lang="en-US" sz="1300" dirty="0"/>
          </a:p>
          <a:p>
            <a:pPr marL="198120" indent="-168656" algn="l">
              <a:lnSpc>
                <a:spcPts val="1755"/>
              </a:lnSpc>
              <a:buSzPct val="100000"/>
              <a:buChar char="•"/>
            </a:pPr>
            <a:r>
              <a:rPr lang="en-US" sz="1300" dirty="0">
                <a:solidFill>
                  <a:srgbClr val="5A5A5A"/>
                </a:solidFill>
                <a:latin typeface="IBM Plex Sans" pitchFamily="34" charset="0"/>
                <a:ea typeface="IBM Plex Sans" pitchFamily="34" charset="-122"/>
                <a:cs typeface="IBM Plex Sans" pitchFamily="34" charset="-120"/>
              </a:rPr>
              <a:t>Classical MILP stays the baseline and fallback</a:t>
            </a:r>
            <a:endParaRPr lang="en-US" sz="1300" dirty="0"/>
          </a:p>
        </p:txBody>
      </p:sp>
      <p:sp>
        <p:nvSpPr>
          <p:cNvPr id="13" name="Shape 11"/>
          <p:cNvSpPr/>
          <p:nvPr/>
        </p:nvSpPr>
        <p:spPr>
          <a:xfrm>
            <a:off x="812800" y="4197350"/>
            <a:ext cx="10566400" cy="19050"/>
          </a:xfrm>
          <a:prstGeom prst="rect">
            <a:avLst/>
          </a:prstGeom>
          <a:solidFill>
            <a:srgbClr val="171717"/>
          </a:solidFill>
          <a:ln/>
        </p:spPr>
      </p:sp>
      <p:sp>
        <p:nvSpPr>
          <p:cNvPr id="14" name="Shape 12"/>
          <p:cNvSpPr/>
          <p:nvPr/>
        </p:nvSpPr>
        <p:spPr>
          <a:xfrm>
            <a:off x="822325" y="4117975"/>
            <a:ext cx="171450" cy="171450"/>
          </a:xfrm>
          <a:prstGeom prst="roundRect">
            <a:avLst>
              <a:gd name="adj" fmla="val 50000"/>
            </a:avLst>
          </a:prstGeom>
          <a:solidFill>
            <a:srgbClr val="E56A1F"/>
          </a:solidFill>
          <a:ln w="19050">
            <a:solidFill>
              <a:srgbClr val="171717"/>
            </a:solidFill>
            <a:prstDash val="solid"/>
          </a:ln>
        </p:spPr>
      </p:sp>
      <p:sp>
        <p:nvSpPr>
          <p:cNvPr id="15" name="Text 13"/>
          <p:cNvSpPr/>
          <p:nvPr/>
        </p:nvSpPr>
        <p:spPr>
          <a:xfrm>
            <a:off x="812800" y="4413250"/>
            <a:ext cx="23545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4A12"/>
                </a:solidFill>
                <a:latin typeface="IBM Plex Mono" pitchFamily="34" charset="0"/>
                <a:ea typeface="IBM Plex Mono" pitchFamily="34" charset="-122"/>
                <a:cs typeface="IBM Plex Mono" pitchFamily="34" charset="-120"/>
              </a:rPr>
              <a:t>Now</a:t>
            </a:r>
            <a:endParaRPr lang="en-US" sz="1200" dirty="0"/>
          </a:p>
        </p:txBody>
      </p:sp>
      <p:sp>
        <p:nvSpPr>
          <p:cNvPr id="16" name="Text 14"/>
          <p:cNvSpPr/>
          <p:nvPr/>
        </p:nvSpPr>
        <p:spPr>
          <a:xfrm>
            <a:off x="812800" y="4654550"/>
            <a:ext cx="2419985"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5A5A"/>
                </a:solidFill>
                <a:latin typeface="IBM Plex Sans" pitchFamily="34" charset="0"/>
                <a:ea typeface="IBM Plex Sans" pitchFamily="34" charset="-122"/>
                <a:cs typeface="IBM Plex Sans" pitchFamily="34" charset="-120"/>
              </a:rPr>
              <a:t>IBM Quantum cloud, Krishna basin prototype</a:t>
            </a:r>
            <a:endParaRPr lang="en-US" sz="1200" dirty="0"/>
          </a:p>
        </p:txBody>
      </p:sp>
      <p:sp>
        <p:nvSpPr>
          <p:cNvPr id="17" name="Shape 15"/>
          <p:cNvSpPr/>
          <p:nvPr/>
        </p:nvSpPr>
        <p:spPr>
          <a:xfrm>
            <a:off x="3514725" y="4117975"/>
            <a:ext cx="171450" cy="171450"/>
          </a:xfrm>
          <a:prstGeom prst="roundRect">
            <a:avLst>
              <a:gd name="adj" fmla="val 50000"/>
            </a:avLst>
          </a:prstGeom>
          <a:solidFill>
            <a:srgbClr val="F5F2EA"/>
          </a:solidFill>
          <a:ln w="19050">
            <a:solidFill>
              <a:srgbClr val="171717"/>
            </a:solidFill>
            <a:prstDash val="solid"/>
          </a:ln>
        </p:spPr>
      </p:sp>
      <p:sp>
        <p:nvSpPr>
          <p:cNvPr id="18" name="Text 16"/>
          <p:cNvSpPr/>
          <p:nvPr/>
        </p:nvSpPr>
        <p:spPr>
          <a:xfrm>
            <a:off x="3505200" y="4413250"/>
            <a:ext cx="23545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717"/>
                </a:solidFill>
                <a:latin typeface="IBM Plex Mono" pitchFamily="34" charset="0"/>
                <a:ea typeface="IBM Plex Mono" pitchFamily="34" charset="-122"/>
                <a:cs typeface="IBM Plex Mono" pitchFamily="34" charset="-120"/>
              </a:rPr>
              <a:t>Q4 2026</a:t>
            </a:r>
            <a:endParaRPr lang="en-US" sz="1200" dirty="0"/>
          </a:p>
        </p:txBody>
      </p:sp>
      <p:sp>
        <p:nvSpPr>
          <p:cNvPr id="19" name="Text 17"/>
          <p:cNvSpPr/>
          <p:nvPr/>
        </p:nvSpPr>
        <p:spPr>
          <a:xfrm>
            <a:off x="3505200" y="4654550"/>
            <a:ext cx="2419985"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5A5A"/>
                </a:solidFill>
                <a:latin typeface="IBM Plex Sans" pitchFamily="34" charset="0"/>
                <a:ea typeface="IBM Plex Sans" pitchFamily="34" charset="-122"/>
                <a:cs typeface="IBM Plex Sans" pitchFamily="34" charset="-120"/>
              </a:rPr>
              <a:t>Port to Amaravati IBM System Two</a:t>
            </a:r>
            <a:endParaRPr lang="en-US" sz="1200" dirty="0"/>
          </a:p>
        </p:txBody>
      </p:sp>
      <p:sp>
        <p:nvSpPr>
          <p:cNvPr id="20" name="Shape 18"/>
          <p:cNvSpPr/>
          <p:nvPr/>
        </p:nvSpPr>
        <p:spPr>
          <a:xfrm>
            <a:off x="6207125" y="4117975"/>
            <a:ext cx="171450" cy="171450"/>
          </a:xfrm>
          <a:prstGeom prst="roundRect">
            <a:avLst>
              <a:gd name="adj" fmla="val 50000"/>
            </a:avLst>
          </a:prstGeom>
          <a:solidFill>
            <a:srgbClr val="F5F2EA"/>
          </a:solidFill>
          <a:ln w="19050">
            <a:solidFill>
              <a:srgbClr val="171717"/>
            </a:solidFill>
            <a:prstDash val="solid"/>
          </a:ln>
        </p:spPr>
      </p:sp>
      <p:sp>
        <p:nvSpPr>
          <p:cNvPr id="21" name="Text 19"/>
          <p:cNvSpPr/>
          <p:nvPr/>
        </p:nvSpPr>
        <p:spPr>
          <a:xfrm>
            <a:off x="6197600" y="4413250"/>
            <a:ext cx="23545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717"/>
                </a:solidFill>
                <a:latin typeface="IBM Plex Mono" pitchFamily="34" charset="0"/>
                <a:ea typeface="IBM Plex Mono" pitchFamily="34" charset="-122"/>
                <a:cs typeface="IBM Plex Mono" pitchFamily="34" charset="-120"/>
              </a:rPr>
              <a:t>2027</a:t>
            </a:r>
            <a:endParaRPr lang="en-US" sz="1200" dirty="0"/>
          </a:p>
        </p:txBody>
      </p:sp>
      <p:sp>
        <p:nvSpPr>
          <p:cNvPr id="22" name="Text 20"/>
          <p:cNvSpPr/>
          <p:nvPr/>
        </p:nvSpPr>
        <p:spPr>
          <a:xfrm>
            <a:off x="6197600" y="4654550"/>
            <a:ext cx="2419985"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5A5A"/>
                </a:solidFill>
                <a:latin typeface="IBM Plex Sans" pitchFamily="34" charset="0"/>
                <a:ea typeface="IBM Plex Sans" pitchFamily="34" charset="-122"/>
                <a:cs typeface="IBM Plex Sans" pitchFamily="34" charset="-120"/>
              </a:rPr>
              <a:t>[Proposed] pilot with APSDMA control room</a:t>
            </a:r>
            <a:endParaRPr lang="en-US" sz="1200" dirty="0"/>
          </a:p>
        </p:txBody>
      </p:sp>
      <p:sp>
        <p:nvSpPr>
          <p:cNvPr id="23" name="Shape 21"/>
          <p:cNvSpPr/>
          <p:nvPr/>
        </p:nvSpPr>
        <p:spPr>
          <a:xfrm>
            <a:off x="8899525" y="4117975"/>
            <a:ext cx="171450" cy="171450"/>
          </a:xfrm>
          <a:prstGeom prst="roundRect">
            <a:avLst>
              <a:gd name="adj" fmla="val 50000"/>
            </a:avLst>
          </a:prstGeom>
          <a:solidFill>
            <a:srgbClr val="F5F2EA"/>
          </a:solidFill>
          <a:ln w="19050">
            <a:solidFill>
              <a:srgbClr val="171717"/>
            </a:solidFill>
            <a:prstDash val="solid"/>
          </a:ln>
        </p:spPr>
      </p:sp>
      <p:sp>
        <p:nvSpPr>
          <p:cNvPr id="24" name="Text 22"/>
          <p:cNvSpPr/>
          <p:nvPr/>
        </p:nvSpPr>
        <p:spPr>
          <a:xfrm>
            <a:off x="8890000" y="4413250"/>
            <a:ext cx="23545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1717"/>
                </a:solidFill>
                <a:latin typeface="IBM Plex Mono" pitchFamily="34" charset="0"/>
                <a:ea typeface="IBM Plex Mono" pitchFamily="34" charset="-122"/>
                <a:cs typeface="IBM Plex Mono" pitchFamily="34" charset="-120"/>
              </a:rPr>
              <a:t>Next</a:t>
            </a:r>
            <a:endParaRPr lang="en-US" sz="1200" dirty="0"/>
          </a:p>
        </p:txBody>
      </p:sp>
      <p:sp>
        <p:nvSpPr>
          <p:cNvPr id="25" name="Text 23"/>
          <p:cNvSpPr/>
          <p:nvPr/>
        </p:nvSpPr>
        <p:spPr>
          <a:xfrm>
            <a:off x="8890000" y="4654550"/>
            <a:ext cx="2419985"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A5A5A"/>
                </a:solidFill>
                <a:latin typeface="IBM Plex Sans" pitchFamily="34" charset="0"/>
                <a:ea typeface="IBM Plex Sans" pitchFamily="34" charset="-122"/>
                <a:cs typeface="IBM Plex Sans" pitchFamily="34" charset="-120"/>
              </a:rPr>
              <a:t>Cyclones (UC-077), multi-hazard, larger QPUs</a:t>
            </a:r>
            <a:endParaRPr lang="en-US" sz="1200" dirty="0"/>
          </a:p>
        </p:txBody>
      </p:sp>
      <p:sp>
        <p:nvSpPr>
          <p:cNvPr id="26" name="Text 24"/>
          <p:cNvSpPr/>
          <p:nvPr/>
        </p:nvSpPr>
        <p:spPr>
          <a:xfrm>
            <a:off x="812800" y="6238242"/>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A5A"/>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27" name="Text 25"/>
          <p:cNvSpPr/>
          <p:nvPr/>
        </p:nvSpPr>
        <p:spPr>
          <a:xfrm>
            <a:off x="9804400" y="6238242"/>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5A5A"/>
                </a:solidFill>
                <a:latin typeface="IBM Plex Mono" pitchFamily="34" charset="0"/>
                <a:ea typeface="IBM Plex Mono" pitchFamily="34" charset="-122"/>
                <a:cs typeface="IBM Plex Mono" pitchFamily="34" charset="-120"/>
              </a:rPr>
              <a:t>14 / 15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C1B19"/>
        </a:solidFill>
        <a:effectLst/>
      </p:bgPr>
    </p:bg>
    <p:spTree>
      <p:nvGrpSpPr>
        <p:cNvPr id="1" name=""/>
        <p:cNvGrpSpPr/>
        <p:nvPr/>
      </p:nvGrpSpPr>
      <p:grpSpPr>
        <a:xfrm>
          <a:off x="0" y="0"/>
          <a:ext cx="0" cy="0"/>
          <a:chOff x="0" y="0"/>
          <a:chExt cx="0" cy="0"/>
        </a:xfrm>
      </p:grpSpPr>
      <p:sp>
        <p:nvSpPr>
          <p:cNvPr id="2" name="Text 0"/>
          <p:cNvSpPr/>
          <p:nvPr/>
        </p:nvSpPr>
        <p:spPr>
          <a:xfrm>
            <a:off x="812800" y="812800"/>
            <a:ext cx="5624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56A1F"/>
                </a:solidFill>
                <a:latin typeface="IBM Plex Mono" pitchFamily="34" charset="0"/>
                <a:ea typeface="IBM Plex Mono" pitchFamily="34" charset="-122"/>
                <a:cs typeface="IBM Plex Mono" pitchFamily="34" charset="-120"/>
              </a:rPr>
              <a:t>14 · Summary</a:t>
            </a:r>
            <a:endParaRPr lang="en-US" sz="1200" dirty="0"/>
          </a:p>
        </p:txBody>
      </p:sp>
      <p:sp>
        <p:nvSpPr>
          <p:cNvPr id="3" name="Text 1"/>
          <p:cNvSpPr/>
          <p:nvPr/>
        </p:nvSpPr>
        <p:spPr>
          <a:xfrm>
            <a:off x="812800" y="1280164"/>
            <a:ext cx="5624830" cy="1506538"/>
          </a:xfrm>
          <a:prstGeom prst="rect">
            <a:avLst/>
          </a:prstGeom>
          <a:noFill/>
          <a:ln/>
        </p:spPr>
        <p:txBody>
          <a:bodyPr wrap="square" lIns="0" tIns="0" rIns="0" bIns="0" rtlCol="0" anchor="t">
            <a:normAutofit/>
          </a:bodyPr>
          <a:lstStyle/>
          <a:p>
            <a:pPr marL="0" indent="0" algn="l">
              <a:lnSpc>
                <a:spcPts val="3888"/>
              </a:lnSpc>
              <a:buNone/>
            </a:pPr>
            <a:r>
              <a:rPr lang="en-US" sz="3600" b="1" kern="0" spc="-75" dirty="0">
                <a:solidFill>
                  <a:srgbClr val="F5F2EA"/>
                </a:solidFill>
                <a:latin typeface="IBM Plex Sans" pitchFamily="34" charset="0"/>
                <a:ea typeface="IBM Plex Sans" pitchFamily="34" charset="-122"/>
                <a:cs typeface="IBM Plex Sans" pitchFamily="34" charset="-120"/>
              </a:rPr>
              <a:t>Forecasts say where the water goes. We decide where help goes.</a:t>
            </a:r>
            <a:endParaRPr lang="en-US" sz="3600" dirty="0"/>
          </a:p>
        </p:txBody>
      </p:sp>
      <p:sp>
        <p:nvSpPr>
          <p:cNvPr id="4" name="Text 2"/>
          <p:cNvSpPr/>
          <p:nvPr/>
        </p:nvSpPr>
        <p:spPr>
          <a:xfrm>
            <a:off x="812800" y="3015301"/>
            <a:ext cx="5624830" cy="796925"/>
          </a:xfrm>
          <a:prstGeom prst="rect">
            <a:avLst/>
          </a:prstGeom>
          <a:noFill/>
          <a:ln/>
        </p:spPr>
        <p:txBody>
          <a:bodyPr wrap="square" lIns="0" tIns="0" rIns="0" bIns="0" rtlCol="0" anchor="t">
            <a:normAutofit/>
          </a:bodyPr>
          <a:lstStyle/>
          <a:p>
            <a:pPr marL="228600" indent="-182880" algn="l">
              <a:lnSpc>
                <a:spcPts val="2025"/>
              </a:lnSpc>
              <a:buSzPct val="100000"/>
              <a:buChar char="•"/>
            </a:pPr>
            <a:r>
              <a:rPr lang="en-US" sz="1500" dirty="0">
                <a:solidFill>
                  <a:srgbClr val="A9A59C"/>
                </a:solidFill>
                <a:latin typeface="IBM Plex Sans" pitchFamily="34" charset="0"/>
                <a:ea typeface="IBM Plex Sans" pitchFamily="34" charset="-122"/>
                <a:cs typeface="IBM Plex Sans" pitchFamily="34" charset="-120"/>
              </a:rPr>
              <a:t>ML risk → QUBO → QAOA on IBM Heron → plan</a:t>
            </a:r>
            <a:endParaRPr lang="en-US" sz="1500" dirty="0"/>
          </a:p>
          <a:p>
            <a:pPr marL="228600" indent="-182880" algn="l">
              <a:lnSpc>
                <a:spcPts val="2025"/>
              </a:lnSpc>
              <a:buSzPct val="100000"/>
              <a:buChar char="•"/>
            </a:pPr>
            <a:r>
              <a:rPr lang="en-US" sz="1500" dirty="0">
                <a:solidFill>
                  <a:srgbClr val="A9A59C"/>
                </a:solidFill>
                <a:latin typeface="IBM Plex Sans" pitchFamily="34" charset="0"/>
                <a:ea typeface="IBM Plex Sans" pitchFamily="34" charset="-122"/>
                <a:cs typeface="IBM Plex Sans" pitchFamily="34" charset="-120"/>
              </a:rPr>
              <a:t>Re-optimises automatically as the flood evolves</a:t>
            </a:r>
            <a:endParaRPr lang="en-US" sz="1500" dirty="0"/>
          </a:p>
          <a:p>
            <a:pPr marL="228600" indent="-182880" algn="l">
              <a:lnSpc>
                <a:spcPts val="2025"/>
              </a:lnSpc>
              <a:buSzPct val="100000"/>
              <a:buChar char="•"/>
            </a:pPr>
            <a:r>
              <a:rPr lang="en-US" sz="1500" dirty="0">
                <a:solidFill>
                  <a:srgbClr val="A9A59C"/>
                </a:solidFill>
                <a:latin typeface="IBM Plex Sans" pitchFamily="34" charset="0"/>
                <a:ea typeface="IBM Plex Sans" pitchFamily="34" charset="-122"/>
                <a:cs typeface="IBM Plex Sans" pitchFamily="34" charset="-120"/>
              </a:rPr>
              <a:t>Ready for Amaravati’s own quantum computer</a:t>
            </a:r>
            <a:endParaRPr lang="en-US" sz="1500" dirty="0"/>
          </a:p>
        </p:txBody>
      </p:sp>
      <p:sp>
        <p:nvSpPr>
          <p:cNvPr id="5" name="Shape 3"/>
          <p:cNvSpPr/>
          <p:nvPr/>
        </p:nvSpPr>
        <p:spPr>
          <a:xfrm>
            <a:off x="812800" y="4047176"/>
            <a:ext cx="5461000" cy="0"/>
          </a:xfrm>
          <a:prstGeom prst="line">
            <a:avLst/>
          </a:prstGeom>
          <a:noFill/>
          <a:ln w="12700">
            <a:solidFill>
              <a:srgbClr val="3A3834"/>
            </a:solidFill>
            <a:prstDash val="solid"/>
          </a:ln>
        </p:spPr>
      </p:sp>
      <p:sp>
        <p:nvSpPr>
          <p:cNvPr id="6" name="Text 4"/>
          <p:cNvSpPr/>
          <p:nvPr/>
        </p:nvSpPr>
        <p:spPr>
          <a:xfrm>
            <a:off x="812800" y="4203384"/>
            <a:ext cx="5624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2EA"/>
                </a:solidFill>
                <a:latin typeface="IBM Plex Mono" pitchFamily="34" charset="0"/>
                <a:ea typeface="IBM Plex Mono" pitchFamily="34" charset="-122"/>
                <a:cs typeface="IBM Plex Mono" pitchFamily="34" charset="-120"/>
              </a:rPr>
              <a:t>Demo video:</a:t>
            </a:r>
            <a:endParaRPr lang="en-US" sz="1200" dirty="0"/>
          </a:p>
        </p:txBody>
      </p:sp>
      <p:sp>
        <p:nvSpPr>
          <p:cNvPr id="7" name="Text 5"/>
          <p:cNvSpPr/>
          <p:nvPr/>
        </p:nvSpPr>
        <p:spPr>
          <a:xfrm>
            <a:off x="812800" y="4467541"/>
            <a:ext cx="5624830" cy="238760"/>
          </a:xfrm>
          <a:prstGeom prst="rect">
            <a:avLst/>
          </a:prstGeom>
          <a:noFill/>
          <a:ln/>
        </p:spPr>
        <p:txBody>
          <a:bodyPr wrap="square" lIns="0" tIns="0" rIns="0" bIns="0" rtlCol="0" anchor="t">
            <a:normAutofit/>
          </a:bodyPr>
          <a:lstStyle/>
          <a:p>
            <a:r>
              <a:rPr lang="en-US" sz="1200" dirty="0">
                <a:solidFill>
                  <a:srgbClr val="F5F2EA"/>
                </a:solidFill>
                <a:latin typeface="IBM Plex Mono" pitchFamily="34" charset="0"/>
                <a:ea typeface="IBM Plex Mono" pitchFamily="34" charset="-122"/>
                <a:cs typeface="IBM Plex Mono" pitchFamily="34" charset="-120"/>
              </a:rPr>
              <a:t>Code: </a:t>
            </a:r>
            <a:r>
              <a:rPr lang="en-IN" sz="1200" dirty="0">
                <a:hlinkClick r:id="rId3"/>
              </a:rPr>
              <a:t>officialayush23/</a:t>
            </a:r>
            <a:r>
              <a:rPr lang="en-IN" sz="1200" dirty="0" err="1">
                <a:hlinkClick r:id="rId3"/>
              </a:rPr>
              <a:t>QuantumHack</a:t>
            </a:r>
            <a:endParaRPr lang="en-US" sz="1200" dirty="0"/>
          </a:p>
        </p:txBody>
      </p:sp>
      <p:sp>
        <p:nvSpPr>
          <p:cNvPr id="8" name="Text 6"/>
          <p:cNvSpPr/>
          <p:nvPr/>
        </p:nvSpPr>
        <p:spPr>
          <a:xfrm>
            <a:off x="812800" y="4731705"/>
            <a:ext cx="5624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A59C"/>
                </a:solidFill>
                <a:latin typeface="IBM Plex Mono" pitchFamily="34" charset="0"/>
                <a:ea typeface="IBM Plex Mono" pitchFamily="34" charset="-122"/>
                <a:cs typeface="IBM Plex Mono" pitchFamily="34" charset="-120"/>
              </a:rPr>
              <a:t>Kala Dhua· officialayushp123@gmail.com</a:t>
            </a:r>
            <a:endParaRPr lang="en-US" sz="1200" dirty="0"/>
          </a:p>
        </p:txBody>
      </p:sp>
      <p:sp>
        <p:nvSpPr>
          <p:cNvPr id="9" name="Text 7"/>
          <p:cNvSpPr/>
          <p:nvPr/>
        </p:nvSpPr>
        <p:spPr>
          <a:xfrm>
            <a:off x="7035800" y="812800"/>
            <a:ext cx="447370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A59C"/>
                </a:solidFill>
                <a:latin typeface="IBM Plex Mono" pitchFamily="34" charset="0"/>
                <a:ea typeface="IBM Plex Mono" pitchFamily="34" charset="-122"/>
                <a:cs typeface="IBM Plex Mono" pitchFamily="34" charset="-120"/>
              </a:rPr>
              <a:t>Sources</a:t>
            </a:r>
            <a:endParaRPr lang="en-US" sz="1200" dirty="0"/>
          </a:p>
        </p:txBody>
      </p:sp>
      <p:sp>
        <p:nvSpPr>
          <p:cNvPr id="10" name="Text 8"/>
          <p:cNvSpPr/>
          <p:nvPr/>
        </p:nvSpPr>
        <p:spPr>
          <a:xfrm>
            <a:off x="7035800" y="1115064"/>
            <a:ext cx="4473702"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A9A59C"/>
                </a:solidFill>
                <a:latin typeface="IBM Plex Sans" pitchFamily="34" charset="0"/>
                <a:ea typeface="IBM Plex Sans" pitchFamily="34" charset="-122"/>
                <a:cs typeface="IBM Plex Sans" pitchFamily="34" charset="-120"/>
              </a:rPr>
              <a:t>1. Wikipedia, 2024 Vijayawada floods (state situation reports)</a:t>
            </a:r>
            <a:endParaRPr lang="en-US" sz="1200" dirty="0"/>
          </a:p>
        </p:txBody>
      </p:sp>
      <p:sp>
        <p:nvSpPr>
          <p:cNvPr id="11" name="Text 9"/>
          <p:cNvSpPr/>
          <p:nvPr/>
        </p:nvSpPr>
        <p:spPr>
          <a:xfrm>
            <a:off x="7035800" y="1402079"/>
            <a:ext cx="4473702"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A9A59C"/>
                </a:solidFill>
                <a:latin typeface="IBM Plex Sans" pitchFamily="34" charset="0"/>
                <a:ea typeface="IBM Plex Sans" pitchFamily="34" charset="-122"/>
                <a:cs typeface="IBM Plex Sans" pitchFamily="34" charset="-120"/>
              </a:rPr>
              <a:t>2. Outlook India / Deccan Herald: Cyclone Montha loss ₹6,384 cr</a:t>
            </a:r>
            <a:endParaRPr lang="en-US" sz="1200" dirty="0"/>
          </a:p>
        </p:txBody>
      </p:sp>
      <p:sp>
        <p:nvSpPr>
          <p:cNvPr id="12" name="Text 10"/>
          <p:cNvSpPr/>
          <p:nvPr/>
        </p:nvSpPr>
        <p:spPr>
          <a:xfrm>
            <a:off x="7035800" y="1887221"/>
            <a:ext cx="4473702"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A9A59C"/>
                </a:solidFill>
                <a:latin typeface="IBM Plex Sans" pitchFamily="34" charset="0"/>
                <a:ea typeface="IBM Plex Sans" pitchFamily="34" charset="-122"/>
                <a:cs typeface="IBM Plex Sans" pitchFamily="34" charset="-120"/>
              </a:rPr>
              <a:t>3. WMO State of the Climate in Asia 2021, via Down To Earth</a:t>
            </a:r>
            <a:endParaRPr lang="en-US" sz="1200" dirty="0"/>
          </a:p>
        </p:txBody>
      </p:sp>
      <p:sp>
        <p:nvSpPr>
          <p:cNvPr id="13" name="Text 11"/>
          <p:cNvSpPr/>
          <p:nvPr/>
        </p:nvSpPr>
        <p:spPr>
          <a:xfrm>
            <a:off x="7035800" y="2174242"/>
            <a:ext cx="4473702"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A9A59C"/>
                </a:solidFill>
                <a:latin typeface="IBM Plex Sans" pitchFamily="34" charset="0"/>
                <a:ea typeface="IBM Plex Sans" pitchFamily="34" charset="-122"/>
                <a:cs typeface="IBM Plex Sans" pitchFamily="34" charset="-120"/>
              </a:rPr>
              <a:t>4. MarketsandMarkets, Incident &amp; Emergency Management 2024–30</a:t>
            </a:r>
            <a:endParaRPr lang="en-US" sz="1200" dirty="0"/>
          </a:p>
        </p:txBody>
      </p:sp>
      <p:sp>
        <p:nvSpPr>
          <p:cNvPr id="14" name="Text 12"/>
          <p:cNvSpPr/>
          <p:nvPr/>
        </p:nvSpPr>
        <p:spPr>
          <a:xfrm>
            <a:off x="7035800" y="2659379"/>
            <a:ext cx="4473702"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A9A59C"/>
                </a:solidFill>
                <a:latin typeface="IBM Plex Sans" pitchFamily="34" charset="0"/>
                <a:ea typeface="IBM Plex Sans" pitchFamily="34" charset="-122"/>
                <a:cs typeface="IBM Plex Sans" pitchFamily="34" charset="-120"/>
              </a:rPr>
              <a:t>5. Market Research Future, Flood Warning System 2025–35</a:t>
            </a:r>
            <a:endParaRPr lang="en-US" sz="1200" dirty="0"/>
          </a:p>
        </p:txBody>
      </p:sp>
      <p:sp>
        <p:nvSpPr>
          <p:cNvPr id="15" name="Text 13"/>
          <p:cNvSpPr/>
          <p:nvPr/>
        </p:nvSpPr>
        <p:spPr>
          <a:xfrm>
            <a:off x="7035800" y="2946400"/>
            <a:ext cx="4473702"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A9A59C"/>
                </a:solidFill>
                <a:latin typeface="IBM Plex Sans" pitchFamily="34" charset="0"/>
                <a:ea typeface="IBM Plex Sans" pitchFamily="34" charset="-122"/>
                <a:cs typeface="IBM Plex Sans" pitchFamily="34" charset="-120"/>
              </a:rPr>
              <a:t>6. PIB (MHA): 15th Finance Commission disaster allocations</a:t>
            </a:r>
            <a:endParaRPr lang="en-US" sz="1200" dirty="0"/>
          </a:p>
        </p:txBody>
      </p:sp>
      <p:sp>
        <p:nvSpPr>
          <p:cNvPr id="16" name="Text 14"/>
          <p:cNvSpPr/>
          <p:nvPr/>
        </p:nvSpPr>
        <p:spPr>
          <a:xfrm>
            <a:off x="7035800" y="3233421"/>
            <a:ext cx="4473702"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A9A59C"/>
                </a:solidFill>
                <a:latin typeface="IBM Plex Sans" pitchFamily="34" charset="0"/>
                <a:ea typeface="IBM Plex Sans" pitchFamily="34" charset="-122"/>
                <a:cs typeface="IBM Plex Sans" pitchFamily="34" charset="-120"/>
              </a:rPr>
              <a:t>7. McKinsey Quantum Technology Monitor 2026</a:t>
            </a:r>
            <a:endParaRPr lang="en-US" sz="1200" dirty="0"/>
          </a:p>
        </p:txBody>
      </p:sp>
      <p:sp>
        <p:nvSpPr>
          <p:cNvPr id="17" name="Text 15"/>
          <p:cNvSpPr/>
          <p:nvPr/>
        </p:nvSpPr>
        <p:spPr>
          <a:xfrm>
            <a:off x="7035800" y="3520442"/>
            <a:ext cx="4473702"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A9A59C"/>
                </a:solidFill>
                <a:latin typeface="IBM Plex Sans" pitchFamily="34" charset="0"/>
                <a:ea typeface="IBM Plex Sans" pitchFamily="34" charset="-122"/>
                <a:cs typeface="IBM Plex Sans" pitchFamily="34" charset="-120"/>
              </a:rPr>
              <a:t>8. Google Flood Hub coverage figures</a:t>
            </a:r>
            <a:endParaRPr lang="en-US" sz="1200" dirty="0"/>
          </a:p>
        </p:txBody>
      </p:sp>
      <p:sp>
        <p:nvSpPr>
          <p:cNvPr id="18" name="Text 16"/>
          <p:cNvSpPr/>
          <p:nvPr/>
        </p:nvSpPr>
        <p:spPr>
          <a:xfrm>
            <a:off x="7035800" y="3807464"/>
            <a:ext cx="4473702"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A9A59C"/>
                </a:solidFill>
                <a:latin typeface="IBM Plex Sans" pitchFamily="34" charset="0"/>
                <a:ea typeface="IBM Plex Sans" pitchFamily="34" charset="-122"/>
                <a:cs typeface="IBM Plex Sans" pitchFamily="34" charset="-120"/>
              </a:rPr>
              <a:t>9. NQCC SparQ: Mind Foundry disaster sensor-network PoC</a:t>
            </a:r>
            <a:endParaRPr lang="en-US" sz="1200" dirty="0"/>
          </a:p>
        </p:txBody>
      </p:sp>
      <p:sp>
        <p:nvSpPr>
          <p:cNvPr id="19" name="Text 17"/>
          <p:cNvSpPr/>
          <p:nvPr/>
        </p:nvSpPr>
        <p:spPr>
          <a:xfrm>
            <a:off x="7035800" y="4094479"/>
            <a:ext cx="4473702"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A9A59C"/>
                </a:solidFill>
                <a:latin typeface="IBM Plex Sans" pitchFamily="34" charset="0"/>
                <a:ea typeface="IBM Plex Sans" pitchFamily="34" charset="-122"/>
                <a:cs typeface="IBM Plex Sans" pitchFamily="34" charset="-120"/>
              </a:rPr>
              <a:t>10. arXiv 2607.11637: QAOA benchmarks on IBM Heron</a:t>
            </a:r>
            <a:endParaRPr lang="en-US" sz="1200" dirty="0"/>
          </a:p>
        </p:txBody>
      </p:sp>
      <p:sp>
        <p:nvSpPr>
          <p:cNvPr id="20" name="Text 18"/>
          <p:cNvSpPr/>
          <p:nvPr/>
        </p:nvSpPr>
        <p:spPr>
          <a:xfrm>
            <a:off x="7035800" y="4381500"/>
            <a:ext cx="4473702"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A9A59C"/>
                </a:solidFill>
                <a:latin typeface="IBM Plex Sans" pitchFamily="34" charset="0"/>
                <a:ea typeface="IBM Plex Sans" pitchFamily="34" charset="-122"/>
                <a:cs typeface="IBM Plex Sans" pitchFamily="34" charset="-120"/>
              </a:rPr>
              <a:t>11. Quantum Computing Report: IBM System Two, Amaravati</a:t>
            </a:r>
            <a:endParaRPr lang="en-US" sz="1200" dirty="0"/>
          </a:p>
        </p:txBody>
      </p:sp>
      <p:sp>
        <p:nvSpPr>
          <p:cNvPr id="21" name="Text 19"/>
          <p:cNvSpPr/>
          <p:nvPr/>
        </p:nvSpPr>
        <p:spPr>
          <a:xfrm>
            <a:off x="7035800" y="4668521"/>
            <a:ext cx="4473702"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A9A59C"/>
                </a:solidFill>
                <a:latin typeface="IBM Plex Sans" pitchFamily="34" charset="0"/>
                <a:ea typeface="IBM Plex Sans" pitchFamily="34" charset="-122"/>
                <a:cs typeface="IBM Plex Sans" pitchFamily="34" charset="-120"/>
              </a:rPr>
              <a:t>12. QAIC 100 Quantum Use Cases, UC-067 and UC-077</a:t>
            </a:r>
            <a:endParaRPr lang="en-US" sz="1200" dirty="0"/>
          </a:p>
        </p:txBody>
      </p:sp>
      <p:sp>
        <p:nvSpPr>
          <p:cNvPr id="22" name="Text 20"/>
          <p:cNvSpPr/>
          <p:nvPr/>
        </p:nvSpPr>
        <p:spPr>
          <a:xfrm>
            <a:off x="812800" y="6238242"/>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A59C"/>
                </a:solidFill>
                <a:latin typeface="IBM Plex Mono" pitchFamily="34" charset="0"/>
                <a:ea typeface="IBM Plex Mono" pitchFamily="34" charset="-122"/>
                <a:cs typeface="IBM Plex Mono" pitchFamily="34" charset="-120"/>
              </a:rPr>
              <a:t>Quantum-Assisted Disaster Response Optimization</a:t>
            </a:r>
            <a:endParaRPr lang="en-US" sz="1200" dirty="0"/>
          </a:p>
        </p:txBody>
      </p:sp>
      <p:sp>
        <p:nvSpPr>
          <p:cNvPr id="23" name="Text 21"/>
          <p:cNvSpPr/>
          <p:nvPr/>
        </p:nvSpPr>
        <p:spPr>
          <a:xfrm>
            <a:off x="9804400" y="6238242"/>
            <a:ext cx="1574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A59C"/>
                </a:solidFill>
                <a:latin typeface="IBM Plex Mono" pitchFamily="34" charset="0"/>
                <a:ea typeface="IBM Plex Mono" pitchFamily="34" charset="-122"/>
                <a:cs typeface="IBM Plex Mono" pitchFamily="34" charset="-120"/>
              </a:rPr>
              <a:t>15 / 15</a:t>
            </a:r>
            <a:endParaRPr lang="en-US" sz="1200" dirty="0"/>
          </a:p>
        </p:txBody>
      </p:sp>
      <p:sp>
        <p:nvSpPr>
          <p:cNvPr id="25" name="Text 4">
            <a:extLst>
              <a:ext uri="{FF2B5EF4-FFF2-40B4-BE49-F238E27FC236}">
                <a16:creationId xmlns:a16="http://schemas.microsoft.com/office/drawing/2014/main" id="{FC2D2A1F-C849-19D4-6D0B-C45A279EDB5D}"/>
              </a:ext>
            </a:extLst>
          </p:cNvPr>
          <p:cNvSpPr/>
          <p:nvPr/>
        </p:nvSpPr>
        <p:spPr>
          <a:xfrm>
            <a:off x="812800" y="4999098"/>
            <a:ext cx="5624830" cy="238760"/>
          </a:xfrm>
          <a:prstGeom prst="rect">
            <a:avLst/>
          </a:prstGeom>
          <a:noFill/>
          <a:ln/>
        </p:spPr>
        <p:txBody>
          <a:bodyPr wrap="square" lIns="0" tIns="0" rIns="0" bIns="0" rtlCol="0" anchor="t">
            <a:normAutofit/>
          </a:bodyPr>
          <a:lstStyle/>
          <a:p>
            <a:pPr marL="0" indent="0" algn="l">
              <a:lnSpc>
                <a:spcPts val="1680"/>
              </a:lnSpc>
              <a:buNone/>
            </a:pPr>
            <a:r>
              <a:rPr lang="en-US" sz="1200">
                <a:solidFill>
                  <a:srgbClr val="F5F2EA"/>
                </a:solidFill>
                <a:latin typeface="IBM Plex Mono" pitchFamily="34" charset="0"/>
                <a:ea typeface="IBM Plex Mono" pitchFamily="34" charset="-122"/>
                <a:cs typeface="IBM Plex Mono" pitchFamily="34" charset="-120"/>
              </a:rPr>
              <a:t>Demo link:</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3383</Words>
  <Application>Microsoft Office PowerPoint</Application>
  <PresentationFormat>Widescreen</PresentationFormat>
  <Paragraphs>351</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IBM Plex Mono</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Quantum-Assisted Disaster Response Optimization</dc:title>
  <dc:subject>PptxGenJS Presentation</dc:subject>
  <dc:creator>PptxGenJS</dc:creator>
  <cp:lastModifiedBy>Ayush Pathak</cp:lastModifiedBy>
  <cp:revision>2</cp:revision>
  <dcterms:created xsi:type="dcterms:W3CDTF">2026-09-23T19:16:32Z</dcterms:created>
  <dcterms:modified xsi:type="dcterms:W3CDTF">2026-09-23T19:30:50Z</dcterms:modified>
</cp:coreProperties>
</file>